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sldIdLst>
    <p:sldId id="256" r:id="rId3"/>
    <p:sldId id="29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0" r:id="rId12"/>
    <p:sldId id="281" r:id="rId13"/>
    <p:sldId id="282" r:id="rId14"/>
    <p:sldId id="283" r:id="rId15"/>
    <p:sldId id="284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85" r:id="rId26"/>
    <p:sldId id="273" r:id="rId27"/>
    <p:sldId id="274" r:id="rId28"/>
    <p:sldId id="287" r:id="rId29"/>
    <p:sldId id="275" r:id="rId30"/>
    <p:sldId id="276" r:id="rId31"/>
    <p:sldId id="288" r:id="rId32"/>
    <p:sldId id="289" r:id="rId33"/>
    <p:sldId id="290" r:id="rId34"/>
    <p:sldId id="286" r:id="rId35"/>
    <p:sldId id="277" r:id="rId36"/>
    <p:sldId id="278" r:id="rId37"/>
    <p:sldId id="27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8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3705" y="6501269"/>
            <a:ext cx="1800200" cy="1184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200000"/>
              </a:lnSpc>
              <a:defRPr/>
            </a:pPr>
            <a:r>
              <a:rPr lang="en-US" sz="100" b="0" i="0" u="none" baseline="0">
                <a:solidFill>
                  <a:srgbClr val="000000"/>
                </a:solidFill>
                <a:latin typeface="微软雅黑"/>
                <a:ea typeface="微软雅黑"/>
                <a:hlinkClick r:id="rId2" tooltip="http://www.1ppt.com/moban/"/>
              </a:rPr>
              <a:t>PPT</a:t>
            </a:r>
            <a:r>
              <a:rPr lang="zh-CN" altLang="en-US" sz="100" b="0" i="0" u="none" baseline="0">
                <a:solidFill>
                  <a:srgbClr val="000000"/>
                </a:solidFill>
                <a:latin typeface="微软雅黑"/>
                <a:ea typeface="微软雅黑"/>
                <a:hlinkClick r:id="rId2" tooltip="http://www.1ppt.com/moban/"/>
              </a:rPr>
              <a:t>模板</a:t>
            </a:r>
            <a:r>
              <a:rPr lang="zh-CN" altLang="en-US" sz="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r>
              <a:rPr lang="en-US" sz="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http://www.1ppt.com/moban/</a:t>
            </a:r>
            <a:r>
              <a:rPr lang="zh-CN" altLang="en-US" sz="1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 lIns="91440" tIns="45720" rIns="91440" bIns="45720" anchor="t">
            <a:norm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zh-CN" altLang="en-US" sz="3200" b="0" i="0" u="none" baseline="0">
                <a:solidFill>
                  <a:srgbClr val="000000"/>
                </a:solidFill>
              </a:rPr>
              <a:t>单击此处编辑母版文本样式</a:t>
            </a:r>
          </a:p>
          <a:p>
            <a:pPr marL="742950" lvl="1" indent="-285750" algn="l">
              <a:spcBef>
                <a:spcPct val="20000"/>
              </a:spcBef>
            </a:pPr>
            <a:r>
              <a:rPr lang="zh-CN" altLang="en-US" sz="2800" b="0" i="0" u="none" baseline="0">
                <a:solidFill>
                  <a:srgbClr val="000000"/>
                </a:solidFill>
              </a:rPr>
              <a:t>第二级</a:t>
            </a:r>
          </a:p>
          <a:p>
            <a:pPr marL="1143000" lvl="2" indent="-228600" algn="l">
              <a:spcBef>
                <a:spcPct val="20000"/>
              </a:spcBef>
            </a:pPr>
            <a:r>
              <a:rPr lang="zh-CN" altLang="en-US" sz="2400" b="0" i="0" u="none" baseline="0">
                <a:solidFill>
                  <a:srgbClr val="000000"/>
                </a:solidFill>
              </a:rPr>
              <a:t>第三级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zh-CN" altLang="en-US" sz="2000" b="0" i="0" u="none" baseline="0">
                <a:solidFill>
                  <a:srgbClr val="000000"/>
                </a:solidFill>
              </a:rPr>
              <a:t>第四级</a:t>
            </a:r>
          </a:p>
          <a:p>
            <a:pPr marL="2057400" lvl="4" indent="-228600" algn="l">
              <a:spcBef>
                <a:spcPct val="20000"/>
              </a:spcBef>
            </a:pPr>
            <a:r>
              <a:rPr lang="zh-CN" altLang="en-US" sz="2000" b="0" i="0" u="none" baseline="0">
                <a:solidFill>
                  <a:srgbClr val="000000"/>
                </a:solidFill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Calibri"/>
                <a:ea typeface="Calibri"/>
              </a:rPr>
              <a:t>2024/8/8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 lIns="91440" tIns="45720" rIns="91440" bIns="45720" anchor="t">
            <a:normAutofit/>
          </a:bodyPr>
          <a:lstStyle/>
          <a:p>
            <a:pPr algn="ctr">
              <a:spcBef>
                <a:spcPct val="0"/>
              </a:spcBef>
            </a:pPr>
            <a:r>
              <a:rPr lang="zh-CN" altLang="en-US" sz="4400" b="0" i="0" u="none" baseline="0">
                <a:solidFill>
                  <a:srgbClr val="000000"/>
                </a:solidFill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 lIns="91440" tIns="45720" rIns="91440" bIns="45720" anchor="t">
            <a:normAutofit/>
          </a:bodyPr>
          <a:lstStyle/>
          <a:p>
            <a:pPr marL="342900" indent="-342900" algn="l">
              <a:spcBef>
                <a:spcPct val="20000"/>
              </a:spcBef>
            </a:pPr>
            <a:r>
              <a:rPr lang="zh-CN" altLang="en-US" sz="3200" b="0" i="0" u="none" baseline="0">
                <a:solidFill>
                  <a:srgbClr val="000000"/>
                </a:solidFill>
              </a:rPr>
              <a:t>单击此处编辑母版文本样式</a:t>
            </a:r>
          </a:p>
          <a:p>
            <a:pPr marL="742950" lvl="1" indent="-285750" algn="l">
              <a:spcBef>
                <a:spcPct val="20000"/>
              </a:spcBef>
            </a:pPr>
            <a:r>
              <a:rPr lang="zh-CN" altLang="en-US" sz="2800" b="0" i="0" u="none" baseline="0">
                <a:solidFill>
                  <a:srgbClr val="000000"/>
                </a:solidFill>
              </a:rPr>
              <a:t>第二级</a:t>
            </a:r>
          </a:p>
          <a:p>
            <a:pPr marL="1143000" lvl="2" indent="-228600" algn="l">
              <a:spcBef>
                <a:spcPct val="20000"/>
              </a:spcBef>
            </a:pPr>
            <a:r>
              <a:rPr lang="zh-CN" altLang="en-US" sz="2400" b="0" i="0" u="none" baseline="0">
                <a:solidFill>
                  <a:srgbClr val="000000"/>
                </a:solidFill>
              </a:rPr>
              <a:t>第三级</a:t>
            </a:r>
          </a:p>
          <a:p>
            <a:pPr marL="1600200" lvl="3" indent="-228600" algn="l">
              <a:spcBef>
                <a:spcPct val="20000"/>
              </a:spcBef>
            </a:pPr>
            <a:r>
              <a:rPr lang="zh-CN" altLang="en-US" sz="2000" b="0" i="0" u="none" baseline="0">
                <a:solidFill>
                  <a:srgbClr val="000000"/>
                </a:solidFill>
              </a:rPr>
              <a:t>第四级</a:t>
            </a:r>
          </a:p>
          <a:p>
            <a:pPr marL="2057400" lvl="4" indent="-228600" algn="l">
              <a:spcBef>
                <a:spcPct val="20000"/>
              </a:spcBef>
            </a:pPr>
            <a:r>
              <a:rPr lang="zh-CN" altLang="en-US" sz="2000" b="0" i="0" u="none" baseline="0">
                <a:solidFill>
                  <a:srgbClr val="000000"/>
                </a:solidFill>
              </a:rPr>
              <a:t>第五级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r>
              <a:rPr lang="zh-CN" altLang="en-US" sz="1800" b="0" i="0" u="none" baseline="0">
                <a:solidFill>
                  <a:srgbClr val="000000"/>
                </a:solidFill>
                <a:latin typeface="Calibri"/>
                <a:ea typeface="Calibri"/>
              </a:rPr>
              <a:t>2024/8/8</a:t>
            </a:r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fld id="{3386411A-70EE-422D-B97C-F56BEE3FF077}" type="slidenum">
              <a:rPr lang="zh-CN" altLang="en-US" sz="1800" b="0" i="0" u="none" baseline="0">
                <a:solidFill>
                  <a:srgbClr val="000000"/>
                </a:solidFill>
                <a:latin typeface="Calibri"/>
                <a:ea typeface="Calibri"/>
              </a:rPr>
              <a:t>‹#›</a:t>
            </a:fld>
            <a:endParaRPr lang="zh-CN" altLang="en-US" sz="1800" b="0" i="0" u="none" baseline="0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6238">
            <a:off x="302287" y="-3155514"/>
            <a:ext cx="7473210" cy="5587328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67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788275" y="-3377290"/>
            <a:ext cx="5625240" cy="5751672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-1145031" y="1989138"/>
            <a:ext cx="3315590" cy="3455982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648845">
            <a:off x="8685134" y="4437477"/>
            <a:ext cx="6806377" cy="5042386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68000">
                <a:srgbClr val="EE37E9"/>
              </a:gs>
              <a:gs pos="92000">
                <a:srgbClr val="584CE0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200586" y="5080171"/>
            <a:ext cx="5171514" cy="3824756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100000">
                <a:srgbClr val="EE37E9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2647296" y="682906"/>
            <a:ext cx="749916" cy="78167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 rot="1948355">
            <a:off x="8250857" y="5205156"/>
            <a:ext cx="1035132" cy="1026210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82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11563" y="2100795"/>
            <a:ext cx="10168873" cy="11079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66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Predicting Bankruptcy Risk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>
            <a:off x="5800725" y="3951953"/>
            <a:ext cx="590550" cy="0"/>
          </a:xfrm>
          <a:prstGeom prst="line">
            <a:avLst/>
          </a:prstGeom>
          <a:ln w="28575" cap="flat" cmpd="sng">
            <a:solidFill>
              <a:srgbClr val="584CE0"/>
            </a:solidFill>
            <a:prstDash val="solid"/>
          </a:ln>
        </p:spPr>
      </p:cxnSp>
      <p:sp>
        <p:nvSpPr>
          <p:cNvPr id="12" name="AutoShape 1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771A52-4DC6-A3F8-8C7D-C85EA80EB132}"/>
              </a:ext>
            </a:extLst>
          </p:cNvPr>
          <p:cNvSpPr/>
          <p:nvPr/>
        </p:nvSpPr>
        <p:spPr>
          <a:xfrm>
            <a:off x="4877323" y="4037040"/>
            <a:ext cx="24545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7030A0"/>
                </a:solidFill>
              </a:rPr>
              <a:t>Group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667116">
            <a:off x="536409" y="-676449"/>
            <a:ext cx="5108901" cy="3784838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3939238">
            <a:off x="1020104" y="3497705"/>
            <a:ext cx="6613260" cy="5679276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896350" y="3264389"/>
            <a:ext cx="3733800" cy="3891899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58387" y="-399350"/>
            <a:ext cx="8687753" cy="62170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>
              <a:defRPr/>
            </a:pPr>
            <a:r>
              <a:rPr lang="en-US" sz="19900" b="1" dirty="0">
                <a:solidFill>
                  <a:srgbClr val="584CE0"/>
                </a:solidFill>
                <a:latin typeface="Agency FB"/>
              </a:rPr>
              <a:t>Team Mates</a:t>
            </a:r>
            <a:endParaRPr lang="en-US" sz="700" dirty="0"/>
          </a:p>
        </p:txBody>
      </p:sp>
      <p:sp>
        <p:nvSpPr>
          <p:cNvPr id="6" name="AutoShape 6"/>
          <p:cNvSpPr/>
          <p:nvPr/>
        </p:nvSpPr>
        <p:spPr>
          <a:xfrm>
            <a:off x="6096000" y="457200"/>
            <a:ext cx="5588000" cy="5791200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50000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6284232" y="990465"/>
            <a:ext cx="5335950" cy="454784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IN" altLang="zh-CN" sz="28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Domma</a:t>
            </a: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 Anil Kumar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Narendra </a:t>
            </a:r>
            <a:r>
              <a:rPr lang="en-IN" altLang="zh-CN" sz="28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Damera</a:t>
            </a: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Kanasani</a:t>
            </a: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 Dhaneswar Reddy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Gajula</a:t>
            </a: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 Balaji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Jyoti Sagar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Varun Gowda S </a:t>
            </a:r>
          </a:p>
          <a:p>
            <a:pPr>
              <a:lnSpc>
                <a:spcPct val="150000"/>
              </a:lnSpc>
              <a:defRPr/>
            </a:pPr>
            <a:r>
              <a:rPr lang="en-IN" altLang="zh-CN" sz="28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Abhinav </a:t>
            </a:r>
            <a:r>
              <a:rPr lang="en-IN" altLang="zh-CN" sz="2800" b="1" dirty="0" err="1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Maturi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59032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4045948">
            <a:off x="1927367" y="1534247"/>
            <a:ext cx="4648728" cy="3443930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63000">
                <a:srgbClr val="584CE0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8286050">
            <a:off x="1211618" y="2109826"/>
            <a:ext cx="3187642" cy="2357519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3013034">
            <a:off x="5149368" y="4389924"/>
            <a:ext cx="1104740" cy="948719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100000">
                <a:srgbClr val="EE37E9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21043252">
            <a:off x="2069768" y="3066464"/>
            <a:ext cx="751155" cy="762000"/>
          </a:xfrm>
          <a:custGeom>
            <a:avLst/>
            <a:gdLst/>
            <a:ahLst/>
            <a:cxnLst/>
            <a:rect l="l" t="t" r="r" b="b"/>
            <a:pathLst>
              <a:path w="500" h="508">
                <a:moveTo>
                  <a:pt x="375" y="188"/>
                </a:moveTo>
                <a:cubicBezTo>
                  <a:pt x="375" y="84"/>
                  <a:pt x="291" y="0"/>
                  <a:pt x="188" y="0"/>
                </a:cubicBezTo>
                <a:cubicBezTo>
                  <a:pt x="84" y="0"/>
                  <a:pt x="0" y="84"/>
                  <a:pt x="0" y="188"/>
                </a:cubicBezTo>
                <a:cubicBezTo>
                  <a:pt x="0" y="291"/>
                  <a:pt x="84" y="375"/>
                  <a:pt x="188" y="375"/>
                </a:cubicBezTo>
                <a:cubicBezTo>
                  <a:pt x="291" y="375"/>
                  <a:pt x="375" y="291"/>
                  <a:pt x="375" y="188"/>
                </a:cubicBezTo>
                <a:close/>
                <a:moveTo>
                  <a:pt x="188" y="328"/>
                </a:moveTo>
                <a:cubicBezTo>
                  <a:pt x="110" y="328"/>
                  <a:pt x="47" y="265"/>
                  <a:pt x="47" y="188"/>
                </a:cubicBezTo>
                <a:cubicBezTo>
                  <a:pt x="47" y="110"/>
                  <a:pt x="110" y="47"/>
                  <a:pt x="188" y="47"/>
                </a:cubicBezTo>
                <a:cubicBezTo>
                  <a:pt x="265" y="47"/>
                  <a:pt x="328" y="110"/>
                  <a:pt x="328" y="188"/>
                </a:cubicBezTo>
                <a:cubicBezTo>
                  <a:pt x="328" y="265"/>
                  <a:pt x="265" y="328"/>
                  <a:pt x="188" y="328"/>
                </a:cubicBezTo>
                <a:close/>
                <a:moveTo>
                  <a:pt x="500" y="466"/>
                </a:moveTo>
                <a:lnTo>
                  <a:pt x="458" y="508"/>
                </a:lnTo>
                <a:lnTo>
                  <a:pt x="314" y="364"/>
                </a:lnTo>
                <a:lnTo>
                  <a:pt x="356" y="322"/>
                </a:lnTo>
                <a:lnTo>
                  <a:pt x="500" y="466"/>
                </a:ln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 flipH="1">
            <a:off x="3353120" y="2866113"/>
            <a:ext cx="2541134" cy="10156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6000" b="1" i="0" u="none" baseline="0" dirty="0">
                <a:solidFill>
                  <a:srgbClr val="FFFFFF"/>
                </a:solidFill>
                <a:latin typeface="Agency FB"/>
                <a:ea typeface="Agency FB"/>
              </a:rPr>
              <a:t>CONTENT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01276" y="343257"/>
            <a:ext cx="4438675" cy="584775"/>
            <a:chOff x="6801276" y="186407"/>
            <a:chExt cx="4438675" cy="584775"/>
          </a:xfrm>
        </p:grpSpPr>
        <p:sp>
          <p:nvSpPr>
            <p:cNvPr id="8" name="TextBox 8"/>
            <p:cNvSpPr txBox="1"/>
            <p:nvPr/>
          </p:nvSpPr>
          <p:spPr>
            <a:xfrm>
              <a:off x="7509183" y="247578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Introduction to Bankruptcy Prediction</a:t>
              </a:r>
              <a:endParaRPr lang="en-US" sz="110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1276" y="186407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3200" b="0" i="0" u="none" baseline="0">
                  <a:solidFill>
                    <a:srgbClr val="584CE0"/>
                  </a:solidFill>
                  <a:latin typeface="Agency FB"/>
                  <a:ea typeface="Agency FB"/>
                </a:rPr>
                <a:t>01</a:t>
              </a:r>
              <a:endParaRPr lang="en-US" sz="11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01276" y="1320225"/>
            <a:ext cx="4438675" cy="584775"/>
            <a:chOff x="6801276" y="1332577"/>
            <a:chExt cx="4438675" cy="584775"/>
          </a:xfrm>
        </p:grpSpPr>
        <p:sp>
          <p:nvSpPr>
            <p:cNvPr id="11" name="TextBox 11"/>
            <p:cNvSpPr txBox="1"/>
            <p:nvPr/>
          </p:nvSpPr>
          <p:spPr>
            <a:xfrm>
              <a:off x="7509183" y="1394838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Data Exploration and Analysis (EDA)</a:t>
              </a:r>
              <a:endParaRPr lang="en-US" sz="11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1276" y="1332577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3200" b="0" i="0" u="none" baseline="0">
                  <a:solidFill>
                    <a:srgbClr val="FE934B"/>
                  </a:solidFill>
                  <a:latin typeface="Agency FB"/>
                  <a:ea typeface="Agency FB"/>
                </a:rPr>
                <a:t>02</a:t>
              </a:r>
              <a:endParaRPr lang="en-US" sz="11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01276" y="2209800"/>
            <a:ext cx="4438675" cy="584775"/>
            <a:chOff x="6801276" y="2488813"/>
            <a:chExt cx="4438675" cy="584775"/>
          </a:xfrm>
        </p:grpSpPr>
        <p:sp>
          <p:nvSpPr>
            <p:cNvPr id="14" name="TextBox 14"/>
            <p:cNvSpPr txBox="1"/>
            <p:nvPr/>
          </p:nvSpPr>
          <p:spPr>
            <a:xfrm>
              <a:off x="7509183" y="2542098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Data Preprocessing and Feature Engineering</a:t>
              </a:r>
              <a:endParaRPr lang="en-US" sz="110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1276" y="2488813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3200" b="0" i="0" u="none" baseline="0">
                  <a:solidFill>
                    <a:srgbClr val="584CE0"/>
                  </a:solidFill>
                  <a:latin typeface="Agency FB"/>
                  <a:ea typeface="Agency FB"/>
                </a:rPr>
                <a:t>03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01276" y="3505200"/>
            <a:ext cx="4438675" cy="584775"/>
            <a:chOff x="6801276" y="3631769"/>
            <a:chExt cx="4438675" cy="584775"/>
          </a:xfrm>
        </p:grpSpPr>
        <p:sp>
          <p:nvSpPr>
            <p:cNvPr id="17" name="TextBox 17"/>
            <p:cNvSpPr txBox="1"/>
            <p:nvPr/>
          </p:nvSpPr>
          <p:spPr>
            <a:xfrm>
              <a:off x="7509183" y="3689359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Model Development and Evaluation</a:t>
              </a:r>
              <a:endParaRPr lang="en-US" sz="110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1276" y="3631769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3200" b="0" i="0" u="none" baseline="0" dirty="0">
                  <a:solidFill>
                    <a:srgbClr val="FE934B"/>
                  </a:solidFill>
                  <a:latin typeface="Agency FB"/>
                  <a:ea typeface="Agency FB"/>
                </a:rPr>
                <a:t>04</a:t>
              </a:r>
              <a:endParaRPr lang="en-US" sz="11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01276" y="4343400"/>
            <a:ext cx="4438675" cy="584775"/>
            <a:chOff x="6921403" y="4609752"/>
            <a:chExt cx="4438675" cy="584775"/>
          </a:xfrm>
        </p:grpSpPr>
        <p:sp>
          <p:nvSpPr>
            <p:cNvPr id="20" name="TextBox 20"/>
            <p:cNvSpPr txBox="1"/>
            <p:nvPr/>
          </p:nvSpPr>
          <p:spPr>
            <a:xfrm>
              <a:off x="7629310" y="4663037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Logistic Regression Analysis</a:t>
              </a:r>
              <a:endParaRPr lang="en-US" sz="110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21403" y="4609752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3200" b="0" i="0" u="none" baseline="0" dirty="0">
                  <a:solidFill>
                    <a:srgbClr val="584CE0"/>
                  </a:solidFill>
                  <a:latin typeface="Agency FB"/>
                  <a:ea typeface="Agency FB"/>
                </a:rPr>
                <a:t>05</a:t>
              </a:r>
              <a:endParaRPr lang="en-US" sz="1100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01276" y="5909558"/>
            <a:ext cx="4438675" cy="584775"/>
            <a:chOff x="6921403" y="5752708"/>
            <a:chExt cx="4438675" cy="584775"/>
          </a:xfrm>
        </p:grpSpPr>
        <p:sp>
          <p:nvSpPr>
            <p:cNvPr id="23" name="TextBox 23"/>
            <p:cNvSpPr txBox="1"/>
            <p:nvPr/>
          </p:nvSpPr>
          <p:spPr>
            <a:xfrm>
              <a:off x="7629310" y="5810298"/>
              <a:ext cx="3730768" cy="51054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zh-CN" altLang="en-US" sz="2400" b="1" i="0" u="none" baseline="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微软雅黑"/>
                  <a:ea typeface="微软雅黑"/>
                </a:rPr>
                <a:t>Conclusion and Recommendations</a:t>
              </a:r>
              <a:endParaRPr lang="en-US" sz="110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21403" y="5752708"/>
              <a:ext cx="924052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>
                <a:defRPr/>
              </a:pPr>
              <a:r>
                <a:rPr lang="en-US" sz="3200" dirty="0">
                  <a:solidFill>
                    <a:srgbClr val="584CE0"/>
                  </a:solidFill>
                  <a:latin typeface="Agency FB"/>
                  <a:ea typeface="Agency FB"/>
                </a:rPr>
                <a:t>08</a:t>
              </a:r>
              <a:endParaRPr lang="en-US" sz="1100" dirty="0"/>
            </a:p>
          </p:txBody>
        </p:sp>
      </p:grpSp>
      <p:sp>
        <p:nvSpPr>
          <p:cNvPr id="26" name="TextBox 20">
            <a:extLst>
              <a:ext uri="{FF2B5EF4-FFF2-40B4-BE49-F238E27FC236}">
                <a16:creationId xmlns:a16="http://schemas.microsoft.com/office/drawing/2014/main" id="{612E0DEF-E8C9-13E0-F5CC-0223EEC74B14}"/>
              </a:ext>
            </a:extLst>
          </p:cNvPr>
          <p:cNvSpPr txBox="1"/>
          <p:nvPr/>
        </p:nvSpPr>
        <p:spPr>
          <a:xfrm>
            <a:off x="7489707" y="5329535"/>
            <a:ext cx="3730768" cy="4616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altLang="zh-CN" sz="24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Model Deployment</a:t>
            </a:r>
            <a:endParaRPr lang="en-US" sz="1100" dirty="0"/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176926F6-CA9B-028F-43F6-9B2479AD3F9E}"/>
              </a:ext>
            </a:extLst>
          </p:cNvPr>
          <p:cNvSpPr txBox="1"/>
          <p:nvPr/>
        </p:nvSpPr>
        <p:spPr>
          <a:xfrm>
            <a:off x="6772148" y="5282625"/>
            <a:ext cx="92405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3200" b="0" i="0" u="none" baseline="0" dirty="0">
                <a:solidFill>
                  <a:srgbClr val="FE934B"/>
                </a:solidFill>
                <a:latin typeface="Agency FB"/>
                <a:ea typeface="Agency FB"/>
              </a:rPr>
              <a:t>06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Introduction to Bankruptcy Prediction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680389">
            <a:off x="-52569" y="2694056"/>
            <a:ext cx="5712169" cy="3985774"/>
          </a:xfrm>
          <a:custGeom>
            <a:avLst/>
            <a:gdLst/>
            <a:ahLst/>
            <a:cxnLst/>
            <a:rect l="l" t="t" r="r" b="b"/>
            <a:pathLst>
              <a:path w="5178739" h="2628910">
                <a:moveTo>
                  <a:pt x="42887" y="1739910"/>
                </a:moveTo>
                <a:cubicBezTo>
                  <a:pt x="-236513" y="1301760"/>
                  <a:pt x="908604" y="4243"/>
                  <a:pt x="1757387" y="10"/>
                </a:cubicBezTo>
                <a:cubicBezTo>
                  <a:pt x="2606170" y="-4223"/>
                  <a:pt x="4856187" y="1276360"/>
                  <a:pt x="5135587" y="1714510"/>
                </a:cubicBezTo>
                <a:cubicBezTo>
                  <a:pt x="5414987" y="2152660"/>
                  <a:pt x="4278337" y="2628910"/>
                  <a:pt x="3433787" y="2628910"/>
                </a:cubicBezTo>
                <a:cubicBezTo>
                  <a:pt x="2589237" y="2628910"/>
                  <a:pt x="322287" y="2178060"/>
                  <a:pt x="42887" y="1739910"/>
                </a:cubicBezTo>
                <a:close/>
              </a:path>
            </a:pathLst>
          </a:custGeom>
          <a:solidFill>
            <a:srgbClr val="FFFFFF">
              <a:alpha val="50000"/>
              <a:lumMod val="9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501143">
            <a:off x="4442817" y="2394966"/>
            <a:ext cx="4733719" cy="4305660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solidFill>
            <a:srgbClr val="FFFFFF">
              <a:alpha val="50000"/>
              <a:lumMod val="9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424577" y="1913201"/>
            <a:ext cx="3114829" cy="2303670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solidFill>
            <a:srgbClr val="FFFFFF">
              <a:alpha val="50000"/>
              <a:lumMod val="95000"/>
            </a:srgbClr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578224" y="1500414"/>
            <a:ext cx="1677716" cy="1748754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rot="648845">
            <a:off x="5150610" y="1713323"/>
            <a:ext cx="1785744" cy="1322936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rot="19607397">
            <a:off x="7651960" y="1645933"/>
            <a:ext cx="1812817" cy="1457716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180316" y="3881311"/>
            <a:ext cx="2521772" cy="199240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Predicting bankruptcy ensures stability; proactive measures can be taken to mitigate risks, avoid financial distress, and maintain operational continuity.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1115" y="3385842"/>
            <a:ext cx="2522538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Business Stability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The Importance of Bankruptcy Prediction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3211322" y="2229409"/>
            <a:ext cx="459760" cy="504126"/>
          </a:xfrm>
          <a:custGeom>
            <a:avLst/>
            <a:gdLst/>
            <a:ahLst/>
            <a:cxnLst/>
            <a:rect l="l" t="t" r="r" b="b"/>
            <a:pathLst>
              <a:path w="510187" h="559418">
                <a:moveTo>
                  <a:pt x="130776" y="398252"/>
                </a:moveTo>
                <a:lnTo>
                  <a:pt x="180826" y="398252"/>
                </a:lnTo>
                <a:cubicBezTo>
                  <a:pt x="185669" y="404699"/>
                  <a:pt x="190513" y="412757"/>
                  <a:pt x="195356" y="420815"/>
                </a:cubicBezTo>
                <a:lnTo>
                  <a:pt x="140463" y="420815"/>
                </a:lnTo>
                <a:lnTo>
                  <a:pt x="48435" y="535243"/>
                </a:lnTo>
                <a:lnTo>
                  <a:pt x="461752" y="535243"/>
                </a:lnTo>
                <a:lnTo>
                  <a:pt x="369724" y="420815"/>
                </a:lnTo>
                <a:lnTo>
                  <a:pt x="316445" y="420815"/>
                </a:lnTo>
                <a:cubicBezTo>
                  <a:pt x="319674" y="412757"/>
                  <a:pt x="324518" y="404699"/>
                  <a:pt x="329361" y="398252"/>
                </a:cubicBezTo>
                <a:lnTo>
                  <a:pt x="381026" y="398252"/>
                </a:lnTo>
                <a:lnTo>
                  <a:pt x="510187" y="559418"/>
                </a:lnTo>
                <a:lnTo>
                  <a:pt x="0" y="559418"/>
                </a:lnTo>
                <a:close/>
                <a:moveTo>
                  <a:pt x="254964" y="79000"/>
                </a:moveTo>
                <a:cubicBezTo>
                  <a:pt x="211363" y="79000"/>
                  <a:pt x="175836" y="116081"/>
                  <a:pt x="175836" y="159612"/>
                </a:cubicBezTo>
                <a:cubicBezTo>
                  <a:pt x="175836" y="203142"/>
                  <a:pt x="211363" y="238611"/>
                  <a:pt x="254964" y="238611"/>
                </a:cubicBezTo>
                <a:cubicBezTo>
                  <a:pt x="300179" y="238611"/>
                  <a:pt x="335706" y="203142"/>
                  <a:pt x="335706" y="159612"/>
                </a:cubicBezTo>
                <a:cubicBezTo>
                  <a:pt x="335706" y="116081"/>
                  <a:pt x="300179" y="79000"/>
                  <a:pt x="254964" y="79000"/>
                </a:cubicBezTo>
                <a:close/>
                <a:moveTo>
                  <a:pt x="254964" y="0"/>
                </a:moveTo>
                <a:cubicBezTo>
                  <a:pt x="343781" y="0"/>
                  <a:pt x="414834" y="70939"/>
                  <a:pt x="414834" y="159612"/>
                </a:cubicBezTo>
                <a:cubicBezTo>
                  <a:pt x="414834" y="246673"/>
                  <a:pt x="254964" y="478835"/>
                  <a:pt x="254964" y="478835"/>
                </a:cubicBezTo>
                <a:cubicBezTo>
                  <a:pt x="254964" y="478835"/>
                  <a:pt x="95093" y="246673"/>
                  <a:pt x="95093" y="159612"/>
                </a:cubicBezTo>
                <a:cubicBezTo>
                  <a:pt x="95093" y="70939"/>
                  <a:pt x="167761" y="0"/>
                  <a:pt x="254964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726406" y="2103678"/>
            <a:ext cx="420691" cy="504126"/>
          </a:xfrm>
          <a:custGeom>
            <a:avLst/>
            <a:gdLst/>
            <a:ahLst/>
            <a:cxnLst/>
            <a:rect l="l" t="t" r="r" b="b"/>
            <a:pathLst>
              <a:path w="506307" h="606722">
                <a:moveTo>
                  <a:pt x="234347" y="379219"/>
                </a:moveTo>
                <a:lnTo>
                  <a:pt x="271960" y="379219"/>
                </a:lnTo>
                <a:cubicBezTo>
                  <a:pt x="275517" y="379219"/>
                  <a:pt x="278451" y="382062"/>
                  <a:pt x="278451" y="385705"/>
                </a:cubicBezTo>
                <a:lnTo>
                  <a:pt x="278451" y="448520"/>
                </a:lnTo>
                <a:cubicBezTo>
                  <a:pt x="278451" y="452074"/>
                  <a:pt x="275517" y="455006"/>
                  <a:pt x="271960" y="455006"/>
                </a:cubicBezTo>
                <a:lnTo>
                  <a:pt x="234347" y="455006"/>
                </a:lnTo>
                <a:cubicBezTo>
                  <a:pt x="230791" y="455006"/>
                  <a:pt x="227856" y="452074"/>
                  <a:pt x="227856" y="448520"/>
                </a:cubicBezTo>
                <a:lnTo>
                  <a:pt x="227856" y="385705"/>
                </a:lnTo>
                <a:cubicBezTo>
                  <a:pt x="227856" y="382062"/>
                  <a:pt x="230791" y="379219"/>
                  <a:pt x="234347" y="379219"/>
                </a:cubicBezTo>
                <a:close/>
                <a:moveTo>
                  <a:pt x="234331" y="328645"/>
                </a:moveTo>
                <a:cubicBezTo>
                  <a:pt x="202825" y="328645"/>
                  <a:pt x="177194" y="354240"/>
                  <a:pt x="177194" y="385700"/>
                </a:cubicBezTo>
                <a:lnTo>
                  <a:pt x="177194" y="448532"/>
                </a:lnTo>
                <a:cubicBezTo>
                  <a:pt x="177194" y="479992"/>
                  <a:pt x="202825" y="505587"/>
                  <a:pt x="234331" y="505587"/>
                </a:cubicBezTo>
                <a:lnTo>
                  <a:pt x="271977" y="505587"/>
                </a:lnTo>
                <a:cubicBezTo>
                  <a:pt x="303482" y="505587"/>
                  <a:pt x="329113" y="479992"/>
                  <a:pt x="329113" y="448532"/>
                </a:cubicBezTo>
                <a:lnTo>
                  <a:pt x="329113" y="385700"/>
                </a:lnTo>
                <a:cubicBezTo>
                  <a:pt x="329113" y="354240"/>
                  <a:pt x="303482" y="328645"/>
                  <a:pt x="271977" y="328645"/>
                </a:cubicBezTo>
                <a:close/>
                <a:moveTo>
                  <a:pt x="253109" y="0"/>
                </a:moveTo>
                <a:cubicBezTo>
                  <a:pt x="350829" y="0"/>
                  <a:pt x="430303" y="79362"/>
                  <a:pt x="430303" y="176942"/>
                </a:cubicBezTo>
                <a:lnTo>
                  <a:pt x="430303" y="252749"/>
                </a:lnTo>
                <a:lnTo>
                  <a:pt x="480943" y="252749"/>
                </a:lnTo>
                <a:cubicBezTo>
                  <a:pt x="494916" y="252749"/>
                  <a:pt x="506307" y="264124"/>
                  <a:pt x="506307" y="278077"/>
                </a:cubicBezTo>
                <a:lnTo>
                  <a:pt x="506307" y="581394"/>
                </a:lnTo>
                <a:cubicBezTo>
                  <a:pt x="506307" y="595435"/>
                  <a:pt x="494916" y="606722"/>
                  <a:pt x="480943" y="606722"/>
                </a:cubicBezTo>
                <a:lnTo>
                  <a:pt x="25275" y="606722"/>
                </a:lnTo>
                <a:cubicBezTo>
                  <a:pt x="11302" y="606722"/>
                  <a:pt x="0" y="595435"/>
                  <a:pt x="0" y="581394"/>
                </a:cubicBezTo>
                <a:lnTo>
                  <a:pt x="0" y="278077"/>
                </a:lnTo>
                <a:cubicBezTo>
                  <a:pt x="0" y="264124"/>
                  <a:pt x="11302" y="252749"/>
                  <a:pt x="25275" y="252749"/>
                </a:cubicBezTo>
                <a:lnTo>
                  <a:pt x="379753" y="252749"/>
                </a:lnTo>
                <a:lnTo>
                  <a:pt x="379753" y="176942"/>
                </a:lnTo>
                <a:cubicBezTo>
                  <a:pt x="379753" y="107267"/>
                  <a:pt x="322972" y="50568"/>
                  <a:pt x="253109" y="50568"/>
                </a:cubicBezTo>
                <a:cubicBezTo>
                  <a:pt x="183335" y="50568"/>
                  <a:pt x="126554" y="107267"/>
                  <a:pt x="126554" y="176942"/>
                </a:cubicBezTo>
                <a:cubicBezTo>
                  <a:pt x="126554" y="190895"/>
                  <a:pt x="115252" y="202270"/>
                  <a:pt x="101279" y="202270"/>
                </a:cubicBezTo>
                <a:cubicBezTo>
                  <a:pt x="87306" y="202270"/>
                  <a:pt x="75915" y="190895"/>
                  <a:pt x="75915" y="176942"/>
                </a:cubicBezTo>
                <a:cubicBezTo>
                  <a:pt x="75915" y="79362"/>
                  <a:pt x="155389" y="0"/>
                  <a:pt x="253109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14467" y="2172259"/>
            <a:ext cx="487802" cy="504126"/>
          </a:xfrm>
          <a:custGeom>
            <a:avLst/>
            <a:gdLst/>
            <a:ahLst/>
            <a:cxnLst/>
            <a:rect l="l" t="t" r="r" b="b"/>
            <a:pathLst>
              <a:path w="743" h="769">
                <a:moveTo>
                  <a:pt x="743" y="27"/>
                </a:moveTo>
                <a:cubicBezTo>
                  <a:pt x="743" y="20"/>
                  <a:pt x="741" y="13"/>
                  <a:pt x="736" y="8"/>
                </a:cubicBezTo>
                <a:cubicBezTo>
                  <a:pt x="731" y="3"/>
                  <a:pt x="724" y="0"/>
                  <a:pt x="717" y="0"/>
                </a:cubicBezTo>
                <a:lnTo>
                  <a:pt x="599" y="0"/>
                </a:lnTo>
                <a:cubicBezTo>
                  <a:pt x="596" y="0"/>
                  <a:pt x="594" y="0"/>
                  <a:pt x="591" y="1"/>
                </a:cubicBezTo>
                <a:lnTo>
                  <a:pt x="569" y="1"/>
                </a:lnTo>
                <a:cubicBezTo>
                  <a:pt x="565" y="1"/>
                  <a:pt x="560" y="1"/>
                  <a:pt x="555" y="2"/>
                </a:cubicBezTo>
                <a:lnTo>
                  <a:pt x="184" y="2"/>
                </a:lnTo>
                <a:cubicBezTo>
                  <a:pt x="179" y="1"/>
                  <a:pt x="175" y="1"/>
                  <a:pt x="171" y="1"/>
                </a:cubicBezTo>
                <a:lnTo>
                  <a:pt x="152" y="1"/>
                </a:lnTo>
                <a:cubicBezTo>
                  <a:pt x="149" y="0"/>
                  <a:pt x="147" y="0"/>
                  <a:pt x="144" y="0"/>
                </a:cubicBezTo>
                <a:lnTo>
                  <a:pt x="26" y="0"/>
                </a:lnTo>
                <a:cubicBezTo>
                  <a:pt x="19" y="0"/>
                  <a:pt x="13" y="3"/>
                  <a:pt x="8" y="8"/>
                </a:cubicBezTo>
                <a:cubicBezTo>
                  <a:pt x="2" y="13"/>
                  <a:pt x="0" y="20"/>
                  <a:pt x="0" y="27"/>
                </a:cubicBezTo>
                <a:cubicBezTo>
                  <a:pt x="0" y="36"/>
                  <a:pt x="3" y="239"/>
                  <a:pt x="118" y="266"/>
                </a:cubicBezTo>
                <a:lnTo>
                  <a:pt x="118" y="267"/>
                </a:lnTo>
                <a:cubicBezTo>
                  <a:pt x="118" y="268"/>
                  <a:pt x="118" y="269"/>
                  <a:pt x="118" y="270"/>
                </a:cubicBezTo>
                <a:cubicBezTo>
                  <a:pt x="123" y="394"/>
                  <a:pt x="220" y="497"/>
                  <a:pt x="342" y="511"/>
                </a:cubicBezTo>
                <a:lnTo>
                  <a:pt x="342" y="713"/>
                </a:lnTo>
                <a:lnTo>
                  <a:pt x="242" y="713"/>
                </a:lnTo>
                <a:cubicBezTo>
                  <a:pt x="234" y="713"/>
                  <a:pt x="228" y="719"/>
                  <a:pt x="228" y="727"/>
                </a:cubicBezTo>
                <a:lnTo>
                  <a:pt x="228" y="756"/>
                </a:lnTo>
                <a:cubicBezTo>
                  <a:pt x="228" y="763"/>
                  <a:pt x="234" y="769"/>
                  <a:pt x="242" y="769"/>
                </a:cubicBezTo>
                <a:lnTo>
                  <a:pt x="498" y="769"/>
                </a:lnTo>
                <a:cubicBezTo>
                  <a:pt x="505" y="769"/>
                  <a:pt x="511" y="763"/>
                  <a:pt x="511" y="756"/>
                </a:cubicBezTo>
                <a:lnTo>
                  <a:pt x="511" y="727"/>
                </a:lnTo>
                <a:cubicBezTo>
                  <a:pt x="511" y="719"/>
                  <a:pt x="505" y="713"/>
                  <a:pt x="498" y="713"/>
                </a:cubicBezTo>
                <a:lnTo>
                  <a:pt x="398" y="713"/>
                </a:lnTo>
                <a:lnTo>
                  <a:pt x="398" y="511"/>
                </a:lnTo>
                <a:cubicBezTo>
                  <a:pt x="519" y="498"/>
                  <a:pt x="612" y="401"/>
                  <a:pt x="621" y="279"/>
                </a:cubicBezTo>
                <a:cubicBezTo>
                  <a:pt x="622" y="277"/>
                  <a:pt x="623" y="274"/>
                  <a:pt x="623" y="271"/>
                </a:cubicBezTo>
                <a:lnTo>
                  <a:pt x="623" y="266"/>
                </a:lnTo>
                <a:cubicBezTo>
                  <a:pt x="740" y="242"/>
                  <a:pt x="743" y="36"/>
                  <a:pt x="743" y="27"/>
                </a:cubicBezTo>
                <a:close/>
                <a:moveTo>
                  <a:pt x="370" y="457"/>
                </a:moveTo>
                <a:cubicBezTo>
                  <a:pt x="262" y="457"/>
                  <a:pt x="174" y="369"/>
                  <a:pt x="174" y="261"/>
                </a:cubicBezTo>
                <a:lnTo>
                  <a:pt x="174" y="58"/>
                </a:lnTo>
                <a:lnTo>
                  <a:pt x="566" y="58"/>
                </a:lnTo>
                <a:lnTo>
                  <a:pt x="566" y="261"/>
                </a:lnTo>
                <a:cubicBezTo>
                  <a:pt x="566" y="369"/>
                  <a:pt x="478" y="457"/>
                  <a:pt x="370" y="457"/>
                </a:cubicBezTo>
                <a:close/>
                <a:moveTo>
                  <a:pt x="118" y="209"/>
                </a:moveTo>
                <a:cubicBezTo>
                  <a:pt x="73" y="184"/>
                  <a:pt x="59" y="98"/>
                  <a:pt x="55" y="53"/>
                </a:cubicBezTo>
                <a:lnTo>
                  <a:pt x="118" y="53"/>
                </a:lnTo>
                <a:lnTo>
                  <a:pt x="118" y="209"/>
                </a:lnTo>
                <a:close/>
                <a:moveTo>
                  <a:pt x="626" y="209"/>
                </a:moveTo>
                <a:lnTo>
                  <a:pt x="626" y="53"/>
                </a:lnTo>
                <a:lnTo>
                  <a:pt x="688" y="53"/>
                </a:lnTo>
                <a:cubicBezTo>
                  <a:pt x="684" y="98"/>
                  <a:pt x="670" y="184"/>
                  <a:pt x="626" y="209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64391" y="3873273"/>
            <a:ext cx="2521772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Bankruptcy prediction facilitates informed financial planning, enabling better resource allocation, investment strategies, and debt management.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02088" y="3377804"/>
            <a:ext cx="2522538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Financial Planning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48466" y="3873273"/>
            <a:ext cx="2521772" cy="199240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Accurate predictions boost stakeholder confidence, including investors, creditors, and employees, fostering trust and long-term relationships.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00802" y="3377804"/>
            <a:ext cx="2522538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Stakeholder Confidence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667116">
            <a:off x="25880" y="1409685"/>
            <a:ext cx="5108901" cy="3784838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3939238">
            <a:off x="3309749" y="1675859"/>
            <a:ext cx="6613260" cy="5679276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668157" y="1355762"/>
            <a:ext cx="3733800" cy="3891899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974974" y="466883"/>
            <a:ext cx="62420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Project Overview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2370745" y="1945585"/>
            <a:ext cx="681410" cy="691248"/>
          </a:xfrm>
          <a:custGeom>
            <a:avLst/>
            <a:gdLst/>
            <a:ahLst/>
            <a:cxnLst/>
            <a:rect l="l" t="t" r="r" b="b"/>
            <a:pathLst>
              <a:path w="500" h="508">
                <a:moveTo>
                  <a:pt x="375" y="188"/>
                </a:moveTo>
                <a:cubicBezTo>
                  <a:pt x="375" y="84"/>
                  <a:pt x="291" y="0"/>
                  <a:pt x="188" y="0"/>
                </a:cubicBezTo>
                <a:cubicBezTo>
                  <a:pt x="84" y="0"/>
                  <a:pt x="0" y="84"/>
                  <a:pt x="0" y="188"/>
                </a:cubicBezTo>
                <a:cubicBezTo>
                  <a:pt x="0" y="291"/>
                  <a:pt x="84" y="375"/>
                  <a:pt x="188" y="375"/>
                </a:cubicBezTo>
                <a:cubicBezTo>
                  <a:pt x="291" y="375"/>
                  <a:pt x="375" y="291"/>
                  <a:pt x="375" y="188"/>
                </a:cubicBezTo>
                <a:close/>
                <a:moveTo>
                  <a:pt x="188" y="328"/>
                </a:moveTo>
                <a:cubicBezTo>
                  <a:pt x="110" y="328"/>
                  <a:pt x="47" y="265"/>
                  <a:pt x="47" y="188"/>
                </a:cubicBezTo>
                <a:cubicBezTo>
                  <a:pt x="47" y="110"/>
                  <a:pt x="110" y="47"/>
                  <a:pt x="188" y="47"/>
                </a:cubicBezTo>
                <a:cubicBezTo>
                  <a:pt x="265" y="47"/>
                  <a:pt x="328" y="110"/>
                  <a:pt x="328" y="188"/>
                </a:cubicBezTo>
                <a:cubicBezTo>
                  <a:pt x="328" y="265"/>
                  <a:pt x="265" y="328"/>
                  <a:pt x="188" y="328"/>
                </a:cubicBezTo>
                <a:close/>
                <a:moveTo>
                  <a:pt x="500" y="466"/>
                </a:moveTo>
                <a:lnTo>
                  <a:pt x="458" y="508"/>
                </a:lnTo>
                <a:lnTo>
                  <a:pt x="314" y="364"/>
                </a:lnTo>
                <a:lnTo>
                  <a:pt x="356" y="322"/>
                </a:lnTo>
                <a:lnTo>
                  <a:pt x="500" y="466"/>
                </a:ln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750375" y="2032363"/>
            <a:ext cx="691248" cy="517692"/>
          </a:xfrm>
          <a:custGeom>
            <a:avLst/>
            <a:gdLst/>
            <a:ahLst/>
            <a:cxnLst/>
            <a:rect l="l" t="t" r="r" b="b"/>
            <a:pathLst>
              <a:path w="607639" h="455076">
                <a:moveTo>
                  <a:pt x="227854" y="404591"/>
                </a:moveTo>
                <a:lnTo>
                  <a:pt x="227854" y="429834"/>
                </a:lnTo>
                <a:lnTo>
                  <a:pt x="379786" y="429834"/>
                </a:lnTo>
                <a:lnTo>
                  <a:pt x="379786" y="404591"/>
                </a:lnTo>
                <a:close/>
                <a:moveTo>
                  <a:pt x="303680" y="353928"/>
                </a:moveTo>
                <a:lnTo>
                  <a:pt x="303775" y="353928"/>
                </a:lnTo>
                <a:lnTo>
                  <a:pt x="303888" y="353928"/>
                </a:lnTo>
                <a:lnTo>
                  <a:pt x="312716" y="357595"/>
                </a:lnTo>
                <a:cubicBezTo>
                  <a:pt x="315001" y="359887"/>
                  <a:pt x="316415" y="363054"/>
                  <a:pt x="316415" y="366552"/>
                </a:cubicBezTo>
                <a:cubicBezTo>
                  <a:pt x="316415" y="373548"/>
                  <a:pt x="310760" y="379219"/>
                  <a:pt x="303784" y="379219"/>
                </a:cubicBezTo>
                <a:cubicBezTo>
                  <a:pt x="296808" y="379219"/>
                  <a:pt x="291153" y="373548"/>
                  <a:pt x="291153" y="366552"/>
                </a:cubicBezTo>
                <a:cubicBezTo>
                  <a:pt x="291153" y="363054"/>
                  <a:pt x="292567" y="359887"/>
                  <a:pt x="294853" y="357595"/>
                </a:cubicBezTo>
                <a:close/>
                <a:moveTo>
                  <a:pt x="303784" y="353885"/>
                </a:moveTo>
                <a:lnTo>
                  <a:pt x="303680" y="353928"/>
                </a:lnTo>
                <a:lnTo>
                  <a:pt x="25367" y="353928"/>
                </a:lnTo>
                <a:lnTo>
                  <a:pt x="25367" y="379260"/>
                </a:lnTo>
                <a:lnTo>
                  <a:pt x="303775" y="379260"/>
                </a:lnTo>
                <a:lnTo>
                  <a:pt x="582272" y="379260"/>
                </a:lnTo>
                <a:lnTo>
                  <a:pt x="582272" y="353928"/>
                </a:lnTo>
                <a:lnTo>
                  <a:pt x="303888" y="353928"/>
                </a:lnTo>
                <a:close/>
                <a:moveTo>
                  <a:pt x="25367" y="25331"/>
                </a:moveTo>
                <a:lnTo>
                  <a:pt x="25367" y="328686"/>
                </a:lnTo>
                <a:lnTo>
                  <a:pt x="582272" y="328686"/>
                </a:lnTo>
                <a:lnTo>
                  <a:pt x="582272" y="25331"/>
                </a:lnTo>
                <a:close/>
                <a:moveTo>
                  <a:pt x="25367" y="0"/>
                </a:moveTo>
                <a:lnTo>
                  <a:pt x="582272" y="0"/>
                </a:lnTo>
                <a:cubicBezTo>
                  <a:pt x="596246" y="0"/>
                  <a:pt x="607639" y="11377"/>
                  <a:pt x="607639" y="25331"/>
                </a:cubicBezTo>
                <a:lnTo>
                  <a:pt x="607639" y="379260"/>
                </a:lnTo>
                <a:cubicBezTo>
                  <a:pt x="607639" y="393214"/>
                  <a:pt x="596246" y="404591"/>
                  <a:pt x="582272" y="404591"/>
                </a:cubicBezTo>
                <a:lnTo>
                  <a:pt x="405063" y="404591"/>
                </a:lnTo>
                <a:lnTo>
                  <a:pt x="405063" y="429834"/>
                </a:lnTo>
                <a:lnTo>
                  <a:pt x="455707" y="429834"/>
                </a:lnTo>
                <a:cubicBezTo>
                  <a:pt x="462738" y="429834"/>
                  <a:pt x="468346" y="435522"/>
                  <a:pt x="468346" y="442455"/>
                </a:cubicBezTo>
                <a:cubicBezTo>
                  <a:pt x="468346" y="449477"/>
                  <a:pt x="462738" y="455076"/>
                  <a:pt x="455707" y="455076"/>
                </a:cubicBezTo>
                <a:lnTo>
                  <a:pt x="151932" y="455076"/>
                </a:lnTo>
                <a:cubicBezTo>
                  <a:pt x="144901" y="455076"/>
                  <a:pt x="139293" y="449477"/>
                  <a:pt x="139293" y="442455"/>
                </a:cubicBezTo>
                <a:cubicBezTo>
                  <a:pt x="139293" y="435433"/>
                  <a:pt x="144901" y="429834"/>
                  <a:pt x="151932" y="429834"/>
                </a:cubicBezTo>
                <a:lnTo>
                  <a:pt x="202487" y="429834"/>
                </a:lnTo>
                <a:lnTo>
                  <a:pt x="202487" y="404591"/>
                </a:lnTo>
                <a:lnTo>
                  <a:pt x="25367" y="404591"/>
                </a:lnTo>
                <a:cubicBezTo>
                  <a:pt x="11304" y="404591"/>
                  <a:pt x="0" y="393214"/>
                  <a:pt x="0" y="379260"/>
                </a:cubicBezTo>
                <a:lnTo>
                  <a:pt x="0" y="25331"/>
                </a:lnTo>
                <a:cubicBezTo>
                  <a:pt x="0" y="11377"/>
                  <a:pt x="11304" y="0"/>
                  <a:pt x="25367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25006" y="1946108"/>
            <a:ext cx="691248" cy="690201"/>
          </a:xfrm>
          <a:custGeom>
            <a:avLst/>
            <a:gdLst/>
            <a:ahLst/>
            <a:cxnLst/>
            <a:rect l="l" t="t" r="r" b="b"/>
            <a:pathLst>
              <a:path w="575551" h="574680">
                <a:moveTo>
                  <a:pt x="288111" y="195956"/>
                </a:moveTo>
                <a:cubicBezTo>
                  <a:pt x="275198" y="195956"/>
                  <a:pt x="262286" y="199179"/>
                  <a:pt x="250987" y="204012"/>
                </a:cubicBezTo>
                <a:cubicBezTo>
                  <a:pt x="204987" y="224958"/>
                  <a:pt x="184004" y="278933"/>
                  <a:pt x="204180" y="324853"/>
                </a:cubicBezTo>
                <a:cubicBezTo>
                  <a:pt x="218706" y="357882"/>
                  <a:pt x="251794" y="378828"/>
                  <a:pt x="288111" y="378828"/>
                </a:cubicBezTo>
                <a:cubicBezTo>
                  <a:pt x="301023" y="378828"/>
                  <a:pt x="313128" y="376411"/>
                  <a:pt x="325234" y="370772"/>
                </a:cubicBezTo>
                <a:cubicBezTo>
                  <a:pt x="371234" y="350632"/>
                  <a:pt x="392217" y="296657"/>
                  <a:pt x="371234" y="250737"/>
                </a:cubicBezTo>
                <a:cubicBezTo>
                  <a:pt x="356708" y="217708"/>
                  <a:pt x="323620" y="195956"/>
                  <a:pt x="288111" y="195956"/>
                </a:cubicBezTo>
                <a:close/>
                <a:moveTo>
                  <a:pt x="288111" y="163732"/>
                </a:moveTo>
                <a:cubicBezTo>
                  <a:pt x="336532" y="163732"/>
                  <a:pt x="380919" y="192734"/>
                  <a:pt x="401094" y="237042"/>
                </a:cubicBezTo>
                <a:cubicBezTo>
                  <a:pt x="428533" y="299879"/>
                  <a:pt x="400287" y="372383"/>
                  <a:pt x="338146" y="400579"/>
                </a:cubicBezTo>
                <a:cubicBezTo>
                  <a:pt x="322006" y="407830"/>
                  <a:pt x="305058" y="411052"/>
                  <a:pt x="288111" y="411052"/>
                </a:cubicBezTo>
                <a:cubicBezTo>
                  <a:pt x="238882" y="411052"/>
                  <a:pt x="194496" y="382050"/>
                  <a:pt x="175127" y="337742"/>
                </a:cubicBezTo>
                <a:cubicBezTo>
                  <a:pt x="146881" y="275711"/>
                  <a:pt x="175127" y="202401"/>
                  <a:pt x="237268" y="175011"/>
                </a:cubicBezTo>
                <a:cubicBezTo>
                  <a:pt x="253408" y="167760"/>
                  <a:pt x="270356" y="163732"/>
                  <a:pt x="288111" y="163732"/>
                </a:cubicBezTo>
                <a:close/>
                <a:moveTo>
                  <a:pt x="307478" y="33198"/>
                </a:moveTo>
                <a:cubicBezTo>
                  <a:pt x="292145" y="31587"/>
                  <a:pt x="276006" y="32392"/>
                  <a:pt x="260674" y="34004"/>
                </a:cubicBezTo>
                <a:cubicBezTo>
                  <a:pt x="260674" y="44479"/>
                  <a:pt x="259060" y="54954"/>
                  <a:pt x="255025" y="64624"/>
                </a:cubicBezTo>
                <a:cubicBezTo>
                  <a:pt x="242921" y="96049"/>
                  <a:pt x="212256" y="116999"/>
                  <a:pt x="179171" y="116999"/>
                </a:cubicBezTo>
                <a:cubicBezTo>
                  <a:pt x="168680" y="116999"/>
                  <a:pt x="158997" y="115387"/>
                  <a:pt x="150120" y="111359"/>
                </a:cubicBezTo>
                <a:cubicBezTo>
                  <a:pt x="139629" y="107330"/>
                  <a:pt x="129946" y="101689"/>
                  <a:pt x="121876" y="93631"/>
                </a:cubicBezTo>
                <a:cubicBezTo>
                  <a:pt x="109772" y="103301"/>
                  <a:pt x="99281" y="114582"/>
                  <a:pt x="88791" y="127474"/>
                </a:cubicBezTo>
                <a:cubicBezTo>
                  <a:pt x="96860" y="134726"/>
                  <a:pt x="103316" y="143590"/>
                  <a:pt x="107351" y="153259"/>
                </a:cubicBezTo>
                <a:cubicBezTo>
                  <a:pt x="116228" y="172598"/>
                  <a:pt x="117034" y="195160"/>
                  <a:pt x="108965" y="215304"/>
                </a:cubicBezTo>
                <a:cubicBezTo>
                  <a:pt x="100895" y="235448"/>
                  <a:pt x="86370" y="251564"/>
                  <a:pt x="66196" y="260427"/>
                </a:cubicBezTo>
                <a:cubicBezTo>
                  <a:pt x="55705" y="265262"/>
                  <a:pt x="44408" y="267679"/>
                  <a:pt x="33110" y="267679"/>
                </a:cubicBezTo>
                <a:cubicBezTo>
                  <a:pt x="31496" y="282989"/>
                  <a:pt x="32303" y="299105"/>
                  <a:pt x="33917" y="314414"/>
                </a:cubicBezTo>
                <a:cubicBezTo>
                  <a:pt x="44408" y="313609"/>
                  <a:pt x="55705" y="316026"/>
                  <a:pt x="65389" y="320055"/>
                </a:cubicBezTo>
                <a:cubicBezTo>
                  <a:pt x="85563" y="327307"/>
                  <a:pt x="101702" y="342617"/>
                  <a:pt x="110579" y="362761"/>
                </a:cubicBezTo>
                <a:cubicBezTo>
                  <a:pt x="119455" y="382100"/>
                  <a:pt x="120262" y="404661"/>
                  <a:pt x="112193" y="424806"/>
                </a:cubicBezTo>
                <a:cubicBezTo>
                  <a:pt x="108158" y="435281"/>
                  <a:pt x="101702" y="444950"/>
                  <a:pt x="93633" y="453008"/>
                </a:cubicBezTo>
                <a:cubicBezTo>
                  <a:pt x="104123" y="465095"/>
                  <a:pt x="115421" y="476375"/>
                  <a:pt x="127525" y="486045"/>
                </a:cubicBezTo>
                <a:cubicBezTo>
                  <a:pt x="134788" y="477987"/>
                  <a:pt x="143664" y="471541"/>
                  <a:pt x="154155" y="467512"/>
                </a:cubicBezTo>
                <a:cubicBezTo>
                  <a:pt x="164645" y="462677"/>
                  <a:pt x="175943" y="460260"/>
                  <a:pt x="187240" y="460260"/>
                </a:cubicBezTo>
                <a:cubicBezTo>
                  <a:pt x="219519" y="460260"/>
                  <a:pt x="248569" y="478793"/>
                  <a:pt x="261481" y="508606"/>
                </a:cubicBezTo>
                <a:cubicBezTo>
                  <a:pt x="266323" y="519082"/>
                  <a:pt x="268743" y="530362"/>
                  <a:pt x="268743" y="541643"/>
                </a:cubicBezTo>
                <a:cubicBezTo>
                  <a:pt x="284076" y="543255"/>
                  <a:pt x="300215" y="543255"/>
                  <a:pt x="315547" y="541643"/>
                </a:cubicBezTo>
                <a:cubicBezTo>
                  <a:pt x="315547" y="530362"/>
                  <a:pt x="317161" y="519082"/>
                  <a:pt x="321196" y="508606"/>
                </a:cubicBezTo>
                <a:cubicBezTo>
                  <a:pt x="333300" y="477987"/>
                  <a:pt x="363965" y="457037"/>
                  <a:pt x="397050" y="457037"/>
                </a:cubicBezTo>
                <a:cubicBezTo>
                  <a:pt x="406734" y="457037"/>
                  <a:pt x="417224" y="458648"/>
                  <a:pt x="426101" y="461871"/>
                </a:cubicBezTo>
                <a:cubicBezTo>
                  <a:pt x="437399" y="466706"/>
                  <a:pt x="446275" y="472347"/>
                  <a:pt x="454345" y="481210"/>
                </a:cubicBezTo>
                <a:cubicBezTo>
                  <a:pt x="466449" y="470735"/>
                  <a:pt x="477747" y="459454"/>
                  <a:pt x="487430" y="446562"/>
                </a:cubicBezTo>
                <a:cubicBezTo>
                  <a:pt x="479361" y="439310"/>
                  <a:pt x="472905" y="430446"/>
                  <a:pt x="468870" y="420777"/>
                </a:cubicBezTo>
                <a:cubicBezTo>
                  <a:pt x="450310" y="379682"/>
                  <a:pt x="468870" y="331336"/>
                  <a:pt x="510025" y="313609"/>
                </a:cubicBezTo>
                <a:cubicBezTo>
                  <a:pt x="520516" y="308774"/>
                  <a:pt x="531006" y="306357"/>
                  <a:pt x="543111" y="306357"/>
                </a:cubicBezTo>
                <a:cubicBezTo>
                  <a:pt x="543918" y="290241"/>
                  <a:pt x="543918" y="274931"/>
                  <a:pt x="541497" y="258816"/>
                </a:cubicBezTo>
                <a:cubicBezTo>
                  <a:pt x="531006" y="259622"/>
                  <a:pt x="520516" y="258010"/>
                  <a:pt x="510832" y="253981"/>
                </a:cubicBezTo>
                <a:cubicBezTo>
                  <a:pt x="468870" y="237866"/>
                  <a:pt x="447889" y="190325"/>
                  <a:pt x="464028" y="149230"/>
                </a:cubicBezTo>
                <a:cubicBezTo>
                  <a:pt x="468063" y="138755"/>
                  <a:pt x="473712" y="129086"/>
                  <a:pt x="481781" y="121028"/>
                </a:cubicBezTo>
                <a:cubicBezTo>
                  <a:pt x="471291" y="108941"/>
                  <a:pt x="459993" y="98466"/>
                  <a:pt x="447889" y="88797"/>
                </a:cubicBezTo>
                <a:cubicBezTo>
                  <a:pt x="440626" y="96049"/>
                  <a:pt x="431750" y="102495"/>
                  <a:pt x="422066" y="106524"/>
                </a:cubicBezTo>
                <a:cubicBezTo>
                  <a:pt x="411576" y="111359"/>
                  <a:pt x="400278" y="113776"/>
                  <a:pt x="388981" y="113776"/>
                </a:cubicBezTo>
                <a:cubicBezTo>
                  <a:pt x="356702" y="113776"/>
                  <a:pt x="327652" y="94437"/>
                  <a:pt x="314740" y="65429"/>
                </a:cubicBezTo>
                <a:cubicBezTo>
                  <a:pt x="309898" y="54954"/>
                  <a:pt x="307478" y="44479"/>
                  <a:pt x="307478" y="33198"/>
                </a:cubicBezTo>
                <a:close/>
                <a:moveTo>
                  <a:pt x="327652" y="2579"/>
                </a:moveTo>
                <a:cubicBezTo>
                  <a:pt x="331686" y="3385"/>
                  <a:pt x="335721" y="5802"/>
                  <a:pt x="338142" y="9831"/>
                </a:cubicBezTo>
                <a:cubicBezTo>
                  <a:pt x="340563" y="13054"/>
                  <a:pt x="341370" y="17889"/>
                  <a:pt x="340563" y="21917"/>
                </a:cubicBezTo>
                <a:cubicBezTo>
                  <a:pt x="338949" y="32392"/>
                  <a:pt x="339756" y="42868"/>
                  <a:pt x="343791" y="52537"/>
                </a:cubicBezTo>
                <a:cubicBezTo>
                  <a:pt x="351861" y="70264"/>
                  <a:pt x="369614" y="81545"/>
                  <a:pt x="388981" y="81545"/>
                </a:cubicBezTo>
                <a:cubicBezTo>
                  <a:pt x="395436" y="81545"/>
                  <a:pt x="402699" y="79933"/>
                  <a:pt x="409155" y="76710"/>
                </a:cubicBezTo>
                <a:cubicBezTo>
                  <a:pt x="418031" y="72681"/>
                  <a:pt x="425294" y="66235"/>
                  <a:pt x="430943" y="57372"/>
                </a:cubicBezTo>
                <a:cubicBezTo>
                  <a:pt x="433364" y="54148"/>
                  <a:pt x="437399" y="50925"/>
                  <a:pt x="441433" y="50120"/>
                </a:cubicBezTo>
                <a:cubicBezTo>
                  <a:pt x="445468" y="49314"/>
                  <a:pt x="450310" y="50120"/>
                  <a:pt x="454345" y="52537"/>
                </a:cubicBezTo>
                <a:cubicBezTo>
                  <a:pt x="477747" y="69458"/>
                  <a:pt x="499535" y="90408"/>
                  <a:pt x="517288" y="113776"/>
                </a:cubicBezTo>
                <a:cubicBezTo>
                  <a:pt x="519709" y="116999"/>
                  <a:pt x="520516" y="121834"/>
                  <a:pt x="519709" y="125863"/>
                </a:cubicBezTo>
                <a:cubicBezTo>
                  <a:pt x="519709" y="130697"/>
                  <a:pt x="516481" y="134726"/>
                  <a:pt x="513253" y="137143"/>
                </a:cubicBezTo>
                <a:cubicBezTo>
                  <a:pt x="504376" y="142784"/>
                  <a:pt x="497114" y="150842"/>
                  <a:pt x="493886" y="160511"/>
                </a:cubicBezTo>
                <a:cubicBezTo>
                  <a:pt x="484202" y="185490"/>
                  <a:pt x="497114" y="214498"/>
                  <a:pt x="522130" y="224167"/>
                </a:cubicBezTo>
                <a:cubicBezTo>
                  <a:pt x="531813" y="227391"/>
                  <a:pt x="541497" y="228196"/>
                  <a:pt x="551987" y="225779"/>
                </a:cubicBezTo>
                <a:cubicBezTo>
                  <a:pt x="556022" y="224167"/>
                  <a:pt x="560864" y="224973"/>
                  <a:pt x="564092" y="227391"/>
                </a:cubicBezTo>
                <a:cubicBezTo>
                  <a:pt x="568126" y="229808"/>
                  <a:pt x="570547" y="233837"/>
                  <a:pt x="571354" y="238671"/>
                </a:cubicBezTo>
                <a:cubicBezTo>
                  <a:pt x="576196" y="267679"/>
                  <a:pt x="577003" y="296687"/>
                  <a:pt x="572968" y="326501"/>
                </a:cubicBezTo>
                <a:cubicBezTo>
                  <a:pt x="572161" y="330530"/>
                  <a:pt x="569740" y="334559"/>
                  <a:pt x="566513" y="336976"/>
                </a:cubicBezTo>
                <a:cubicBezTo>
                  <a:pt x="562478" y="339393"/>
                  <a:pt x="558443" y="341005"/>
                  <a:pt x="553601" y="339393"/>
                </a:cubicBezTo>
                <a:cubicBezTo>
                  <a:pt x="543111" y="337782"/>
                  <a:pt x="532620" y="338588"/>
                  <a:pt x="522937" y="342617"/>
                </a:cubicBezTo>
                <a:cubicBezTo>
                  <a:pt x="498728" y="353897"/>
                  <a:pt x="487430" y="382905"/>
                  <a:pt x="497921" y="407884"/>
                </a:cubicBezTo>
                <a:cubicBezTo>
                  <a:pt x="501956" y="416748"/>
                  <a:pt x="509218" y="424806"/>
                  <a:pt x="518095" y="429640"/>
                </a:cubicBezTo>
                <a:cubicBezTo>
                  <a:pt x="522130" y="432058"/>
                  <a:pt x="524550" y="436087"/>
                  <a:pt x="526164" y="440116"/>
                </a:cubicBezTo>
                <a:cubicBezTo>
                  <a:pt x="526971" y="444950"/>
                  <a:pt x="526164" y="448979"/>
                  <a:pt x="522937" y="453008"/>
                </a:cubicBezTo>
                <a:cubicBezTo>
                  <a:pt x="505990" y="477181"/>
                  <a:pt x="485816" y="498937"/>
                  <a:pt x="461607" y="516664"/>
                </a:cubicBezTo>
                <a:cubicBezTo>
                  <a:pt x="458380" y="519082"/>
                  <a:pt x="453538" y="520693"/>
                  <a:pt x="449503" y="519082"/>
                </a:cubicBezTo>
                <a:cubicBezTo>
                  <a:pt x="444661" y="518276"/>
                  <a:pt x="440626" y="515858"/>
                  <a:pt x="438205" y="511830"/>
                </a:cubicBezTo>
                <a:cubicBezTo>
                  <a:pt x="432557" y="502966"/>
                  <a:pt x="424487" y="495714"/>
                  <a:pt x="414804" y="492491"/>
                </a:cubicBezTo>
                <a:cubicBezTo>
                  <a:pt x="409155" y="490074"/>
                  <a:pt x="403506" y="489268"/>
                  <a:pt x="397050" y="489268"/>
                </a:cubicBezTo>
                <a:cubicBezTo>
                  <a:pt x="376876" y="489268"/>
                  <a:pt x="358316" y="501355"/>
                  <a:pt x="351054" y="520693"/>
                </a:cubicBezTo>
                <a:cubicBezTo>
                  <a:pt x="347826" y="530362"/>
                  <a:pt x="347019" y="540838"/>
                  <a:pt x="349440" y="550507"/>
                </a:cubicBezTo>
                <a:cubicBezTo>
                  <a:pt x="351054" y="555342"/>
                  <a:pt x="350247" y="559370"/>
                  <a:pt x="347826" y="563399"/>
                </a:cubicBezTo>
                <a:cubicBezTo>
                  <a:pt x="345405" y="567428"/>
                  <a:pt x="341370" y="569845"/>
                  <a:pt x="336528" y="570651"/>
                </a:cubicBezTo>
                <a:cubicBezTo>
                  <a:pt x="321196" y="573874"/>
                  <a:pt x="304250" y="574680"/>
                  <a:pt x="288110" y="574680"/>
                </a:cubicBezTo>
                <a:cubicBezTo>
                  <a:pt x="275199" y="574680"/>
                  <a:pt x="261481" y="573874"/>
                  <a:pt x="248569" y="572263"/>
                </a:cubicBezTo>
                <a:cubicBezTo>
                  <a:pt x="243728" y="571457"/>
                  <a:pt x="239693" y="569040"/>
                  <a:pt x="237272" y="565011"/>
                </a:cubicBezTo>
                <a:cubicBezTo>
                  <a:pt x="234851" y="561788"/>
                  <a:pt x="234044" y="556953"/>
                  <a:pt x="234851" y="552924"/>
                </a:cubicBezTo>
                <a:cubicBezTo>
                  <a:pt x="237272" y="542449"/>
                  <a:pt x="236465" y="531168"/>
                  <a:pt x="232430" y="521499"/>
                </a:cubicBezTo>
                <a:cubicBezTo>
                  <a:pt x="224360" y="503772"/>
                  <a:pt x="206607" y="492491"/>
                  <a:pt x="187240" y="492491"/>
                </a:cubicBezTo>
                <a:cubicBezTo>
                  <a:pt x="179978" y="492491"/>
                  <a:pt x="173522" y="494103"/>
                  <a:pt x="167066" y="496520"/>
                </a:cubicBezTo>
                <a:cubicBezTo>
                  <a:pt x="157383" y="500549"/>
                  <a:pt x="150120" y="507801"/>
                  <a:pt x="144471" y="516664"/>
                </a:cubicBezTo>
                <a:cubicBezTo>
                  <a:pt x="142050" y="520693"/>
                  <a:pt x="138822" y="523916"/>
                  <a:pt x="133981" y="524722"/>
                </a:cubicBezTo>
                <a:cubicBezTo>
                  <a:pt x="129946" y="525528"/>
                  <a:pt x="125104" y="524722"/>
                  <a:pt x="121069" y="522305"/>
                </a:cubicBezTo>
                <a:cubicBezTo>
                  <a:pt x="96860" y="504578"/>
                  <a:pt x="75879" y="484433"/>
                  <a:pt x="58126" y="460260"/>
                </a:cubicBezTo>
                <a:cubicBezTo>
                  <a:pt x="54898" y="457037"/>
                  <a:pt x="54091" y="452202"/>
                  <a:pt x="54898" y="448173"/>
                </a:cubicBezTo>
                <a:cubicBezTo>
                  <a:pt x="55705" y="443339"/>
                  <a:pt x="58126" y="439310"/>
                  <a:pt x="62161" y="436892"/>
                </a:cubicBezTo>
                <a:cubicBezTo>
                  <a:pt x="71845" y="431252"/>
                  <a:pt x="78300" y="423194"/>
                  <a:pt x="82335" y="413525"/>
                </a:cubicBezTo>
                <a:cubicBezTo>
                  <a:pt x="87177" y="400632"/>
                  <a:pt x="86370" y="387740"/>
                  <a:pt x="81528" y="375653"/>
                </a:cubicBezTo>
                <a:cubicBezTo>
                  <a:pt x="75879" y="363567"/>
                  <a:pt x="66196" y="354703"/>
                  <a:pt x="54091" y="349869"/>
                </a:cubicBezTo>
                <a:cubicBezTo>
                  <a:pt x="44408" y="345840"/>
                  <a:pt x="33917" y="345840"/>
                  <a:pt x="24234" y="348257"/>
                </a:cubicBezTo>
                <a:cubicBezTo>
                  <a:pt x="19392" y="349063"/>
                  <a:pt x="15357" y="349063"/>
                  <a:pt x="11322" y="346645"/>
                </a:cubicBezTo>
                <a:cubicBezTo>
                  <a:pt x="7288" y="343422"/>
                  <a:pt x="4867" y="340199"/>
                  <a:pt x="4060" y="335365"/>
                </a:cubicBezTo>
                <a:cubicBezTo>
                  <a:pt x="-782" y="306357"/>
                  <a:pt x="-1589" y="276543"/>
                  <a:pt x="3253" y="247535"/>
                </a:cubicBezTo>
                <a:cubicBezTo>
                  <a:pt x="3253" y="242700"/>
                  <a:pt x="5674" y="238671"/>
                  <a:pt x="9708" y="236254"/>
                </a:cubicBezTo>
                <a:cubicBezTo>
                  <a:pt x="13743" y="233837"/>
                  <a:pt x="17778" y="233031"/>
                  <a:pt x="22620" y="233837"/>
                </a:cubicBezTo>
                <a:cubicBezTo>
                  <a:pt x="33110" y="236254"/>
                  <a:pt x="43601" y="235448"/>
                  <a:pt x="53284" y="230614"/>
                </a:cubicBezTo>
                <a:cubicBezTo>
                  <a:pt x="65389" y="225779"/>
                  <a:pt x="74265" y="216110"/>
                  <a:pt x="79107" y="204023"/>
                </a:cubicBezTo>
                <a:cubicBezTo>
                  <a:pt x="83949" y="191131"/>
                  <a:pt x="83142" y="178238"/>
                  <a:pt x="78300" y="166152"/>
                </a:cubicBezTo>
                <a:cubicBezTo>
                  <a:pt x="73459" y="157288"/>
                  <a:pt x="67003" y="149230"/>
                  <a:pt x="58126" y="144395"/>
                </a:cubicBezTo>
                <a:cubicBezTo>
                  <a:pt x="54091" y="141978"/>
                  <a:pt x="51671" y="137949"/>
                  <a:pt x="50864" y="133920"/>
                </a:cubicBezTo>
                <a:cubicBezTo>
                  <a:pt x="50057" y="129086"/>
                  <a:pt x="50864" y="124251"/>
                  <a:pt x="53284" y="121028"/>
                </a:cubicBezTo>
                <a:cubicBezTo>
                  <a:pt x="70231" y="96855"/>
                  <a:pt x="91212" y="75904"/>
                  <a:pt x="114614" y="58177"/>
                </a:cubicBezTo>
                <a:cubicBezTo>
                  <a:pt x="118648" y="55760"/>
                  <a:pt x="122683" y="54148"/>
                  <a:pt x="127525" y="54954"/>
                </a:cubicBezTo>
                <a:cubicBezTo>
                  <a:pt x="131560" y="55760"/>
                  <a:pt x="135595" y="58177"/>
                  <a:pt x="138015" y="62206"/>
                </a:cubicBezTo>
                <a:cubicBezTo>
                  <a:pt x="143664" y="71070"/>
                  <a:pt x="151734" y="77516"/>
                  <a:pt x="161417" y="81545"/>
                </a:cubicBezTo>
                <a:cubicBezTo>
                  <a:pt x="167066" y="83962"/>
                  <a:pt x="172715" y="84768"/>
                  <a:pt x="179171" y="84768"/>
                </a:cubicBezTo>
                <a:cubicBezTo>
                  <a:pt x="199345" y="84768"/>
                  <a:pt x="217905" y="71876"/>
                  <a:pt x="225167" y="53343"/>
                </a:cubicBezTo>
                <a:cubicBezTo>
                  <a:pt x="228395" y="43673"/>
                  <a:pt x="229202" y="34004"/>
                  <a:pt x="226781" y="24335"/>
                </a:cubicBezTo>
                <a:cubicBezTo>
                  <a:pt x="225974" y="19500"/>
                  <a:pt x="226781" y="14665"/>
                  <a:pt x="229202" y="11442"/>
                </a:cubicBezTo>
                <a:cubicBezTo>
                  <a:pt x="231623" y="7413"/>
                  <a:pt x="235658" y="4996"/>
                  <a:pt x="239693" y="4190"/>
                </a:cubicBezTo>
                <a:cubicBezTo>
                  <a:pt x="268743" y="-644"/>
                  <a:pt x="297794" y="-1450"/>
                  <a:pt x="327652" y="2579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923618" y="4815023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923618" y="4758968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89522" y="4815023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5289522" y="4758968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676062" y="4815023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676062" y="4758968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15911" y="2819400"/>
            <a:ext cx="2858868" cy="153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The primary objective is to develop a model to accurately predict a company's likelihood of bankruptcy based on financial and risk indicators.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32266" y="2826560"/>
            <a:ext cx="2858868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The analysis utilizes data extracted from the "Bankruptcy.xlsx" file, specifically from the "bankruptcy-prevention" sheet.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666026" y="2826560"/>
            <a:ext cx="2858868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  <a:spcAft>
                <a:spcPts val="1200"/>
              </a:spcAft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A binary classification model will be used, categorizing companies as either "bankruptcy" or "non-bankruptcy" based on input features.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16449" y="2477409"/>
            <a:ext cx="2858868" cy="41819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600" b="1" i="0" u="none" baseline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Business Objective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666566" y="2477409"/>
            <a:ext cx="2858868" cy="41819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600" b="1" i="0" u="none" baseline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Model Type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83650" y="2477409"/>
            <a:ext cx="2858868" cy="41819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en-US" sz="1600" b="1" i="0" u="none" baseline="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/>
                <a:ea typeface="微软雅黑"/>
              </a:rPr>
              <a:t>Data Source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02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Exploration and Analysis (EDA)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667116">
            <a:off x="-679805" y="1012126"/>
            <a:ext cx="5108901" cy="3784838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3939238">
            <a:off x="2864205" y="2192976"/>
            <a:ext cx="6613260" cy="5679276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675306" y="2542254"/>
            <a:ext cx="3733800" cy="3891899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432053" y="206283"/>
            <a:ext cx="1300400" cy="1330409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40017" y="1211846"/>
            <a:ext cx="1300400" cy="1908503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3845" y="1964160"/>
            <a:ext cx="1300400" cy="1156189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812307" y="206283"/>
            <a:ext cx="1300401" cy="1330409"/>
          </a:xfrm>
          <a:prstGeom prst="triangle">
            <a:avLst/>
          </a:prstGeom>
          <a:solidFill>
            <a:srgbClr val="FFFFFF">
              <a:lumMod val="6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399985" y="693017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1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820270" y="1211846"/>
            <a:ext cx="1300401" cy="1908503"/>
          </a:xfrm>
          <a:prstGeom prst="triangle">
            <a:avLst/>
          </a:prstGeom>
          <a:solidFill>
            <a:schemeClr val="accent1"/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407948" y="2276675"/>
            <a:ext cx="824645" cy="84367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524099" y="1964160"/>
            <a:ext cx="1300401" cy="1156189"/>
          </a:xfrm>
          <a:prstGeom prst="triangle">
            <a:avLst/>
          </a:prstGeom>
          <a:solidFill>
            <a:srgbClr val="FFFFFF">
              <a:lumMod val="6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11777" y="2276675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3</a:t>
            </a:r>
          </a:p>
        </p:txBody>
      </p:sp>
      <p:sp>
        <p:nvSpPr>
          <p:cNvPr id="14" name="Freeform 14"/>
          <p:cNvSpPr/>
          <p:nvPr/>
        </p:nvSpPr>
        <p:spPr>
          <a:xfrm>
            <a:off x="2282314" y="830474"/>
            <a:ext cx="360388" cy="459883"/>
          </a:xfrm>
          <a:custGeom>
            <a:avLst/>
            <a:gdLst/>
            <a:ahLst/>
            <a:cxnLst/>
            <a:rect l="l" t="t" r="r" b="b"/>
            <a:pathLst>
              <a:path w="258763" h="330201">
                <a:moveTo>
                  <a:pt x="43815" y="130175"/>
                </a:moveTo>
                <a:cubicBezTo>
                  <a:pt x="34925" y="130175"/>
                  <a:pt x="28575" y="137968"/>
                  <a:pt x="28575" y="147060"/>
                </a:cubicBezTo>
                <a:cubicBezTo>
                  <a:pt x="28575" y="147060"/>
                  <a:pt x="28575" y="147060"/>
                  <a:pt x="28575" y="227590"/>
                </a:cubicBezTo>
                <a:cubicBezTo>
                  <a:pt x="28575" y="236682"/>
                  <a:pt x="34925" y="244475"/>
                  <a:pt x="43815" y="244475"/>
                </a:cubicBezTo>
                <a:cubicBezTo>
                  <a:pt x="52705" y="244475"/>
                  <a:pt x="60325" y="236682"/>
                  <a:pt x="60325" y="227590"/>
                </a:cubicBezTo>
                <a:cubicBezTo>
                  <a:pt x="60325" y="227590"/>
                  <a:pt x="60325" y="227590"/>
                  <a:pt x="60325" y="147060"/>
                </a:cubicBezTo>
                <a:cubicBezTo>
                  <a:pt x="60325" y="137968"/>
                  <a:pt x="52705" y="130175"/>
                  <a:pt x="43815" y="130175"/>
                </a:cubicBezTo>
                <a:close/>
                <a:moveTo>
                  <a:pt x="221457" y="98425"/>
                </a:moveTo>
                <a:cubicBezTo>
                  <a:pt x="215008" y="98425"/>
                  <a:pt x="211138" y="103579"/>
                  <a:pt x="211138" y="110021"/>
                </a:cubicBezTo>
                <a:lnTo>
                  <a:pt x="211138" y="265918"/>
                </a:lnTo>
                <a:cubicBezTo>
                  <a:pt x="211138" y="271072"/>
                  <a:pt x="215008" y="276225"/>
                  <a:pt x="221457" y="276225"/>
                </a:cubicBezTo>
                <a:cubicBezTo>
                  <a:pt x="227907" y="276225"/>
                  <a:pt x="231776" y="271072"/>
                  <a:pt x="231776" y="265918"/>
                </a:cubicBezTo>
                <a:cubicBezTo>
                  <a:pt x="231776" y="265918"/>
                  <a:pt x="231776" y="265918"/>
                  <a:pt x="231776" y="110021"/>
                </a:cubicBezTo>
                <a:cubicBezTo>
                  <a:pt x="231776" y="103579"/>
                  <a:pt x="227907" y="98425"/>
                  <a:pt x="221457" y="98425"/>
                </a:cubicBezTo>
                <a:close/>
                <a:moveTo>
                  <a:pt x="80216" y="71438"/>
                </a:moveTo>
                <a:cubicBezTo>
                  <a:pt x="80216" y="71438"/>
                  <a:pt x="80216" y="71438"/>
                  <a:pt x="236768" y="71438"/>
                </a:cubicBezTo>
                <a:cubicBezTo>
                  <a:pt x="258763" y="71438"/>
                  <a:pt x="258763" y="71438"/>
                  <a:pt x="258763" y="93324"/>
                </a:cubicBezTo>
                <a:cubicBezTo>
                  <a:pt x="258763" y="93324"/>
                  <a:pt x="258763" y="93324"/>
                  <a:pt x="258763" y="274844"/>
                </a:cubicBezTo>
                <a:cubicBezTo>
                  <a:pt x="258763" y="330201"/>
                  <a:pt x="258763" y="330201"/>
                  <a:pt x="204423" y="330201"/>
                </a:cubicBezTo>
                <a:cubicBezTo>
                  <a:pt x="204423" y="330201"/>
                  <a:pt x="204423" y="330201"/>
                  <a:pt x="113856" y="330201"/>
                </a:cubicBezTo>
                <a:cubicBezTo>
                  <a:pt x="59515" y="330201"/>
                  <a:pt x="59515" y="330201"/>
                  <a:pt x="59515" y="274844"/>
                </a:cubicBezTo>
                <a:cubicBezTo>
                  <a:pt x="59515" y="274844"/>
                  <a:pt x="59515" y="274844"/>
                  <a:pt x="59515" y="267120"/>
                </a:cubicBezTo>
                <a:cubicBezTo>
                  <a:pt x="54340" y="269694"/>
                  <a:pt x="49165" y="270982"/>
                  <a:pt x="42696" y="270982"/>
                </a:cubicBezTo>
                <a:cubicBezTo>
                  <a:pt x="19407" y="270982"/>
                  <a:pt x="0" y="251671"/>
                  <a:pt x="0" y="227211"/>
                </a:cubicBezTo>
                <a:cubicBezTo>
                  <a:pt x="0" y="227211"/>
                  <a:pt x="0" y="227211"/>
                  <a:pt x="0" y="147394"/>
                </a:cubicBezTo>
                <a:cubicBezTo>
                  <a:pt x="0" y="122933"/>
                  <a:pt x="19407" y="103623"/>
                  <a:pt x="42696" y="103623"/>
                </a:cubicBezTo>
                <a:cubicBezTo>
                  <a:pt x="49165" y="103623"/>
                  <a:pt x="54340" y="104910"/>
                  <a:pt x="59515" y="107485"/>
                </a:cubicBezTo>
                <a:cubicBezTo>
                  <a:pt x="59515" y="107485"/>
                  <a:pt x="59515" y="107485"/>
                  <a:pt x="59515" y="93324"/>
                </a:cubicBezTo>
                <a:cubicBezTo>
                  <a:pt x="59515" y="71438"/>
                  <a:pt x="59515" y="71438"/>
                  <a:pt x="80216" y="71438"/>
                </a:cubicBezTo>
                <a:close/>
                <a:moveTo>
                  <a:pt x="107950" y="0"/>
                </a:moveTo>
                <a:cubicBezTo>
                  <a:pt x="107950" y="0"/>
                  <a:pt x="107950" y="0"/>
                  <a:pt x="109247" y="1290"/>
                </a:cubicBezTo>
                <a:cubicBezTo>
                  <a:pt x="110544" y="1290"/>
                  <a:pt x="111841" y="2580"/>
                  <a:pt x="113139" y="2580"/>
                </a:cubicBezTo>
                <a:cubicBezTo>
                  <a:pt x="114436" y="3870"/>
                  <a:pt x="117030" y="3870"/>
                  <a:pt x="119624" y="5160"/>
                </a:cubicBezTo>
                <a:cubicBezTo>
                  <a:pt x="120921" y="6450"/>
                  <a:pt x="123515" y="6450"/>
                  <a:pt x="126110" y="7739"/>
                </a:cubicBezTo>
                <a:cubicBezTo>
                  <a:pt x="131298" y="10319"/>
                  <a:pt x="137784" y="11609"/>
                  <a:pt x="144269" y="12899"/>
                </a:cubicBezTo>
                <a:cubicBezTo>
                  <a:pt x="144269" y="12899"/>
                  <a:pt x="144269" y="12899"/>
                  <a:pt x="145566" y="12899"/>
                </a:cubicBezTo>
                <a:cubicBezTo>
                  <a:pt x="145566" y="12899"/>
                  <a:pt x="146863" y="12899"/>
                  <a:pt x="146863" y="14189"/>
                </a:cubicBezTo>
                <a:cubicBezTo>
                  <a:pt x="146863" y="14189"/>
                  <a:pt x="146863" y="14189"/>
                  <a:pt x="148161" y="14189"/>
                </a:cubicBezTo>
                <a:cubicBezTo>
                  <a:pt x="148161" y="14189"/>
                  <a:pt x="149458" y="14189"/>
                  <a:pt x="149458" y="14189"/>
                </a:cubicBezTo>
                <a:cubicBezTo>
                  <a:pt x="149458" y="14189"/>
                  <a:pt x="150755" y="14189"/>
                  <a:pt x="152052" y="14189"/>
                </a:cubicBezTo>
                <a:cubicBezTo>
                  <a:pt x="152052" y="15478"/>
                  <a:pt x="153349" y="15478"/>
                  <a:pt x="154646" y="15478"/>
                </a:cubicBezTo>
                <a:cubicBezTo>
                  <a:pt x="154646" y="15478"/>
                  <a:pt x="154646" y="15478"/>
                  <a:pt x="155943" y="15478"/>
                </a:cubicBezTo>
                <a:cubicBezTo>
                  <a:pt x="155943" y="15478"/>
                  <a:pt x="155943" y="15478"/>
                  <a:pt x="157240" y="15478"/>
                </a:cubicBezTo>
                <a:cubicBezTo>
                  <a:pt x="157240" y="15478"/>
                  <a:pt x="157240" y="15478"/>
                  <a:pt x="158537" y="16768"/>
                </a:cubicBezTo>
                <a:cubicBezTo>
                  <a:pt x="158537" y="16768"/>
                  <a:pt x="158537" y="16768"/>
                  <a:pt x="159835" y="16768"/>
                </a:cubicBezTo>
                <a:cubicBezTo>
                  <a:pt x="161132" y="16768"/>
                  <a:pt x="161132" y="16768"/>
                  <a:pt x="162429" y="16768"/>
                </a:cubicBezTo>
                <a:cubicBezTo>
                  <a:pt x="163726" y="16768"/>
                  <a:pt x="163726" y="16768"/>
                  <a:pt x="165023" y="18058"/>
                </a:cubicBezTo>
                <a:cubicBezTo>
                  <a:pt x="165023" y="18058"/>
                  <a:pt x="165023" y="18058"/>
                  <a:pt x="166320" y="18058"/>
                </a:cubicBezTo>
                <a:cubicBezTo>
                  <a:pt x="166320" y="18058"/>
                  <a:pt x="166320" y="18058"/>
                  <a:pt x="167617" y="18058"/>
                </a:cubicBezTo>
                <a:cubicBezTo>
                  <a:pt x="167617" y="18058"/>
                  <a:pt x="167617" y="18058"/>
                  <a:pt x="168914" y="18058"/>
                </a:cubicBezTo>
                <a:cubicBezTo>
                  <a:pt x="168914" y="18058"/>
                  <a:pt x="168914" y="18058"/>
                  <a:pt x="170211" y="18058"/>
                </a:cubicBezTo>
                <a:cubicBezTo>
                  <a:pt x="172806" y="19348"/>
                  <a:pt x="174103" y="19348"/>
                  <a:pt x="176697" y="20638"/>
                </a:cubicBezTo>
                <a:cubicBezTo>
                  <a:pt x="180588" y="21928"/>
                  <a:pt x="184480" y="23218"/>
                  <a:pt x="188371" y="24507"/>
                </a:cubicBezTo>
                <a:cubicBezTo>
                  <a:pt x="190965" y="25797"/>
                  <a:pt x="192262" y="25797"/>
                  <a:pt x="193559" y="27087"/>
                </a:cubicBezTo>
                <a:cubicBezTo>
                  <a:pt x="194856" y="28377"/>
                  <a:pt x="194856" y="28377"/>
                  <a:pt x="194856" y="28377"/>
                </a:cubicBezTo>
                <a:cubicBezTo>
                  <a:pt x="196154" y="28377"/>
                  <a:pt x="196154" y="28377"/>
                  <a:pt x="196154" y="29667"/>
                </a:cubicBezTo>
                <a:cubicBezTo>
                  <a:pt x="197451" y="29667"/>
                  <a:pt x="197451" y="29667"/>
                  <a:pt x="197451" y="29667"/>
                </a:cubicBezTo>
                <a:cubicBezTo>
                  <a:pt x="198748" y="29667"/>
                  <a:pt x="198748" y="30957"/>
                  <a:pt x="198748" y="30957"/>
                </a:cubicBezTo>
                <a:cubicBezTo>
                  <a:pt x="202639" y="33536"/>
                  <a:pt x="205233" y="36116"/>
                  <a:pt x="207828" y="38696"/>
                </a:cubicBezTo>
                <a:cubicBezTo>
                  <a:pt x="210422" y="41276"/>
                  <a:pt x="211719" y="45145"/>
                  <a:pt x="213016" y="47725"/>
                </a:cubicBezTo>
                <a:cubicBezTo>
                  <a:pt x="214313" y="50305"/>
                  <a:pt x="214313" y="52884"/>
                  <a:pt x="214313" y="55464"/>
                </a:cubicBezTo>
                <a:cubicBezTo>
                  <a:pt x="214313" y="56754"/>
                  <a:pt x="214313" y="56754"/>
                  <a:pt x="214313" y="58044"/>
                </a:cubicBezTo>
                <a:cubicBezTo>
                  <a:pt x="214313" y="58044"/>
                  <a:pt x="214313" y="59334"/>
                  <a:pt x="213016" y="59334"/>
                </a:cubicBezTo>
                <a:cubicBezTo>
                  <a:pt x="213016" y="59334"/>
                  <a:pt x="213016" y="59334"/>
                  <a:pt x="213016" y="60623"/>
                </a:cubicBezTo>
                <a:cubicBezTo>
                  <a:pt x="213016" y="61913"/>
                  <a:pt x="213016" y="61913"/>
                  <a:pt x="213016" y="61913"/>
                </a:cubicBezTo>
                <a:cubicBezTo>
                  <a:pt x="213016" y="61913"/>
                  <a:pt x="213016" y="61913"/>
                  <a:pt x="211719" y="60623"/>
                </a:cubicBezTo>
                <a:cubicBezTo>
                  <a:pt x="211719" y="60623"/>
                  <a:pt x="211719" y="59334"/>
                  <a:pt x="210422" y="59334"/>
                </a:cubicBezTo>
                <a:cubicBezTo>
                  <a:pt x="210422" y="59334"/>
                  <a:pt x="210422" y="58044"/>
                  <a:pt x="209125" y="58044"/>
                </a:cubicBezTo>
                <a:cubicBezTo>
                  <a:pt x="207828" y="56754"/>
                  <a:pt x="205233" y="55464"/>
                  <a:pt x="203936" y="54174"/>
                </a:cubicBezTo>
                <a:cubicBezTo>
                  <a:pt x="201342" y="54174"/>
                  <a:pt x="200045" y="52884"/>
                  <a:pt x="197451" y="51594"/>
                </a:cubicBezTo>
                <a:cubicBezTo>
                  <a:pt x="194856" y="51594"/>
                  <a:pt x="192262" y="50305"/>
                  <a:pt x="189668" y="50305"/>
                </a:cubicBezTo>
                <a:cubicBezTo>
                  <a:pt x="188371" y="50305"/>
                  <a:pt x="188371" y="50305"/>
                  <a:pt x="187074" y="50305"/>
                </a:cubicBezTo>
                <a:cubicBezTo>
                  <a:pt x="187074" y="49015"/>
                  <a:pt x="185777" y="49015"/>
                  <a:pt x="184480" y="49015"/>
                </a:cubicBezTo>
                <a:cubicBezTo>
                  <a:pt x="183182" y="49015"/>
                  <a:pt x="181885" y="49015"/>
                  <a:pt x="180588" y="47725"/>
                </a:cubicBezTo>
                <a:cubicBezTo>
                  <a:pt x="176697" y="47725"/>
                  <a:pt x="174103" y="47725"/>
                  <a:pt x="170211" y="46435"/>
                </a:cubicBezTo>
                <a:cubicBezTo>
                  <a:pt x="168914" y="46435"/>
                  <a:pt x="166320" y="45145"/>
                  <a:pt x="165023" y="45145"/>
                </a:cubicBezTo>
                <a:cubicBezTo>
                  <a:pt x="165023" y="45145"/>
                  <a:pt x="165023" y="45145"/>
                  <a:pt x="163726" y="45145"/>
                </a:cubicBezTo>
                <a:cubicBezTo>
                  <a:pt x="163726" y="45145"/>
                  <a:pt x="163726" y="45145"/>
                  <a:pt x="162429" y="45145"/>
                </a:cubicBezTo>
                <a:cubicBezTo>
                  <a:pt x="162429" y="45145"/>
                  <a:pt x="162429" y="45145"/>
                  <a:pt x="159835" y="43855"/>
                </a:cubicBezTo>
                <a:cubicBezTo>
                  <a:pt x="159835" y="43855"/>
                  <a:pt x="159835" y="43855"/>
                  <a:pt x="158537" y="43855"/>
                </a:cubicBezTo>
                <a:cubicBezTo>
                  <a:pt x="157240" y="43855"/>
                  <a:pt x="157240" y="43855"/>
                  <a:pt x="155943" y="42565"/>
                </a:cubicBezTo>
                <a:cubicBezTo>
                  <a:pt x="154646" y="42565"/>
                  <a:pt x="153349" y="42565"/>
                  <a:pt x="152052" y="42565"/>
                </a:cubicBezTo>
                <a:cubicBezTo>
                  <a:pt x="152052" y="41276"/>
                  <a:pt x="150755" y="41276"/>
                  <a:pt x="149458" y="41276"/>
                </a:cubicBezTo>
                <a:cubicBezTo>
                  <a:pt x="148161" y="41276"/>
                  <a:pt x="146863" y="39986"/>
                  <a:pt x="146863" y="39986"/>
                </a:cubicBezTo>
                <a:cubicBezTo>
                  <a:pt x="142972" y="38696"/>
                  <a:pt x="139081" y="36116"/>
                  <a:pt x="135189" y="34826"/>
                </a:cubicBezTo>
                <a:cubicBezTo>
                  <a:pt x="131298" y="32247"/>
                  <a:pt x="128704" y="29667"/>
                  <a:pt x="124813" y="27087"/>
                </a:cubicBezTo>
                <a:cubicBezTo>
                  <a:pt x="122218" y="24507"/>
                  <a:pt x="119624" y="21928"/>
                  <a:pt x="117030" y="19348"/>
                </a:cubicBezTo>
                <a:cubicBezTo>
                  <a:pt x="115733" y="16768"/>
                  <a:pt x="113139" y="15478"/>
                  <a:pt x="111841" y="12899"/>
                </a:cubicBezTo>
                <a:cubicBezTo>
                  <a:pt x="110544" y="10319"/>
                  <a:pt x="110544" y="7739"/>
                  <a:pt x="109247" y="6450"/>
                </a:cubicBezTo>
                <a:cubicBezTo>
                  <a:pt x="109247" y="3870"/>
                  <a:pt x="107950" y="2580"/>
                  <a:pt x="107950" y="1290"/>
                </a:cubicBezTo>
                <a:cubicBezTo>
                  <a:pt x="107950" y="1290"/>
                  <a:pt x="107950" y="0"/>
                  <a:pt x="107950" y="0"/>
                </a:cubicBezTo>
                <a:close/>
                <a:moveTo>
                  <a:pt x="9525" y="0"/>
                </a:moveTo>
                <a:cubicBezTo>
                  <a:pt x="9525" y="0"/>
                  <a:pt x="9525" y="0"/>
                  <a:pt x="10822" y="1290"/>
                </a:cubicBezTo>
                <a:cubicBezTo>
                  <a:pt x="12119" y="1290"/>
                  <a:pt x="12119" y="2580"/>
                  <a:pt x="14713" y="2580"/>
                </a:cubicBezTo>
                <a:cubicBezTo>
                  <a:pt x="16010" y="3870"/>
                  <a:pt x="17308" y="3870"/>
                  <a:pt x="19902" y="5160"/>
                </a:cubicBezTo>
                <a:cubicBezTo>
                  <a:pt x="22496" y="6450"/>
                  <a:pt x="25090" y="6450"/>
                  <a:pt x="27684" y="7739"/>
                </a:cubicBezTo>
                <a:cubicBezTo>
                  <a:pt x="32873" y="9029"/>
                  <a:pt x="39358" y="11609"/>
                  <a:pt x="45844" y="12899"/>
                </a:cubicBezTo>
                <a:cubicBezTo>
                  <a:pt x="45844" y="12899"/>
                  <a:pt x="45844" y="12899"/>
                  <a:pt x="47141" y="12899"/>
                </a:cubicBezTo>
                <a:cubicBezTo>
                  <a:pt x="47141" y="12899"/>
                  <a:pt x="47141" y="12899"/>
                  <a:pt x="48438" y="12899"/>
                </a:cubicBezTo>
                <a:cubicBezTo>
                  <a:pt x="48438" y="12899"/>
                  <a:pt x="48438" y="12899"/>
                  <a:pt x="48438" y="14189"/>
                </a:cubicBezTo>
                <a:cubicBezTo>
                  <a:pt x="49735" y="14189"/>
                  <a:pt x="49735" y="14189"/>
                  <a:pt x="49735" y="14189"/>
                </a:cubicBezTo>
                <a:cubicBezTo>
                  <a:pt x="51032" y="14189"/>
                  <a:pt x="52329" y="14189"/>
                  <a:pt x="52329" y="14189"/>
                </a:cubicBezTo>
                <a:cubicBezTo>
                  <a:pt x="53627" y="15478"/>
                  <a:pt x="54924" y="15478"/>
                  <a:pt x="54924" y="15478"/>
                </a:cubicBezTo>
                <a:cubicBezTo>
                  <a:pt x="56221" y="15478"/>
                  <a:pt x="56221" y="15478"/>
                  <a:pt x="56221" y="15478"/>
                </a:cubicBezTo>
                <a:cubicBezTo>
                  <a:pt x="57518" y="15478"/>
                  <a:pt x="57518" y="15478"/>
                  <a:pt x="57518" y="15478"/>
                </a:cubicBezTo>
                <a:cubicBezTo>
                  <a:pt x="58815" y="15478"/>
                  <a:pt x="58815" y="15478"/>
                  <a:pt x="58815" y="15478"/>
                </a:cubicBezTo>
                <a:cubicBezTo>
                  <a:pt x="60112" y="16768"/>
                  <a:pt x="60112" y="16768"/>
                  <a:pt x="60112" y="16768"/>
                </a:cubicBezTo>
                <a:cubicBezTo>
                  <a:pt x="61409" y="16768"/>
                  <a:pt x="62706" y="16768"/>
                  <a:pt x="62706" y="16768"/>
                </a:cubicBezTo>
                <a:cubicBezTo>
                  <a:pt x="64003" y="16768"/>
                  <a:pt x="65301" y="16768"/>
                  <a:pt x="65301" y="18058"/>
                </a:cubicBezTo>
                <a:cubicBezTo>
                  <a:pt x="65301" y="18058"/>
                  <a:pt x="65301" y="18058"/>
                  <a:pt x="66598" y="18058"/>
                </a:cubicBezTo>
                <a:cubicBezTo>
                  <a:pt x="66598" y="18058"/>
                  <a:pt x="66598" y="18058"/>
                  <a:pt x="69192" y="18058"/>
                </a:cubicBezTo>
                <a:cubicBezTo>
                  <a:pt x="69192" y="18058"/>
                  <a:pt x="69192" y="18058"/>
                  <a:pt x="70489" y="18058"/>
                </a:cubicBezTo>
                <a:cubicBezTo>
                  <a:pt x="70489" y="18058"/>
                  <a:pt x="70489" y="18058"/>
                  <a:pt x="71786" y="18058"/>
                </a:cubicBezTo>
                <a:cubicBezTo>
                  <a:pt x="73083" y="19348"/>
                  <a:pt x="75677" y="19348"/>
                  <a:pt x="76975" y="20638"/>
                </a:cubicBezTo>
                <a:cubicBezTo>
                  <a:pt x="82163" y="20638"/>
                  <a:pt x="86054" y="23218"/>
                  <a:pt x="89946" y="24507"/>
                </a:cubicBezTo>
                <a:cubicBezTo>
                  <a:pt x="91243" y="25797"/>
                  <a:pt x="93837" y="25797"/>
                  <a:pt x="95134" y="27087"/>
                </a:cubicBezTo>
                <a:cubicBezTo>
                  <a:pt x="95134" y="27087"/>
                  <a:pt x="96431" y="28377"/>
                  <a:pt x="96431" y="28377"/>
                </a:cubicBezTo>
                <a:cubicBezTo>
                  <a:pt x="96431" y="28377"/>
                  <a:pt x="97728" y="28377"/>
                  <a:pt x="97728" y="28377"/>
                </a:cubicBezTo>
                <a:cubicBezTo>
                  <a:pt x="97728" y="29667"/>
                  <a:pt x="99025" y="29667"/>
                  <a:pt x="99025" y="29667"/>
                </a:cubicBezTo>
                <a:cubicBezTo>
                  <a:pt x="99025" y="29667"/>
                  <a:pt x="100323" y="30957"/>
                  <a:pt x="100323" y="30957"/>
                </a:cubicBezTo>
                <a:cubicBezTo>
                  <a:pt x="102917" y="33536"/>
                  <a:pt x="106808" y="36116"/>
                  <a:pt x="108105" y="38696"/>
                </a:cubicBezTo>
                <a:cubicBezTo>
                  <a:pt x="110700" y="41276"/>
                  <a:pt x="111997" y="45145"/>
                  <a:pt x="113294" y="47725"/>
                </a:cubicBezTo>
                <a:cubicBezTo>
                  <a:pt x="114591" y="50305"/>
                  <a:pt x="115888" y="52884"/>
                  <a:pt x="114591" y="55464"/>
                </a:cubicBezTo>
                <a:cubicBezTo>
                  <a:pt x="114591" y="56754"/>
                  <a:pt x="114591" y="56754"/>
                  <a:pt x="114591" y="58044"/>
                </a:cubicBezTo>
                <a:cubicBezTo>
                  <a:pt x="114591" y="58044"/>
                  <a:pt x="114591" y="59334"/>
                  <a:pt x="114591" y="59334"/>
                </a:cubicBezTo>
                <a:cubicBezTo>
                  <a:pt x="114591" y="59334"/>
                  <a:pt x="114591" y="59334"/>
                  <a:pt x="114591" y="60623"/>
                </a:cubicBezTo>
                <a:cubicBezTo>
                  <a:pt x="114591" y="60623"/>
                  <a:pt x="113294" y="60623"/>
                  <a:pt x="113294" y="61913"/>
                </a:cubicBezTo>
                <a:cubicBezTo>
                  <a:pt x="113294" y="60623"/>
                  <a:pt x="113294" y="60623"/>
                  <a:pt x="111997" y="60623"/>
                </a:cubicBezTo>
                <a:cubicBezTo>
                  <a:pt x="111997" y="60623"/>
                  <a:pt x="111997" y="59334"/>
                  <a:pt x="111997" y="59334"/>
                </a:cubicBezTo>
                <a:cubicBezTo>
                  <a:pt x="110700" y="59334"/>
                  <a:pt x="110700" y="58044"/>
                  <a:pt x="110700" y="58044"/>
                </a:cubicBezTo>
                <a:cubicBezTo>
                  <a:pt x="110700" y="58044"/>
                  <a:pt x="110700" y="58044"/>
                  <a:pt x="109403" y="58044"/>
                </a:cubicBezTo>
                <a:cubicBezTo>
                  <a:pt x="108105" y="56754"/>
                  <a:pt x="106808" y="55464"/>
                  <a:pt x="104214" y="54174"/>
                </a:cubicBezTo>
                <a:cubicBezTo>
                  <a:pt x="102917" y="54174"/>
                  <a:pt x="100323" y="52884"/>
                  <a:pt x="97728" y="51594"/>
                </a:cubicBezTo>
                <a:cubicBezTo>
                  <a:pt x="96431" y="51594"/>
                  <a:pt x="93837" y="50305"/>
                  <a:pt x="89946" y="50305"/>
                </a:cubicBezTo>
                <a:cubicBezTo>
                  <a:pt x="89946" y="50305"/>
                  <a:pt x="88649" y="50305"/>
                  <a:pt x="88649" y="50305"/>
                </a:cubicBezTo>
                <a:cubicBezTo>
                  <a:pt x="87351" y="49015"/>
                  <a:pt x="87351" y="49015"/>
                  <a:pt x="86054" y="49015"/>
                </a:cubicBezTo>
                <a:cubicBezTo>
                  <a:pt x="84757" y="49015"/>
                  <a:pt x="83460" y="49015"/>
                  <a:pt x="80866" y="47725"/>
                </a:cubicBezTo>
                <a:cubicBezTo>
                  <a:pt x="78272" y="47725"/>
                  <a:pt x="74380" y="47725"/>
                  <a:pt x="71786" y="46435"/>
                </a:cubicBezTo>
                <a:cubicBezTo>
                  <a:pt x="69192" y="46435"/>
                  <a:pt x="67895" y="45145"/>
                  <a:pt x="66598" y="45145"/>
                </a:cubicBezTo>
                <a:cubicBezTo>
                  <a:pt x="66598" y="45145"/>
                  <a:pt x="66598" y="45145"/>
                  <a:pt x="65301" y="45145"/>
                </a:cubicBezTo>
                <a:cubicBezTo>
                  <a:pt x="65301" y="45145"/>
                  <a:pt x="65301" y="45145"/>
                  <a:pt x="64003" y="45145"/>
                </a:cubicBezTo>
                <a:cubicBezTo>
                  <a:pt x="64003" y="45145"/>
                  <a:pt x="64003" y="45145"/>
                  <a:pt x="62706" y="45145"/>
                </a:cubicBezTo>
                <a:cubicBezTo>
                  <a:pt x="62706" y="45145"/>
                  <a:pt x="62706" y="45145"/>
                  <a:pt x="61409" y="43855"/>
                </a:cubicBezTo>
                <a:cubicBezTo>
                  <a:pt x="61409" y="43855"/>
                  <a:pt x="61409" y="43855"/>
                  <a:pt x="60112" y="43855"/>
                </a:cubicBezTo>
                <a:cubicBezTo>
                  <a:pt x="58815" y="43855"/>
                  <a:pt x="57518" y="43855"/>
                  <a:pt x="56221" y="42565"/>
                </a:cubicBezTo>
                <a:cubicBezTo>
                  <a:pt x="56221" y="42565"/>
                  <a:pt x="54924" y="42565"/>
                  <a:pt x="53627" y="42565"/>
                </a:cubicBezTo>
                <a:cubicBezTo>
                  <a:pt x="52329" y="41276"/>
                  <a:pt x="51032" y="41276"/>
                  <a:pt x="51032" y="41276"/>
                </a:cubicBezTo>
                <a:cubicBezTo>
                  <a:pt x="49735" y="41276"/>
                  <a:pt x="48438" y="39986"/>
                  <a:pt x="47141" y="39986"/>
                </a:cubicBezTo>
                <a:cubicBezTo>
                  <a:pt x="43250" y="38696"/>
                  <a:pt x="39358" y="36116"/>
                  <a:pt x="36764" y="34826"/>
                </a:cubicBezTo>
                <a:cubicBezTo>
                  <a:pt x="32873" y="32247"/>
                  <a:pt x="28982" y="29667"/>
                  <a:pt x="26387" y="27087"/>
                </a:cubicBezTo>
                <a:cubicBezTo>
                  <a:pt x="23793" y="24507"/>
                  <a:pt x="21199" y="21928"/>
                  <a:pt x="18605" y="19348"/>
                </a:cubicBezTo>
                <a:cubicBezTo>
                  <a:pt x="16010" y="18058"/>
                  <a:pt x="14713" y="15478"/>
                  <a:pt x="13416" y="12899"/>
                </a:cubicBezTo>
                <a:cubicBezTo>
                  <a:pt x="12119" y="10319"/>
                  <a:pt x="10822" y="7739"/>
                  <a:pt x="10822" y="6450"/>
                </a:cubicBezTo>
                <a:cubicBezTo>
                  <a:pt x="9525" y="3870"/>
                  <a:pt x="9525" y="2580"/>
                  <a:pt x="9525" y="1290"/>
                </a:cubicBezTo>
                <a:cubicBezTo>
                  <a:pt x="9525" y="0"/>
                  <a:pt x="9525" y="0"/>
                  <a:pt x="9525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297520" y="2397336"/>
            <a:ext cx="345902" cy="435959"/>
          </a:xfrm>
          <a:custGeom>
            <a:avLst/>
            <a:gdLst/>
            <a:ahLst/>
            <a:cxnLst/>
            <a:rect l="l" t="t" r="r" b="b"/>
            <a:pathLst>
              <a:path w="268288" h="338138">
                <a:moveTo>
                  <a:pt x="179388" y="166688"/>
                </a:moveTo>
                <a:cubicBezTo>
                  <a:pt x="192617" y="166688"/>
                  <a:pt x="203200" y="177246"/>
                  <a:pt x="203200" y="190443"/>
                </a:cubicBezTo>
                <a:cubicBezTo>
                  <a:pt x="203200" y="252471"/>
                  <a:pt x="203200" y="252471"/>
                  <a:pt x="203200" y="252471"/>
                </a:cubicBezTo>
                <a:cubicBezTo>
                  <a:pt x="203200" y="265668"/>
                  <a:pt x="192617" y="276226"/>
                  <a:pt x="179388" y="276226"/>
                </a:cubicBezTo>
                <a:cubicBezTo>
                  <a:pt x="166158" y="276226"/>
                  <a:pt x="155575" y="265668"/>
                  <a:pt x="155575" y="252471"/>
                </a:cubicBezTo>
                <a:cubicBezTo>
                  <a:pt x="155575" y="190443"/>
                  <a:pt x="155575" y="190443"/>
                  <a:pt x="155575" y="190443"/>
                </a:cubicBezTo>
                <a:cubicBezTo>
                  <a:pt x="155575" y="177246"/>
                  <a:pt x="166158" y="166688"/>
                  <a:pt x="179388" y="166688"/>
                </a:cubicBezTo>
                <a:close/>
                <a:moveTo>
                  <a:pt x="179388" y="150813"/>
                </a:moveTo>
                <a:cubicBezTo>
                  <a:pt x="158221" y="150813"/>
                  <a:pt x="139700" y="169299"/>
                  <a:pt x="139700" y="190427"/>
                </a:cubicBezTo>
                <a:cubicBezTo>
                  <a:pt x="139700" y="252488"/>
                  <a:pt x="139700" y="252488"/>
                  <a:pt x="139700" y="252488"/>
                </a:cubicBezTo>
                <a:cubicBezTo>
                  <a:pt x="139700" y="273615"/>
                  <a:pt x="158221" y="292101"/>
                  <a:pt x="179388" y="292101"/>
                </a:cubicBezTo>
                <a:cubicBezTo>
                  <a:pt x="201877" y="292101"/>
                  <a:pt x="219075" y="273615"/>
                  <a:pt x="219075" y="252488"/>
                </a:cubicBezTo>
                <a:lnTo>
                  <a:pt x="219075" y="190427"/>
                </a:lnTo>
                <a:cubicBezTo>
                  <a:pt x="219075" y="169299"/>
                  <a:pt x="201877" y="150813"/>
                  <a:pt x="179388" y="150813"/>
                </a:cubicBezTo>
                <a:close/>
                <a:moveTo>
                  <a:pt x="57120" y="150813"/>
                </a:moveTo>
                <a:cubicBezTo>
                  <a:pt x="51848" y="150813"/>
                  <a:pt x="49212" y="154759"/>
                  <a:pt x="49212" y="158705"/>
                </a:cubicBezTo>
                <a:cubicBezTo>
                  <a:pt x="49212" y="163967"/>
                  <a:pt x="51848" y="166597"/>
                  <a:pt x="57120" y="166597"/>
                </a:cubicBezTo>
                <a:cubicBezTo>
                  <a:pt x="80842" y="166597"/>
                  <a:pt x="80842" y="166597"/>
                  <a:pt x="80842" y="166597"/>
                </a:cubicBezTo>
                <a:cubicBezTo>
                  <a:pt x="92704" y="166597"/>
                  <a:pt x="103247" y="177120"/>
                  <a:pt x="103247" y="188959"/>
                </a:cubicBezTo>
                <a:cubicBezTo>
                  <a:pt x="103247" y="190274"/>
                  <a:pt x="103247" y="190274"/>
                  <a:pt x="103247" y="190274"/>
                </a:cubicBezTo>
                <a:cubicBezTo>
                  <a:pt x="103247" y="202112"/>
                  <a:pt x="92704" y="212635"/>
                  <a:pt x="80842" y="212635"/>
                </a:cubicBezTo>
                <a:cubicBezTo>
                  <a:pt x="57120" y="212635"/>
                  <a:pt x="57120" y="212635"/>
                  <a:pt x="57120" y="212635"/>
                </a:cubicBezTo>
                <a:cubicBezTo>
                  <a:pt x="51848" y="212635"/>
                  <a:pt x="49212" y="215266"/>
                  <a:pt x="49212" y="220527"/>
                </a:cubicBezTo>
                <a:cubicBezTo>
                  <a:pt x="49212" y="224473"/>
                  <a:pt x="51848" y="228419"/>
                  <a:pt x="57120" y="228419"/>
                </a:cubicBezTo>
                <a:cubicBezTo>
                  <a:pt x="80842" y="228419"/>
                  <a:pt x="80842" y="228419"/>
                  <a:pt x="80842" y="228419"/>
                </a:cubicBezTo>
                <a:cubicBezTo>
                  <a:pt x="92704" y="228419"/>
                  <a:pt x="103247" y="237627"/>
                  <a:pt x="103247" y="250781"/>
                </a:cubicBezTo>
                <a:cubicBezTo>
                  <a:pt x="103247" y="263934"/>
                  <a:pt x="92704" y="273142"/>
                  <a:pt x="80842" y="273142"/>
                </a:cubicBezTo>
                <a:cubicBezTo>
                  <a:pt x="57120" y="273142"/>
                  <a:pt x="57120" y="273142"/>
                  <a:pt x="57120" y="273142"/>
                </a:cubicBezTo>
                <a:cubicBezTo>
                  <a:pt x="51848" y="273142"/>
                  <a:pt x="49212" y="277088"/>
                  <a:pt x="49212" y="281034"/>
                </a:cubicBezTo>
                <a:cubicBezTo>
                  <a:pt x="49212" y="284980"/>
                  <a:pt x="51848" y="288926"/>
                  <a:pt x="57120" y="288926"/>
                </a:cubicBezTo>
                <a:cubicBezTo>
                  <a:pt x="80842" y="288926"/>
                  <a:pt x="80842" y="288926"/>
                  <a:pt x="80842" y="288926"/>
                </a:cubicBezTo>
                <a:cubicBezTo>
                  <a:pt x="101929" y="288926"/>
                  <a:pt x="119062" y="271826"/>
                  <a:pt x="119062" y="250781"/>
                </a:cubicBezTo>
                <a:cubicBezTo>
                  <a:pt x="119062" y="237627"/>
                  <a:pt x="112473" y="227104"/>
                  <a:pt x="103247" y="220527"/>
                </a:cubicBezTo>
                <a:cubicBezTo>
                  <a:pt x="112473" y="212635"/>
                  <a:pt x="119062" y="202112"/>
                  <a:pt x="119062" y="190274"/>
                </a:cubicBezTo>
                <a:lnTo>
                  <a:pt x="119062" y="188959"/>
                </a:lnTo>
                <a:cubicBezTo>
                  <a:pt x="119062" y="167913"/>
                  <a:pt x="101929" y="150813"/>
                  <a:pt x="80842" y="150813"/>
                </a:cubicBezTo>
                <a:cubicBezTo>
                  <a:pt x="57120" y="150813"/>
                  <a:pt x="57120" y="150813"/>
                  <a:pt x="57120" y="150813"/>
                </a:cubicBezTo>
                <a:close/>
                <a:moveTo>
                  <a:pt x="46099" y="47625"/>
                </a:moveTo>
                <a:cubicBezTo>
                  <a:pt x="29016" y="47625"/>
                  <a:pt x="15875" y="62294"/>
                  <a:pt x="15875" y="79629"/>
                </a:cubicBezTo>
                <a:cubicBezTo>
                  <a:pt x="15875" y="114300"/>
                  <a:pt x="15875" y="114300"/>
                  <a:pt x="15875" y="114300"/>
                </a:cubicBezTo>
                <a:cubicBezTo>
                  <a:pt x="252413" y="114300"/>
                  <a:pt x="252413" y="114300"/>
                  <a:pt x="252413" y="114300"/>
                </a:cubicBezTo>
                <a:lnTo>
                  <a:pt x="252413" y="79629"/>
                </a:lnTo>
                <a:cubicBezTo>
                  <a:pt x="252413" y="62294"/>
                  <a:pt x="239272" y="47625"/>
                  <a:pt x="222189" y="47625"/>
                </a:cubicBezTo>
                <a:cubicBezTo>
                  <a:pt x="210362" y="47625"/>
                  <a:pt x="210362" y="47625"/>
                  <a:pt x="210362" y="47625"/>
                </a:cubicBezTo>
                <a:cubicBezTo>
                  <a:pt x="210362" y="71628"/>
                  <a:pt x="210362" y="71628"/>
                  <a:pt x="210362" y="71628"/>
                </a:cubicBezTo>
                <a:cubicBezTo>
                  <a:pt x="210362" y="75629"/>
                  <a:pt x="206420" y="79629"/>
                  <a:pt x="202477" y="79629"/>
                </a:cubicBezTo>
                <a:cubicBezTo>
                  <a:pt x="197221" y="79629"/>
                  <a:pt x="194593" y="75629"/>
                  <a:pt x="194593" y="71628"/>
                </a:cubicBezTo>
                <a:cubicBezTo>
                  <a:pt x="194593" y="47625"/>
                  <a:pt x="194593" y="47625"/>
                  <a:pt x="194593" y="47625"/>
                </a:cubicBezTo>
                <a:cubicBezTo>
                  <a:pt x="73696" y="47625"/>
                  <a:pt x="73696" y="47625"/>
                  <a:pt x="73696" y="47625"/>
                </a:cubicBezTo>
                <a:cubicBezTo>
                  <a:pt x="73696" y="71628"/>
                  <a:pt x="73696" y="71628"/>
                  <a:pt x="73696" y="71628"/>
                </a:cubicBezTo>
                <a:cubicBezTo>
                  <a:pt x="73696" y="75629"/>
                  <a:pt x="71067" y="79629"/>
                  <a:pt x="65811" y="79629"/>
                </a:cubicBezTo>
                <a:cubicBezTo>
                  <a:pt x="61869" y="79629"/>
                  <a:pt x="57926" y="75629"/>
                  <a:pt x="57926" y="71628"/>
                </a:cubicBezTo>
                <a:cubicBezTo>
                  <a:pt x="57926" y="47625"/>
                  <a:pt x="57926" y="47625"/>
                  <a:pt x="57926" y="47625"/>
                </a:cubicBezTo>
                <a:cubicBezTo>
                  <a:pt x="46099" y="47625"/>
                  <a:pt x="46099" y="47625"/>
                  <a:pt x="46099" y="47625"/>
                </a:cubicBezTo>
                <a:close/>
                <a:moveTo>
                  <a:pt x="65757" y="0"/>
                </a:moveTo>
                <a:cubicBezTo>
                  <a:pt x="71018" y="0"/>
                  <a:pt x="73648" y="3962"/>
                  <a:pt x="73648" y="7925"/>
                </a:cubicBezTo>
                <a:cubicBezTo>
                  <a:pt x="73648" y="31700"/>
                  <a:pt x="73648" y="31700"/>
                  <a:pt x="73648" y="31700"/>
                </a:cubicBezTo>
                <a:cubicBezTo>
                  <a:pt x="194640" y="31700"/>
                  <a:pt x="194640" y="31700"/>
                  <a:pt x="194640" y="31700"/>
                </a:cubicBezTo>
                <a:cubicBezTo>
                  <a:pt x="194640" y="7925"/>
                  <a:pt x="194640" y="7925"/>
                  <a:pt x="194640" y="7925"/>
                </a:cubicBezTo>
                <a:cubicBezTo>
                  <a:pt x="194640" y="3962"/>
                  <a:pt x="197271" y="0"/>
                  <a:pt x="202531" y="0"/>
                </a:cubicBezTo>
                <a:cubicBezTo>
                  <a:pt x="206477" y="0"/>
                  <a:pt x="210422" y="3962"/>
                  <a:pt x="210422" y="7925"/>
                </a:cubicBezTo>
                <a:cubicBezTo>
                  <a:pt x="210422" y="31700"/>
                  <a:pt x="210422" y="31700"/>
                  <a:pt x="210422" y="31700"/>
                </a:cubicBezTo>
                <a:cubicBezTo>
                  <a:pt x="222258" y="31700"/>
                  <a:pt x="222258" y="31700"/>
                  <a:pt x="222258" y="31700"/>
                </a:cubicBezTo>
                <a:cubicBezTo>
                  <a:pt x="247246" y="31700"/>
                  <a:pt x="268288" y="52834"/>
                  <a:pt x="268288" y="79251"/>
                </a:cubicBezTo>
                <a:cubicBezTo>
                  <a:pt x="268288" y="290587"/>
                  <a:pt x="268288" y="290587"/>
                  <a:pt x="268288" y="290587"/>
                </a:cubicBezTo>
                <a:cubicBezTo>
                  <a:pt x="268288" y="317005"/>
                  <a:pt x="247246" y="338138"/>
                  <a:pt x="222258" y="338138"/>
                </a:cubicBezTo>
                <a:cubicBezTo>
                  <a:pt x="46030" y="338138"/>
                  <a:pt x="46030" y="338138"/>
                  <a:pt x="46030" y="338138"/>
                </a:cubicBezTo>
                <a:cubicBezTo>
                  <a:pt x="21042" y="338138"/>
                  <a:pt x="0" y="317005"/>
                  <a:pt x="0" y="290587"/>
                </a:cubicBezTo>
                <a:cubicBezTo>
                  <a:pt x="0" y="79251"/>
                  <a:pt x="0" y="79251"/>
                  <a:pt x="0" y="79251"/>
                </a:cubicBezTo>
                <a:cubicBezTo>
                  <a:pt x="0" y="52834"/>
                  <a:pt x="21042" y="31700"/>
                  <a:pt x="46030" y="31700"/>
                </a:cubicBezTo>
                <a:cubicBezTo>
                  <a:pt x="57866" y="31700"/>
                  <a:pt x="57866" y="31700"/>
                  <a:pt x="57866" y="31700"/>
                </a:cubicBezTo>
                <a:cubicBezTo>
                  <a:pt x="57866" y="7925"/>
                  <a:pt x="57866" y="7925"/>
                  <a:pt x="57866" y="7925"/>
                </a:cubicBezTo>
                <a:cubicBezTo>
                  <a:pt x="57866" y="3962"/>
                  <a:pt x="61812" y="0"/>
                  <a:pt x="65757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002641" y="2503516"/>
            <a:ext cx="343317" cy="343502"/>
          </a:xfrm>
          <a:custGeom>
            <a:avLst/>
            <a:gdLst/>
            <a:ahLst/>
            <a:cxnLst/>
            <a:rect l="l" t="t" r="r" b="b"/>
            <a:pathLst>
              <a:path w="328437" h="328613">
                <a:moveTo>
                  <a:pt x="94638" y="163513"/>
                </a:moveTo>
                <a:cubicBezTo>
                  <a:pt x="94638" y="163513"/>
                  <a:pt x="95937" y="163513"/>
                  <a:pt x="95937" y="163513"/>
                </a:cubicBezTo>
                <a:cubicBezTo>
                  <a:pt x="95937" y="163513"/>
                  <a:pt x="95937" y="163513"/>
                  <a:pt x="134903" y="169971"/>
                </a:cubicBezTo>
                <a:cubicBezTo>
                  <a:pt x="136202" y="169971"/>
                  <a:pt x="136202" y="169971"/>
                  <a:pt x="136202" y="171262"/>
                </a:cubicBezTo>
                <a:cubicBezTo>
                  <a:pt x="136202" y="171262"/>
                  <a:pt x="136202" y="171262"/>
                  <a:pt x="136202" y="238422"/>
                </a:cubicBezTo>
                <a:cubicBezTo>
                  <a:pt x="136202" y="238422"/>
                  <a:pt x="136202" y="239713"/>
                  <a:pt x="136202" y="239713"/>
                </a:cubicBezTo>
                <a:cubicBezTo>
                  <a:pt x="134903" y="239713"/>
                  <a:pt x="134903" y="239713"/>
                  <a:pt x="134903" y="239713"/>
                </a:cubicBezTo>
                <a:cubicBezTo>
                  <a:pt x="134903" y="239713"/>
                  <a:pt x="134903" y="239713"/>
                  <a:pt x="133604" y="239713"/>
                </a:cubicBezTo>
                <a:cubicBezTo>
                  <a:pt x="133604" y="239713"/>
                  <a:pt x="133604" y="239713"/>
                  <a:pt x="94638" y="226798"/>
                </a:cubicBezTo>
                <a:cubicBezTo>
                  <a:pt x="94638" y="226798"/>
                  <a:pt x="93339" y="225506"/>
                  <a:pt x="93339" y="225506"/>
                </a:cubicBezTo>
                <a:cubicBezTo>
                  <a:pt x="93339" y="225506"/>
                  <a:pt x="93339" y="225506"/>
                  <a:pt x="93339" y="166096"/>
                </a:cubicBezTo>
                <a:cubicBezTo>
                  <a:pt x="93339" y="164805"/>
                  <a:pt x="94638" y="164805"/>
                  <a:pt x="94638" y="163513"/>
                </a:cubicBezTo>
                <a:close/>
                <a:moveTo>
                  <a:pt x="45714" y="157163"/>
                </a:moveTo>
                <a:cubicBezTo>
                  <a:pt x="46971" y="157163"/>
                  <a:pt x="46971" y="157163"/>
                  <a:pt x="48227" y="157163"/>
                </a:cubicBezTo>
                <a:cubicBezTo>
                  <a:pt x="48227" y="157163"/>
                  <a:pt x="48227" y="157163"/>
                  <a:pt x="74620" y="161051"/>
                </a:cubicBezTo>
                <a:cubicBezTo>
                  <a:pt x="74620" y="161051"/>
                  <a:pt x="75877" y="161051"/>
                  <a:pt x="75877" y="162347"/>
                </a:cubicBezTo>
                <a:cubicBezTo>
                  <a:pt x="75877" y="162347"/>
                  <a:pt x="75877" y="162347"/>
                  <a:pt x="75877" y="218071"/>
                </a:cubicBezTo>
                <a:cubicBezTo>
                  <a:pt x="75877" y="219367"/>
                  <a:pt x="75877" y="219367"/>
                  <a:pt x="74620" y="219367"/>
                </a:cubicBezTo>
                <a:cubicBezTo>
                  <a:pt x="74620" y="220663"/>
                  <a:pt x="74620" y="220663"/>
                  <a:pt x="73363" y="220663"/>
                </a:cubicBezTo>
                <a:cubicBezTo>
                  <a:pt x="73363" y="220663"/>
                  <a:pt x="73363" y="220663"/>
                  <a:pt x="46971" y="211592"/>
                </a:cubicBezTo>
                <a:cubicBezTo>
                  <a:pt x="45714" y="210296"/>
                  <a:pt x="45714" y="210296"/>
                  <a:pt x="45714" y="209000"/>
                </a:cubicBezTo>
                <a:cubicBezTo>
                  <a:pt x="45714" y="209000"/>
                  <a:pt x="45714" y="209000"/>
                  <a:pt x="45714" y="158459"/>
                </a:cubicBezTo>
                <a:cubicBezTo>
                  <a:pt x="45714" y="158459"/>
                  <a:pt x="45714" y="157163"/>
                  <a:pt x="45714" y="157163"/>
                </a:cubicBezTo>
                <a:close/>
                <a:moveTo>
                  <a:pt x="34601" y="131763"/>
                </a:moveTo>
                <a:lnTo>
                  <a:pt x="34601" y="246063"/>
                </a:lnTo>
                <a:lnTo>
                  <a:pt x="161601" y="311151"/>
                </a:lnTo>
                <a:lnTo>
                  <a:pt x="161601" y="133351"/>
                </a:lnTo>
                <a:lnTo>
                  <a:pt x="134613" y="133351"/>
                </a:lnTo>
                <a:close/>
                <a:moveTo>
                  <a:pt x="235241" y="15875"/>
                </a:moveTo>
                <a:cubicBezTo>
                  <a:pt x="235241" y="15875"/>
                  <a:pt x="235241" y="15875"/>
                  <a:pt x="147314" y="120775"/>
                </a:cubicBezTo>
                <a:cubicBezTo>
                  <a:pt x="147314" y="120775"/>
                  <a:pt x="147314" y="120775"/>
                  <a:pt x="165417" y="120775"/>
                </a:cubicBezTo>
                <a:cubicBezTo>
                  <a:pt x="169296" y="120775"/>
                  <a:pt x="171882" y="123365"/>
                  <a:pt x="171882" y="127251"/>
                </a:cubicBezTo>
                <a:cubicBezTo>
                  <a:pt x="171882" y="127251"/>
                  <a:pt x="171882" y="127251"/>
                  <a:pt x="171882" y="311150"/>
                </a:cubicBezTo>
                <a:cubicBezTo>
                  <a:pt x="171882" y="311150"/>
                  <a:pt x="171882" y="311150"/>
                  <a:pt x="222311" y="285249"/>
                </a:cubicBezTo>
                <a:cubicBezTo>
                  <a:pt x="222311" y="285249"/>
                  <a:pt x="222311" y="285249"/>
                  <a:pt x="222311" y="157037"/>
                </a:cubicBezTo>
                <a:cubicBezTo>
                  <a:pt x="222311" y="155742"/>
                  <a:pt x="222311" y="154447"/>
                  <a:pt x="223604" y="154447"/>
                </a:cubicBezTo>
                <a:cubicBezTo>
                  <a:pt x="223604" y="154447"/>
                  <a:pt x="223604" y="154447"/>
                  <a:pt x="257223" y="151857"/>
                </a:cubicBezTo>
                <a:cubicBezTo>
                  <a:pt x="257223" y="151857"/>
                  <a:pt x="258516" y="151857"/>
                  <a:pt x="258516" y="151857"/>
                </a:cubicBezTo>
                <a:cubicBezTo>
                  <a:pt x="258516" y="153152"/>
                  <a:pt x="259809" y="153152"/>
                  <a:pt x="259809" y="153152"/>
                </a:cubicBezTo>
                <a:cubicBezTo>
                  <a:pt x="259809" y="153152"/>
                  <a:pt x="259809" y="153152"/>
                  <a:pt x="259809" y="265823"/>
                </a:cubicBezTo>
                <a:cubicBezTo>
                  <a:pt x="259809" y="265823"/>
                  <a:pt x="259809" y="265823"/>
                  <a:pt x="293429" y="247692"/>
                </a:cubicBezTo>
                <a:cubicBezTo>
                  <a:pt x="293429" y="247692"/>
                  <a:pt x="293429" y="247692"/>
                  <a:pt x="294722" y="118185"/>
                </a:cubicBezTo>
                <a:cubicBezTo>
                  <a:pt x="294722" y="116890"/>
                  <a:pt x="294722" y="115595"/>
                  <a:pt x="296015" y="114300"/>
                </a:cubicBezTo>
                <a:cubicBezTo>
                  <a:pt x="297308" y="113005"/>
                  <a:pt x="298601" y="111710"/>
                  <a:pt x="301187" y="111710"/>
                </a:cubicBezTo>
                <a:lnTo>
                  <a:pt x="307652" y="113005"/>
                </a:lnTo>
                <a:cubicBezTo>
                  <a:pt x="307652" y="113005"/>
                  <a:pt x="307652" y="113005"/>
                  <a:pt x="235241" y="15875"/>
                </a:cubicBezTo>
                <a:close/>
                <a:moveTo>
                  <a:pt x="235348" y="0"/>
                </a:moveTo>
                <a:cubicBezTo>
                  <a:pt x="235348" y="0"/>
                  <a:pt x="237938" y="0"/>
                  <a:pt x="239233" y="0"/>
                </a:cubicBezTo>
                <a:cubicBezTo>
                  <a:pt x="241823" y="1299"/>
                  <a:pt x="241823" y="2598"/>
                  <a:pt x="241823" y="2598"/>
                </a:cubicBezTo>
                <a:cubicBezTo>
                  <a:pt x="241823" y="2598"/>
                  <a:pt x="241823" y="2598"/>
                  <a:pt x="327286" y="115599"/>
                </a:cubicBezTo>
                <a:cubicBezTo>
                  <a:pt x="327286" y="115599"/>
                  <a:pt x="329876" y="119496"/>
                  <a:pt x="327286" y="123392"/>
                </a:cubicBezTo>
                <a:cubicBezTo>
                  <a:pt x="324697" y="125990"/>
                  <a:pt x="322107" y="125990"/>
                  <a:pt x="322107" y="125990"/>
                </a:cubicBezTo>
                <a:cubicBezTo>
                  <a:pt x="322107" y="125990"/>
                  <a:pt x="322107" y="125990"/>
                  <a:pt x="307863" y="124691"/>
                </a:cubicBezTo>
                <a:cubicBezTo>
                  <a:pt x="307863" y="124691"/>
                  <a:pt x="307863" y="124691"/>
                  <a:pt x="307863" y="251980"/>
                </a:cubicBezTo>
                <a:cubicBezTo>
                  <a:pt x="307863" y="254578"/>
                  <a:pt x="306568" y="255877"/>
                  <a:pt x="303978" y="257175"/>
                </a:cubicBezTo>
                <a:cubicBezTo>
                  <a:pt x="303978" y="257175"/>
                  <a:pt x="303978" y="257175"/>
                  <a:pt x="169308" y="327314"/>
                </a:cubicBezTo>
                <a:cubicBezTo>
                  <a:pt x="169308" y="327314"/>
                  <a:pt x="168013" y="328613"/>
                  <a:pt x="166718" y="328613"/>
                </a:cubicBezTo>
                <a:cubicBezTo>
                  <a:pt x="165424" y="328613"/>
                  <a:pt x="164129" y="327314"/>
                  <a:pt x="164129" y="327314"/>
                </a:cubicBezTo>
                <a:cubicBezTo>
                  <a:pt x="164129" y="327314"/>
                  <a:pt x="164129" y="327314"/>
                  <a:pt x="25574" y="254578"/>
                </a:cubicBezTo>
                <a:cubicBezTo>
                  <a:pt x="22984" y="254578"/>
                  <a:pt x="21689" y="251980"/>
                  <a:pt x="21689" y="249382"/>
                </a:cubicBezTo>
                <a:cubicBezTo>
                  <a:pt x="21689" y="249382"/>
                  <a:pt x="21689" y="249382"/>
                  <a:pt x="21689" y="129887"/>
                </a:cubicBezTo>
                <a:cubicBezTo>
                  <a:pt x="21689" y="129887"/>
                  <a:pt x="21689" y="129887"/>
                  <a:pt x="6150" y="129887"/>
                </a:cubicBezTo>
                <a:cubicBezTo>
                  <a:pt x="3561" y="129887"/>
                  <a:pt x="2266" y="128588"/>
                  <a:pt x="971" y="127289"/>
                </a:cubicBezTo>
                <a:cubicBezTo>
                  <a:pt x="-324" y="125990"/>
                  <a:pt x="-324" y="123392"/>
                  <a:pt x="971" y="120795"/>
                </a:cubicBezTo>
                <a:cubicBezTo>
                  <a:pt x="971" y="120795"/>
                  <a:pt x="971" y="120795"/>
                  <a:pt x="34638" y="54552"/>
                </a:cubicBezTo>
                <a:cubicBezTo>
                  <a:pt x="35933" y="51955"/>
                  <a:pt x="37228" y="51955"/>
                  <a:pt x="38523" y="50656"/>
                </a:cubicBezTo>
                <a:cubicBezTo>
                  <a:pt x="38523" y="50656"/>
                  <a:pt x="38523" y="50656"/>
                  <a:pt x="59241" y="45460"/>
                </a:cubicBezTo>
                <a:cubicBezTo>
                  <a:pt x="59241" y="45460"/>
                  <a:pt x="59241" y="45460"/>
                  <a:pt x="59241" y="27276"/>
                </a:cubicBezTo>
                <a:cubicBezTo>
                  <a:pt x="59241" y="24678"/>
                  <a:pt x="60536" y="22081"/>
                  <a:pt x="63126" y="20782"/>
                </a:cubicBezTo>
                <a:cubicBezTo>
                  <a:pt x="63126" y="20782"/>
                  <a:pt x="63126" y="20782"/>
                  <a:pt x="83844" y="14287"/>
                </a:cubicBezTo>
                <a:cubicBezTo>
                  <a:pt x="83844" y="14287"/>
                  <a:pt x="83844" y="14287"/>
                  <a:pt x="85139" y="14287"/>
                </a:cubicBezTo>
                <a:cubicBezTo>
                  <a:pt x="86434" y="14287"/>
                  <a:pt x="86434" y="14287"/>
                  <a:pt x="86434" y="14287"/>
                </a:cubicBezTo>
                <a:cubicBezTo>
                  <a:pt x="86434" y="14287"/>
                  <a:pt x="86434" y="14287"/>
                  <a:pt x="98088" y="16885"/>
                </a:cubicBezTo>
                <a:cubicBezTo>
                  <a:pt x="100678" y="16885"/>
                  <a:pt x="103268" y="19483"/>
                  <a:pt x="103268" y="22081"/>
                </a:cubicBezTo>
                <a:cubicBezTo>
                  <a:pt x="103268" y="22081"/>
                  <a:pt x="103268" y="22081"/>
                  <a:pt x="103268" y="33771"/>
                </a:cubicBezTo>
                <a:cubicBezTo>
                  <a:pt x="103268" y="33771"/>
                  <a:pt x="103268" y="33771"/>
                  <a:pt x="235348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91440" tIns="45720" rIns="91440" bIns="45720" anchor="ctr">
            <a:normAutofit lnSpcReduction="10000"/>
          </a:bodyPr>
          <a:lstStyle/>
          <a:p>
            <a:pPr marL="0"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379041" y="152707"/>
            <a:ext cx="6592529" cy="7414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32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Initial Data Assessment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307917" y="2133600"/>
            <a:ext cx="2547969" cy="263873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The dataset comprises 250 rows and 7 columns, including six numeric risk-related features and one categorical outcome variable ("class").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7917" y="1682754"/>
            <a:ext cx="2546969" cy="4169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Data Structure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252051" y="3657600"/>
            <a:ext cx="2547969" cy="263873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The dataset has no missing values, ensuring data integrity for analysis and modeling purposes.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52051" y="3266645"/>
            <a:ext cx="2546969" cy="4169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Data Completeness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11777" y="3900211"/>
            <a:ext cx="2547969" cy="263873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The dataset contains 147 duplicate entries, which were removed to ensure the uniqueness and validity of the analysis.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11777" y="3261751"/>
            <a:ext cx="2546969" cy="4169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5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Duplicate Records</a:t>
            </a:r>
            <a:endParaRPr lang="en-US" sz="11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26DC9F2-7C6D-D33E-FC62-78191257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01269"/>
            <a:ext cx="5407948" cy="16069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780D160-513F-1354-6A38-ECE0DD0A1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945" y="5029786"/>
            <a:ext cx="1897599" cy="18282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28" dur="1" fill="hold"/>
                                        <p:tgtEl>
                                          <p:spTgt spid="21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9667116">
            <a:off x="-2217223" y="3326427"/>
            <a:ext cx="5108901" cy="3784838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3939238">
            <a:off x="2336035" y="3502218"/>
            <a:ext cx="6613260" cy="5679276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896350" y="3264389"/>
            <a:ext cx="3733800" cy="3891899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-206724" y="-854751"/>
            <a:ext cx="8687753" cy="7725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49600" b="1" dirty="0">
                <a:solidFill>
                  <a:srgbClr val="584CE0"/>
                </a:solidFill>
                <a:latin typeface="Agency FB"/>
              </a:rPr>
              <a:t>EDA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697330" y="609600"/>
            <a:ext cx="5588000" cy="5510752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>
              <a:lnSpc>
                <a:spcPct val="150000"/>
              </a:lnSpc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264375" y="2380019"/>
            <a:ext cx="4553525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Key statistical measures such as mean, standard deviation, minimum, and maximum values provide insights into the distribution of risk factors.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6162" y="1895346"/>
            <a:ext cx="4551737" cy="41690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16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Descriptive Statistics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5992992" y="457200"/>
            <a:ext cx="5083047" cy="9105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zh-CN" altLang="en-US" sz="32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Exploratory Data Analysis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64375" y="4381397"/>
            <a:ext cx="4553525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Visual tools like histograms, pair plots, and heatmaps are employed to explore relationships and patterns between variables and the target class.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66162" y="3896724"/>
            <a:ext cx="455173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Visualization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64199" y="738415"/>
            <a:ext cx="8017018" cy="75238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Descriptive Statistics</a:t>
            </a:r>
            <a:endParaRPr lang="en-US" sz="2000" dirty="0"/>
          </a:p>
        </p:txBody>
      </p:sp>
      <p:sp>
        <p:nvSpPr>
          <p:cNvPr id="5" name="AutoShape 5"/>
          <p:cNvSpPr/>
          <p:nvPr/>
        </p:nvSpPr>
        <p:spPr>
          <a:xfrm>
            <a:off x="978512" y="1818667"/>
            <a:ext cx="4503189" cy="2904239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6928906" y="3904798"/>
            <a:ext cx="435274" cy="422170"/>
          </a:xfrm>
          <a:custGeom>
            <a:avLst/>
            <a:gdLst/>
            <a:ahLst/>
            <a:cxnLst/>
            <a:rect l="l" t="t" r="r" b="b"/>
            <a:pathLst>
              <a:path w="578738" h="561315">
                <a:moveTo>
                  <a:pt x="35700" y="243554"/>
                </a:moveTo>
                <a:cubicBezTo>
                  <a:pt x="34181" y="243554"/>
                  <a:pt x="30383" y="248104"/>
                  <a:pt x="30383" y="254930"/>
                </a:cubicBezTo>
                <a:lnTo>
                  <a:pt x="30383" y="519604"/>
                </a:lnTo>
                <a:cubicBezTo>
                  <a:pt x="30383" y="526430"/>
                  <a:pt x="34181" y="530980"/>
                  <a:pt x="35700" y="530980"/>
                </a:cubicBezTo>
                <a:lnTo>
                  <a:pt x="132926" y="530980"/>
                </a:lnTo>
                <a:cubicBezTo>
                  <a:pt x="134445" y="530980"/>
                  <a:pt x="138243" y="526430"/>
                  <a:pt x="138243" y="519604"/>
                </a:cubicBezTo>
                <a:lnTo>
                  <a:pt x="138243" y="254930"/>
                </a:lnTo>
                <a:cubicBezTo>
                  <a:pt x="138243" y="248104"/>
                  <a:pt x="134445" y="243554"/>
                  <a:pt x="132926" y="243554"/>
                </a:cubicBezTo>
                <a:close/>
                <a:moveTo>
                  <a:pt x="35700" y="213219"/>
                </a:moveTo>
                <a:lnTo>
                  <a:pt x="132926" y="213219"/>
                </a:lnTo>
                <a:cubicBezTo>
                  <a:pt x="152675" y="213219"/>
                  <a:pt x="168626" y="231420"/>
                  <a:pt x="168626" y="254930"/>
                </a:cubicBezTo>
                <a:lnTo>
                  <a:pt x="168626" y="519604"/>
                </a:lnTo>
                <a:cubicBezTo>
                  <a:pt x="168626" y="542356"/>
                  <a:pt x="152675" y="561315"/>
                  <a:pt x="132926" y="561315"/>
                </a:cubicBezTo>
                <a:lnTo>
                  <a:pt x="35700" y="561315"/>
                </a:lnTo>
                <a:cubicBezTo>
                  <a:pt x="15951" y="561315"/>
                  <a:pt x="0" y="542356"/>
                  <a:pt x="0" y="519604"/>
                </a:cubicBezTo>
                <a:lnTo>
                  <a:pt x="0" y="254930"/>
                </a:lnTo>
                <a:cubicBezTo>
                  <a:pt x="0" y="231420"/>
                  <a:pt x="15951" y="213219"/>
                  <a:pt x="35700" y="213219"/>
                </a:cubicBezTo>
                <a:close/>
                <a:moveTo>
                  <a:pt x="321281" y="30341"/>
                </a:moveTo>
                <a:cubicBezTo>
                  <a:pt x="307611" y="30341"/>
                  <a:pt x="296219" y="41719"/>
                  <a:pt x="296219" y="55373"/>
                </a:cubicBezTo>
                <a:cubicBezTo>
                  <a:pt x="296219" y="56890"/>
                  <a:pt x="296979" y="59166"/>
                  <a:pt x="296979" y="60683"/>
                </a:cubicBezTo>
                <a:cubicBezTo>
                  <a:pt x="297738" y="62200"/>
                  <a:pt x="297738" y="64475"/>
                  <a:pt x="296979" y="65992"/>
                </a:cubicBezTo>
                <a:cubicBezTo>
                  <a:pt x="306852" y="119090"/>
                  <a:pt x="287106" y="174463"/>
                  <a:pt x="268119" y="212389"/>
                </a:cubicBezTo>
                <a:cubicBezTo>
                  <a:pt x="266600" y="215424"/>
                  <a:pt x="265081" y="218458"/>
                  <a:pt x="263563" y="221492"/>
                </a:cubicBezTo>
                <a:cubicBezTo>
                  <a:pt x="263563" y="221492"/>
                  <a:pt x="262803" y="222250"/>
                  <a:pt x="262044" y="223009"/>
                </a:cubicBezTo>
                <a:cubicBezTo>
                  <a:pt x="255209" y="232870"/>
                  <a:pt x="244576" y="238938"/>
                  <a:pt x="232425" y="240455"/>
                </a:cubicBezTo>
                <a:cubicBezTo>
                  <a:pt x="231665" y="240455"/>
                  <a:pt x="230906" y="240455"/>
                  <a:pt x="230146" y="240455"/>
                </a:cubicBezTo>
                <a:lnTo>
                  <a:pt x="225590" y="240455"/>
                </a:lnTo>
                <a:cubicBezTo>
                  <a:pt x="225590" y="241214"/>
                  <a:pt x="224830" y="241214"/>
                  <a:pt x="224071" y="241214"/>
                </a:cubicBezTo>
                <a:cubicBezTo>
                  <a:pt x="217236" y="241214"/>
                  <a:pt x="211919" y="246524"/>
                  <a:pt x="211919" y="253350"/>
                </a:cubicBezTo>
                <a:lnTo>
                  <a:pt x="211919" y="518079"/>
                </a:lnTo>
                <a:cubicBezTo>
                  <a:pt x="211919" y="524905"/>
                  <a:pt x="217995" y="530974"/>
                  <a:pt x="224830" y="530974"/>
                </a:cubicBezTo>
                <a:lnTo>
                  <a:pt x="521019" y="530974"/>
                </a:lnTo>
                <a:cubicBezTo>
                  <a:pt x="521779" y="530974"/>
                  <a:pt x="521779" y="530215"/>
                  <a:pt x="522538" y="530215"/>
                </a:cubicBezTo>
                <a:cubicBezTo>
                  <a:pt x="536208" y="530215"/>
                  <a:pt x="546081" y="518837"/>
                  <a:pt x="546081" y="505942"/>
                </a:cubicBezTo>
                <a:cubicBezTo>
                  <a:pt x="546081" y="493047"/>
                  <a:pt x="536208" y="481669"/>
                  <a:pt x="522538" y="480910"/>
                </a:cubicBezTo>
                <a:cubicBezTo>
                  <a:pt x="514943" y="480910"/>
                  <a:pt x="508108" y="474084"/>
                  <a:pt x="508108" y="465740"/>
                </a:cubicBezTo>
                <a:cubicBezTo>
                  <a:pt x="508108" y="457396"/>
                  <a:pt x="514943" y="450569"/>
                  <a:pt x="523298" y="450569"/>
                </a:cubicBezTo>
                <a:cubicBezTo>
                  <a:pt x="536968" y="450569"/>
                  <a:pt x="548360" y="439191"/>
                  <a:pt x="548360" y="425537"/>
                </a:cubicBezTo>
                <a:cubicBezTo>
                  <a:pt x="548360" y="411884"/>
                  <a:pt x="536968" y="401264"/>
                  <a:pt x="523298" y="401264"/>
                </a:cubicBezTo>
                <a:cubicBezTo>
                  <a:pt x="514943" y="401264"/>
                  <a:pt x="508108" y="394438"/>
                  <a:pt x="508108" y="386094"/>
                </a:cubicBezTo>
                <a:cubicBezTo>
                  <a:pt x="508108" y="377750"/>
                  <a:pt x="514943" y="370923"/>
                  <a:pt x="523298" y="370923"/>
                </a:cubicBezTo>
                <a:cubicBezTo>
                  <a:pt x="536968" y="370923"/>
                  <a:pt x="548360" y="359545"/>
                  <a:pt x="548360" y="345891"/>
                </a:cubicBezTo>
                <a:cubicBezTo>
                  <a:pt x="548360" y="332238"/>
                  <a:pt x="536968" y="320860"/>
                  <a:pt x="523298" y="320860"/>
                </a:cubicBezTo>
                <a:cubicBezTo>
                  <a:pt x="514943" y="320860"/>
                  <a:pt x="508108" y="314033"/>
                  <a:pt x="508108" y="305689"/>
                </a:cubicBezTo>
                <a:cubicBezTo>
                  <a:pt x="508108" y="297345"/>
                  <a:pt x="514943" y="290518"/>
                  <a:pt x="523298" y="290518"/>
                </a:cubicBezTo>
                <a:cubicBezTo>
                  <a:pt x="536968" y="290518"/>
                  <a:pt x="548360" y="279140"/>
                  <a:pt x="548360" y="265487"/>
                </a:cubicBezTo>
                <a:cubicBezTo>
                  <a:pt x="548360" y="251833"/>
                  <a:pt x="536968" y="240455"/>
                  <a:pt x="523298" y="240455"/>
                </a:cubicBezTo>
                <a:lnTo>
                  <a:pt x="373684" y="240455"/>
                </a:lnTo>
                <a:cubicBezTo>
                  <a:pt x="369127" y="240455"/>
                  <a:pt x="363811" y="238180"/>
                  <a:pt x="361533" y="234387"/>
                </a:cubicBezTo>
                <a:cubicBezTo>
                  <a:pt x="358495" y="229836"/>
                  <a:pt x="357735" y="224526"/>
                  <a:pt x="360014" y="219975"/>
                </a:cubicBezTo>
                <a:cubicBezTo>
                  <a:pt x="401784" y="120607"/>
                  <a:pt x="349381" y="50822"/>
                  <a:pt x="343306" y="42478"/>
                </a:cubicBezTo>
                <a:cubicBezTo>
                  <a:pt x="342546" y="42478"/>
                  <a:pt x="341787" y="41719"/>
                  <a:pt x="341787" y="40961"/>
                </a:cubicBezTo>
                <a:cubicBezTo>
                  <a:pt x="336471" y="34134"/>
                  <a:pt x="329635" y="30341"/>
                  <a:pt x="321281" y="30341"/>
                </a:cubicBezTo>
                <a:close/>
                <a:moveTo>
                  <a:pt x="321281" y="0"/>
                </a:moveTo>
                <a:cubicBezTo>
                  <a:pt x="338749" y="0"/>
                  <a:pt x="354698" y="8344"/>
                  <a:pt x="365330" y="21997"/>
                </a:cubicBezTo>
                <a:cubicBezTo>
                  <a:pt x="368368" y="25032"/>
                  <a:pt x="431403" y="99368"/>
                  <a:pt x="395708" y="210114"/>
                </a:cubicBezTo>
                <a:lnTo>
                  <a:pt x="523298" y="210114"/>
                </a:lnTo>
                <a:cubicBezTo>
                  <a:pt x="538487" y="210114"/>
                  <a:pt x="552157" y="216182"/>
                  <a:pt x="562789" y="226802"/>
                </a:cubicBezTo>
                <a:cubicBezTo>
                  <a:pt x="572662" y="237421"/>
                  <a:pt x="578738" y="251075"/>
                  <a:pt x="578738" y="265487"/>
                </a:cubicBezTo>
                <a:cubicBezTo>
                  <a:pt x="578738" y="281416"/>
                  <a:pt x="571903" y="295828"/>
                  <a:pt x="561270" y="305689"/>
                </a:cubicBezTo>
                <a:cubicBezTo>
                  <a:pt x="571903" y="315550"/>
                  <a:pt x="578738" y="329962"/>
                  <a:pt x="578738" y="345891"/>
                </a:cubicBezTo>
                <a:cubicBezTo>
                  <a:pt x="578738" y="361821"/>
                  <a:pt x="571903" y="375474"/>
                  <a:pt x="561270" y="386094"/>
                </a:cubicBezTo>
                <a:cubicBezTo>
                  <a:pt x="571903" y="395955"/>
                  <a:pt x="578738" y="410367"/>
                  <a:pt x="578738" y="425537"/>
                </a:cubicBezTo>
                <a:cubicBezTo>
                  <a:pt x="578738" y="442225"/>
                  <a:pt x="571903" y="456637"/>
                  <a:pt x="560511" y="466498"/>
                </a:cubicBezTo>
                <a:cubicBezTo>
                  <a:pt x="570384" y="477118"/>
                  <a:pt x="576460" y="490771"/>
                  <a:pt x="576460" y="505942"/>
                </a:cubicBezTo>
                <a:cubicBezTo>
                  <a:pt x="576460" y="534008"/>
                  <a:pt x="555195" y="557522"/>
                  <a:pt x="527095" y="560556"/>
                </a:cubicBezTo>
                <a:cubicBezTo>
                  <a:pt x="525576" y="560556"/>
                  <a:pt x="524816" y="561315"/>
                  <a:pt x="523298" y="561315"/>
                </a:cubicBezTo>
                <a:lnTo>
                  <a:pt x="224830" y="561315"/>
                </a:lnTo>
                <a:cubicBezTo>
                  <a:pt x="201287" y="561315"/>
                  <a:pt x="181541" y="541593"/>
                  <a:pt x="181541" y="518079"/>
                </a:cubicBezTo>
                <a:lnTo>
                  <a:pt x="181541" y="253350"/>
                </a:lnTo>
                <a:cubicBezTo>
                  <a:pt x="181541" y="230594"/>
                  <a:pt x="199768" y="211631"/>
                  <a:pt x="222552" y="210872"/>
                </a:cubicBezTo>
                <a:cubicBezTo>
                  <a:pt x="223311" y="210872"/>
                  <a:pt x="224071" y="210114"/>
                  <a:pt x="224830" y="210114"/>
                </a:cubicBezTo>
                <a:lnTo>
                  <a:pt x="229387" y="210114"/>
                </a:lnTo>
                <a:cubicBezTo>
                  <a:pt x="232425" y="210114"/>
                  <a:pt x="235463" y="208597"/>
                  <a:pt x="237741" y="205563"/>
                </a:cubicBezTo>
                <a:cubicBezTo>
                  <a:pt x="238500" y="203287"/>
                  <a:pt x="240019" y="201011"/>
                  <a:pt x="240779" y="198736"/>
                </a:cubicBezTo>
                <a:cubicBezTo>
                  <a:pt x="255209" y="170670"/>
                  <a:pt x="277233" y="115297"/>
                  <a:pt x="266600" y="66751"/>
                </a:cubicBezTo>
                <a:cubicBezTo>
                  <a:pt x="265841" y="65234"/>
                  <a:pt x="265841" y="62958"/>
                  <a:pt x="266600" y="60683"/>
                </a:cubicBezTo>
                <a:cubicBezTo>
                  <a:pt x="265841" y="59166"/>
                  <a:pt x="265841" y="56890"/>
                  <a:pt x="265841" y="55373"/>
                </a:cubicBezTo>
                <a:cubicBezTo>
                  <a:pt x="265841" y="25032"/>
                  <a:pt x="290903" y="0"/>
                  <a:pt x="321281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822C67-2B38-4E69-89AA-F0BCC20F8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04" y="1746714"/>
            <a:ext cx="5972705" cy="29042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3302BD6-F8F9-11FC-036B-DB2B4723D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62" y="4233372"/>
            <a:ext cx="2753109" cy="18862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98607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66800" y="177225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Visualization</a:t>
            </a:r>
            <a:endParaRPr lang="en-US" sz="20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9D3EF0-F35B-1C42-499C-10D933565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04558"/>
            <a:ext cx="5105400" cy="39015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72E184-0288-CD1A-451A-CA45AFBBF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710" y="2329282"/>
            <a:ext cx="4536574" cy="4178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302573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57979" y="149548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Visualization</a:t>
            </a:r>
            <a:endParaRPr lang="en-US" sz="20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5181F2-88E0-2766-D935-2064A78BA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87" y="838200"/>
            <a:ext cx="10632013" cy="588934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513157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57979" y="149548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Visualization</a:t>
            </a:r>
            <a:endParaRPr lang="en-US" sz="20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FC6AC7-7723-0711-E5C5-4969DA8C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63" y="787136"/>
            <a:ext cx="7162800" cy="59300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18544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57979" y="149548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Visualization</a:t>
            </a:r>
            <a:endParaRPr lang="en-US" sz="20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FC6AC7-7723-0711-E5C5-4969DA8C0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63" y="787136"/>
            <a:ext cx="7162800" cy="59300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2CDE1A-1E0C-C57A-B20E-698B38576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63" y="810786"/>
            <a:ext cx="10802238" cy="57312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06081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64199" y="738415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3200" b="1" i="0" u="none" baseline="0" dirty="0">
                <a:solidFill>
                  <a:srgbClr val="FFFFFF"/>
                </a:solidFill>
                <a:latin typeface="微软雅黑"/>
                <a:ea typeface="微软雅黑"/>
              </a:rPr>
              <a:t>Key Inferences </a:t>
            </a:r>
            <a:r>
              <a:rPr lang="zh-CN" altLang="en-US" sz="3200" b="1" i="0" u="none" baseline="0" dirty="0">
                <a:latin typeface="微软雅黑"/>
                <a:ea typeface="微软雅黑"/>
              </a:rPr>
              <a:t>from EDA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978512" y="1818667"/>
            <a:ext cx="4503189" cy="2904239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40072" y="2050058"/>
            <a:ext cx="723750" cy="723748"/>
          </a:xfrm>
          <a:prstGeom prst="roundRect">
            <a:avLst/>
          </a:pr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967471" y="2406091"/>
            <a:ext cx="3243866" cy="1177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After removing duplicates, the dataset consists of 103 unique entries, maintaining data quality for subsequent modeling steps.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60173" y="1896337"/>
            <a:ext cx="3251164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Dataset Characteristics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23109" y="3429000"/>
            <a:ext cx="4503189" cy="3141473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84669" y="3793022"/>
            <a:ext cx="723750" cy="723748"/>
          </a:xfrm>
          <a:prstGeom prst="roundRect">
            <a:avLst/>
          </a:pr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487997" y="4026686"/>
            <a:ext cx="3243866" cy="1177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dataset exhibits class imbalance, with 76% of cases labeled as "non-bankruptcy" and 24% as "bankruptcy", affecting model development strategies.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8419" y="3566244"/>
            <a:ext cx="3357511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Class Imbalance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928906" y="3904798"/>
            <a:ext cx="435274" cy="422170"/>
          </a:xfrm>
          <a:custGeom>
            <a:avLst/>
            <a:gdLst/>
            <a:ahLst/>
            <a:cxnLst/>
            <a:rect l="l" t="t" r="r" b="b"/>
            <a:pathLst>
              <a:path w="578738" h="561315">
                <a:moveTo>
                  <a:pt x="35700" y="243554"/>
                </a:moveTo>
                <a:cubicBezTo>
                  <a:pt x="34181" y="243554"/>
                  <a:pt x="30383" y="248104"/>
                  <a:pt x="30383" y="254930"/>
                </a:cubicBezTo>
                <a:lnTo>
                  <a:pt x="30383" y="519604"/>
                </a:lnTo>
                <a:cubicBezTo>
                  <a:pt x="30383" y="526430"/>
                  <a:pt x="34181" y="530980"/>
                  <a:pt x="35700" y="530980"/>
                </a:cubicBezTo>
                <a:lnTo>
                  <a:pt x="132926" y="530980"/>
                </a:lnTo>
                <a:cubicBezTo>
                  <a:pt x="134445" y="530980"/>
                  <a:pt x="138243" y="526430"/>
                  <a:pt x="138243" y="519604"/>
                </a:cubicBezTo>
                <a:lnTo>
                  <a:pt x="138243" y="254930"/>
                </a:lnTo>
                <a:cubicBezTo>
                  <a:pt x="138243" y="248104"/>
                  <a:pt x="134445" y="243554"/>
                  <a:pt x="132926" y="243554"/>
                </a:cubicBezTo>
                <a:close/>
                <a:moveTo>
                  <a:pt x="35700" y="213219"/>
                </a:moveTo>
                <a:lnTo>
                  <a:pt x="132926" y="213219"/>
                </a:lnTo>
                <a:cubicBezTo>
                  <a:pt x="152675" y="213219"/>
                  <a:pt x="168626" y="231420"/>
                  <a:pt x="168626" y="254930"/>
                </a:cubicBezTo>
                <a:lnTo>
                  <a:pt x="168626" y="519604"/>
                </a:lnTo>
                <a:cubicBezTo>
                  <a:pt x="168626" y="542356"/>
                  <a:pt x="152675" y="561315"/>
                  <a:pt x="132926" y="561315"/>
                </a:cubicBezTo>
                <a:lnTo>
                  <a:pt x="35700" y="561315"/>
                </a:lnTo>
                <a:cubicBezTo>
                  <a:pt x="15951" y="561315"/>
                  <a:pt x="0" y="542356"/>
                  <a:pt x="0" y="519604"/>
                </a:cubicBezTo>
                <a:lnTo>
                  <a:pt x="0" y="254930"/>
                </a:lnTo>
                <a:cubicBezTo>
                  <a:pt x="0" y="231420"/>
                  <a:pt x="15951" y="213219"/>
                  <a:pt x="35700" y="213219"/>
                </a:cubicBezTo>
                <a:close/>
                <a:moveTo>
                  <a:pt x="321281" y="30341"/>
                </a:moveTo>
                <a:cubicBezTo>
                  <a:pt x="307611" y="30341"/>
                  <a:pt x="296219" y="41719"/>
                  <a:pt x="296219" y="55373"/>
                </a:cubicBezTo>
                <a:cubicBezTo>
                  <a:pt x="296219" y="56890"/>
                  <a:pt x="296979" y="59166"/>
                  <a:pt x="296979" y="60683"/>
                </a:cubicBezTo>
                <a:cubicBezTo>
                  <a:pt x="297738" y="62200"/>
                  <a:pt x="297738" y="64475"/>
                  <a:pt x="296979" y="65992"/>
                </a:cubicBezTo>
                <a:cubicBezTo>
                  <a:pt x="306852" y="119090"/>
                  <a:pt x="287106" y="174463"/>
                  <a:pt x="268119" y="212389"/>
                </a:cubicBezTo>
                <a:cubicBezTo>
                  <a:pt x="266600" y="215424"/>
                  <a:pt x="265081" y="218458"/>
                  <a:pt x="263563" y="221492"/>
                </a:cubicBezTo>
                <a:cubicBezTo>
                  <a:pt x="263563" y="221492"/>
                  <a:pt x="262803" y="222250"/>
                  <a:pt x="262044" y="223009"/>
                </a:cubicBezTo>
                <a:cubicBezTo>
                  <a:pt x="255209" y="232870"/>
                  <a:pt x="244576" y="238938"/>
                  <a:pt x="232425" y="240455"/>
                </a:cubicBezTo>
                <a:cubicBezTo>
                  <a:pt x="231665" y="240455"/>
                  <a:pt x="230906" y="240455"/>
                  <a:pt x="230146" y="240455"/>
                </a:cubicBezTo>
                <a:lnTo>
                  <a:pt x="225590" y="240455"/>
                </a:lnTo>
                <a:cubicBezTo>
                  <a:pt x="225590" y="241214"/>
                  <a:pt x="224830" y="241214"/>
                  <a:pt x="224071" y="241214"/>
                </a:cubicBezTo>
                <a:cubicBezTo>
                  <a:pt x="217236" y="241214"/>
                  <a:pt x="211919" y="246524"/>
                  <a:pt x="211919" y="253350"/>
                </a:cubicBezTo>
                <a:lnTo>
                  <a:pt x="211919" y="518079"/>
                </a:lnTo>
                <a:cubicBezTo>
                  <a:pt x="211919" y="524905"/>
                  <a:pt x="217995" y="530974"/>
                  <a:pt x="224830" y="530974"/>
                </a:cubicBezTo>
                <a:lnTo>
                  <a:pt x="521019" y="530974"/>
                </a:lnTo>
                <a:cubicBezTo>
                  <a:pt x="521779" y="530974"/>
                  <a:pt x="521779" y="530215"/>
                  <a:pt x="522538" y="530215"/>
                </a:cubicBezTo>
                <a:cubicBezTo>
                  <a:pt x="536208" y="530215"/>
                  <a:pt x="546081" y="518837"/>
                  <a:pt x="546081" y="505942"/>
                </a:cubicBezTo>
                <a:cubicBezTo>
                  <a:pt x="546081" y="493047"/>
                  <a:pt x="536208" y="481669"/>
                  <a:pt x="522538" y="480910"/>
                </a:cubicBezTo>
                <a:cubicBezTo>
                  <a:pt x="514943" y="480910"/>
                  <a:pt x="508108" y="474084"/>
                  <a:pt x="508108" y="465740"/>
                </a:cubicBezTo>
                <a:cubicBezTo>
                  <a:pt x="508108" y="457396"/>
                  <a:pt x="514943" y="450569"/>
                  <a:pt x="523298" y="450569"/>
                </a:cubicBezTo>
                <a:cubicBezTo>
                  <a:pt x="536968" y="450569"/>
                  <a:pt x="548360" y="439191"/>
                  <a:pt x="548360" y="425537"/>
                </a:cubicBezTo>
                <a:cubicBezTo>
                  <a:pt x="548360" y="411884"/>
                  <a:pt x="536968" y="401264"/>
                  <a:pt x="523298" y="401264"/>
                </a:cubicBezTo>
                <a:cubicBezTo>
                  <a:pt x="514943" y="401264"/>
                  <a:pt x="508108" y="394438"/>
                  <a:pt x="508108" y="386094"/>
                </a:cubicBezTo>
                <a:cubicBezTo>
                  <a:pt x="508108" y="377750"/>
                  <a:pt x="514943" y="370923"/>
                  <a:pt x="523298" y="370923"/>
                </a:cubicBezTo>
                <a:cubicBezTo>
                  <a:pt x="536968" y="370923"/>
                  <a:pt x="548360" y="359545"/>
                  <a:pt x="548360" y="345891"/>
                </a:cubicBezTo>
                <a:cubicBezTo>
                  <a:pt x="548360" y="332238"/>
                  <a:pt x="536968" y="320860"/>
                  <a:pt x="523298" y="320860"/>
                </a:cubicBezTo>
                <a:cubicBezTo>
                  <a:pt x="514943" y="320860"/>
                  <a:pt x="508108" y="314033"/>
                  <a:pt x="508108" y="305689"/>
                </a:cubicBezTo>
                <a:cubicBezTo>
                  <a:pt x="508108" y="297345"/>
                  <a:pt x="514943" y="290518"/>
                  <a:pt x="523298" y="290518"/>
                </a:cubicBezTo>
                <a:cubicBezTo>
                  <a:pt x="536968" y="290518"/>
                  <a:pt x="548360" y="279140"/>
                  <a:pt x="548360" y="265487"/>
                </a:cubicBezTo>
                <a:cubicBezTo>
                  <a:pt x="548360" y="251833"/>
                  <a:pt x="536968" y="240455"/>
                  <a:pt x="523298" y="240455"/>
                </a:cubicBezTo>
                <a:lnTo>
                  <a:pt x="373684" y="240455"/>
                </a:lnTo>
                <a:cubicBezTo>
                  <a:pt x="369127" y="240455"/>
                  <a:pt x="363811" y="238180"/>
                  <a:pt x="361533" y="234387"/>
                </a:cubicBezTo>
                <a:cubicBezTo>
                  <a:pt x="358495" y="229836"/>
                  <a:pt x="357735" y="224526"/>
                  <a:pt x="360014" y="219975"/>
                </a:cubicBezTo>
                <a:cubicBezTo>
                  <a:pt x="401784" y="120607"/>
                  <a:pt x="349381" y="50822"/>
                  <a:pt x="343306" y="42478"/>
                </a:cubicBezTo>
                <a:cubicBezTo>
                  <a:pt x="342546" y="42478"/>
                  <a:pt x="341787" y="41719"/>
                  <a:pt x="341787" y="40961"/>
                </a:cubicBezTo>
                <a:cubicBezTo>
                  <a:pt x="336471" y="34134"/>
                  <a:pt x="329635" y="30341"/>
                  <a:pt x="321281" y="30341"/>
                </a:cubicBezTo>
                <a:close/>
                <a:moveTo>
                  <a:pt x="321281" y="0"/>
                </a:moveTo>
                <a:cubicBezTo>
                  <a:pt x="338749" y="0"/>
                  <a:pt x="354698" y="8344"/>
                  <a:pt x="365330" y="21997"/>
                </a:cubicBezTo>
                <a:cubicBezTo>
                  <a:pt x="368368" y="25032"/>
                  <a:pt x="431403" y="99368"/>
                  <a:pt x="395708" y="210114"/>
                </a:cubicBezTo>
                <a:lnTo>
                  <a:pt x="523298" y="210114"/>
                </a:lnTo>
                <a:cubicBezTo>
                  <a:pt x="538487" y="210114"/>
                  <a:pt x="552157" y="216182"/>
                  <a:pt x="562789" y="226802"/>
                </a:cubicBezTo>
                <a:cubicBezTo>
                  <a:pt x="572662" y="237421"/>
                  <a:pt x="578738" y="251075"/>
                  <a:pt x="578738" y="265487"/>
                </a:cubicBezTo>
                <a:cubicBezTo>
                  <a:pt x="578738" y="281416"/>
                  <a:pt x="571903" y="295828"/>
                  <a:pt x="561270" y="305689"/>
                </a:cubicBezTo>
                <a:cubicBezTo>
                  <a:pt x="571903" y="315550"/>
                  <a:pt x="578738" y="329962"/>
                  <a:pt x="578738" y="345891"/>
                </a:cubicBezTo>
                <a:cubicBezTo>
                  <a:pt x="578738" y="361821"/>
                  <a:pt x="571903" y="375474"/>
                  <a:pt x="561270" y="386094"/>
                </a:cubicBezTo>
                <a:cubicBezTo>
                  <a:pt x="571903" y="395955"/>
                  <a:pt x="578738" y="410367"/>
                  <a:pt x="578738" y="425537"/>
                </a:cubicBezTo>
                <a:cubicBezTo>
                  <a:pt x="578738" y="442225"/>
                  <a:pt x="571903" y="456637"/>
                  <a:pt x="560511" y="466498"/>
                </a:cubicBezTo>
                <a:cubicBezTo>
                  <a:pt x="570384" y="477118"/>
                  <a:pt x="576460" y="490771"/>
                  <a:pt x="576460" y="505942"/>
                </a:cubicBezTo>
                <a:cubicBezTo>
                  <a:pt x="576460" y="534008"/>
                  <a:pt x="555195" y="557522"/>
                  <a:pt x="527095" y="560556"/>
                </a:cubicBezTo>
                <a:cubicBezTo>
                  <a:pt x="525576" y="560556"/>
                  <a:pt x="524816" y="561315"/>
                  <a:pt x="523298" y="561315"/>
                </a:cubicBezTo>
                <a:lnTo>
                  <a:pt x="224830" y="561315"/>
                </a:lnTo>
                <a:cubicBezTo>
                  <a:pt x="201287" y="561315"/>
                  <a:pt x="181541" y="541593"/>
                  <a:pt x="181541" y="518079"/>
                </a:cubicBezTo>
                <a:lnTo>
                  <a:pt x="181541" y="253350"/>
                </a:lnTo>
                <a:cubicBezTo>
                  <a:pt x="181541" y="230594"/>
                  <a:pt x="199768" y="211631"/>
                  <a:pt x="222552" y="210872"/>
                </a:cubicBezTo>
                <a:cubicBezTo>
                  <a:pt x="223311" y="210872"/>
                  <a:pt x="224071" y="210114"/>
                  <a:pt x="224830" y="210114"/>
                </a:cubicBezTo>
                <a:lnTo>
                  <a:pt x="229387" y="210114"/>
                </a:lnTo>
                <a:cubicBezTo>
                  <a:pt x="232425" y="210114"/>
                  <a:pt x="235463" y="208597"/>
                  <a:pt x="237741" y="205563"/>
                </a:cubicBezTo>
                <a:cubicBezTo>
                  <a:pt x="238500" y="203287"/>
                  <a:pt x="240019" y="201011"/>
                  <a:pt x="240779" y="198736"/>
                </a:cubicBezTo>
                <a:cubicBezTo>
                  <a:pt x="255209" y="170670"/>
                  <a:pt x="277233" y="115297"/>
                  <a:pt x="266600" y="66751"/>
                </a:cubicBezTo>
                <a:cubicBezTo>
                  <a:pt x="265841" y="65234"/>
                  <a:pt x="265841" y="62958"/>
                  <a:pt x="266600" y="60683"/>
                </a:cubicBezTo>
                <a:cubicBezTo>
                  <a:pt x="265841" y="59166"/>
                  <a:pt x="265841" y="56890"/>
                  <a:pt x="265841" y="55373"/>
                </a:cubicBezTo>
                <a:cubicBezTo>
                  <a:pt x="265841" y="25032"/>
                  <a:pt x="290903" y="0"/>
                  <a:pt x="321281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Data Preprocessing and Feature Engineering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8628" y="1689016"/>
            <a:ext cx="3510236" cy="3658869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0625691">
            <a:off x="306508" y="318402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20737241">
            <a:off x="8387346" y="150401"/>
            <a:ext cx="3869358" cy="3322892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5" name="Connector 5"/>
          <p:cNvCxnSpPr/>
          <p:nvPr/>
        </p:nvCxnSpPr>
        <p:spPr>
          <a:xfrm>
            <a:off x="1069560" y="1890600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cxnSp>
        <p:nvCxnSpPr>
          <p:cNvPr id="6" name="Connector 6"/>
          <p:cNvCxnSpPr/>
          <p:nvPr/>
        </p:nvCxnSpPr>
        <p:spPr>
          <a:xfrm>
            <a:off x="4934275" y="3125840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cxnSp>
        <p:nvCxnSpPr>
          <p:cNvPr id="7" name="Connector 7"/>
          <p:cNvCxnSpPr/>
          <p:nvPr/>
        </p:nvCxnSpPr>
        <p:spPr>
          <a:xfrm>
            <a:off x="8798991" y="2777488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sp>
        <p:nvSpPr>
          <p:cNvPr id="8" name="Freeform 8"/>
          <p:cNvSpPr/>
          <p:nvPr/>
        </p:nvSpPr>
        <p:spPr>
          <a:xfrm>
            <a:off x="0" y="5636525"/>
            <a:ext cx="12194073" cy="1221475"/>
          </a:xfrm>
          <a:custGeom>
            <a:avLst/>
            <a:gdLst/>
            <a:ahLst/>
            <a:cxnLst/>
            <a:rect l="l" t="t" r="r" b="b"/>
            <a:pathLst>
              <a:path w="12194073" h="1265012">
                <a:moveTo>
                  <a:pt x="12194074" y="203646"/>
                </a:moveTo>
                <a:lnTo>
                  <a:pt x="12194074" y="1265012"/>
                </a:lnTo>
                <a:lnTo>
                  <a:pt x="0" y="1265012"/>
                </a:lnTo>
                <a:lnTo>
                  <a:pt x="0" y="0"/>
                </a:lnTo>
                <a:cubicBezTo>
                  <a:pt x="1131321" y="72430"/>
                  <a:pt x="2438801" y="535030"/>
                  <a:pt x="3749625" y="535030"/>
                </a:cubicBezTo>
                <a:cubicBezTo>
                  <a:pt x="5434970" y="535030"/>
                  <a:pt x="7367767" y="6688"/>
                  <a:pt x="9053112" y="6688"/>
                </a:cubicBezTo>
                <a:cubicBezTo>
                  <a:pt x="10514413" y="6688"/>
                  <a:pt x="11561066" y="407961"/>
                  <a:pt x="12194074" y="203646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60000">
                <a:srgbClr val="E53238"/>
              </a:gs>
            </a:gsLst>
            <a:lin ang="189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365009" y="4106578"/>
            <a:ext cx="1872000" cy="396000"/>
          </a:xfrm>
          <a:prstGeom prst="roundRect">
            <a:avLst>
              <a:gd name="adj" fmla="val 20277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1" i="1" u="none" baseline="0">
                <a:solidFill>
                  <a:schemeClr val="lt1"/>
                </a:solidFill>
                <a:latin typeface="Agency FB"/>
                <a:ea typeface="Agency FB"/>
              </a:rPr>
              <a:t>01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60400" y="917010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886838" y="1125879"/>
            <a:ext cx="365444" cy="400583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25114" y="2160201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4736274" y="2404523"/>
            <a:ext cx="396000" cy="329676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649044" y="5409505"/>
            <a:ext cx="1872000" cy="396000"/>
          </a:xfrm>
          <a:prstGeom prst="roundRect">
            <a:avLst>
              <a:gd name="adj" fmla="val 20277"/>
            </a:avLst>
          </a:pr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0" i="0" u="none" baseline="0">
                <a:solidFill>
                  <a:schemeClr val="lt1"/>
                </a:solidFill>
                <a:latin typeface="Agency FB"/>
                <a:ea typeface="Agency FB"/>
              </a:rPr>
              <a:t>02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389831" y="1811849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8642296" y="2044724"/>
            <a:ext cx="327862" cy="352570"/>
          </a:xfrm>
          <a:custGeom>
            <a:avLst/>
            <a:gdLst/>
            <a:ahLst/>
            <a:cxnLst/>
            <a:rect l="l" t="t" r="r" b="b"/>
            <a:pathLst>
              <a:path w="487162" h="523875">
                <a:moveTo>
                  <a:pt x="8774" y="514114"/>
                </a:moveTo>
                <a:lnTo>
                  <a:pt x="8203" y="513447"/>
                </a:lnTo>
                <a:lnTo>
                  <a:pt x="8203" y="513447"/>
                </a:lnTo>
                <a:lnTo>
                  <a:pt x="7727" y="512780"/>
                </a:lnTo>
                <a:cubicBezTo>
                  <a:pt x="6964" y="511828"/>
                  <a:pt x="6393" y="510780"/>
                  <a:pt x="5726" y="509732"/>
                </a:cubicBezTo>
                <a:lnTo>
                  <a:pt x="5726" y="509732"/>
                </a:lnTo>
                <a:lnTo>
                  <a:pt x="5250" y="508970"/>
                </a:lnTo>
                <a:lnTo>
                  <a:pt x="4488" y="507446"/>
                </a:lnTo>
                <a:lnTo>
                  <a:pt x="3821" y="505827"/>
                </a:lnTo>
                <a:lnTo>
                  <a:pt x="3726" y="505637"/>
                </a:lnTo>
                <a:lnTo>
                  <a:pt x="3631" y="505351"/>
                </a:lnTo>
                <a:lnTo>
                  <a:pt x="3631" y="505160"/>
                </a:lnTo>
                <a:lnTo>
                  <a:pt x="2964" y="503160"/>
                </a:lnTo>
                <a:cubicBezTo>
                  <a:pt x="2869" y="502684"/>
                  <a:pt x="2678" y="502303"/>
                  <a:pt x="2583" y="501826"/>
                </a:cubicBezTo>
                <a:cubicBezTo>
                  <a:pt x="2393" y="501160"/>
                  <a:pt x="2202" y="500588"/>
                  <a:pt x="2107" y="499921"/>
                </a:cubicBezTo>
                <a:cubicBezTo>
                  <a:pt x="1726" y="498493"/>
                  <a:pt x="1535" y="497064"/>
                  <a:pt x="1250" y="495635"/>
                </a:cubicBezTo>
                <a:lnTo>
                  <a:pt x="964" y="493159"/>
                </a:lnTo>
                <a:cubicBezTo>
                  <a:pt x="773" y="490968"/>
                  <a:pt x="678" y="488777"/>
                  <a:pt x="773" y="486587"/>
                </a:cubicBezTo>
                <a:cubicBezTo>
                  <a:pt x="1059" y="480300"/>
                  <a:pt x="2583" y="474109"/>
                  <a:pt x="5345" y="468298"/>
                </a:cubicBezTo>
                <a:lnTo>
                  <a:pt x="154983" y="151592"/>
                </a:lnTo>
                <a:cubicBezTo>
                  <a:pt x="157364" y="146544"/>
                  <a:pt x="158603" y="140924"/>
                  <a:pt x="158603" y="135305"/>
                </a:cubicBezTo>
                <a:lnTo>
                  <a:pt x="158603" y="19671"/>
                </a:lnTo>
                <a:lnTo>
                  <a:pt x="120503" y="19671"/>
                </a:lnTo>
                <a:lnTo>
                  <a:pt x="120503" y="621"/>
                </a:lnTo>
                <a:lnTo>
                  <a:pt x="368153" y="621"/>
                </a:lnTo>
                <a:lnTo>
                  <a:pt x="368153" y="19671"/>
                </a:lnTo>
                <a:lnTo>
                  <a:pt x="330053" y="19671"/>
                </a:lnTo>
                <a:lnTo>
                  <a:pt x="330053" y="135305"/>
                </a:lnTo>
                <a:cubicBezTo>
                  <a:pt x="330053" y="140924"/>
                  <a:pt x="331291" y="146449"/>
                  <a:pt x="333672" y="151592"/>
                </a:cubicBezTo>
                <a:lnTo>
                  <a:pt x="483310" y="468298"/>
                </a:lnTo>
                <a:cubicBezTo>
                  <a:pt x="488834" y="480014"/>
                  <a:pt x="489406" y="493444"/>
                  <a:pt x="484834" y="505541"/>
                </a:cubicBezTo>
                <a:lnTo>
                  <a:pt x="484739" y="505732"/>
                </a:lnTo>
                <a:lnTo>
                  <a:pt x="484167" y="507160"/>
                </a:lnTo>
                <a:cubicBezTo>
                  <a:pt x="479690" y="517066"/>
                  <a:pt x="470165" y="523734"/>
                  <a:pt x="459307" y="524401"/>
                </a:cubicBezTo>
                <a:lnTo>
                  <a:pt x="457497" y="524496"/>
                </a:lnTo>
                <a:lnTo>
                  <a:pt x="31253" y="524496"/>
                </a:lnTo>
                <a:lnTo>
                  <a:pt x="29444" y="524401"/>
                </a:lnTo>
                <a:cubicBezTo>
                  <a:pt x="28586" y="524305"/>
                  <a:pt x="27824" y="524305"/>
                  <a:pt x="26967" y="524115"/>
                </a:cubicBezTo>
                <a:cubicBezTo>
                  <a:pt x="25634" y="523925"/>
                  <a:pt x="24395" y="523639"/>
                  <a:pt x="23157" y="523258"/>
                </a:cubicBezTo>
                <a:lnTo>
                  <a:pt x="23157" y="523258"/>
                </a:lnTo>
                <a:cubicBezTo>
                  <a:pt x="21252" y="522686"/>
                  <a:pt x="19347" y="521924"/>
                  <a:pt x="17633" y="520972"/>
                </a:cubicBezTo>
                <a:lnTo>
                  <a:pt x="16204" y="520210"/>
                </a:lnTo>
                <a:cubicBezTo>
                  <a:pt x="15918" y="520020"/>
                  <a:pt x="15632" y="519829"/>
                  <a:pt x="15251" y="519638"/>
                </a:cubicBezTo>
                <a:cubicBezTo>
                  <a:pt x="13442" y="518495"/>
                  <a:pt x="11727" y="517066"/>
                  <a:pt x="10298" y="515542"/>
                </a:cubicBezTo>
                <a:lnTo>
                  <a:pt x="8774" y="514114"/>
                </a:lnTo>
                <a:lnTo>
                  <a:pt x="8774" y="514114"/>
                </a:lnTo>
                <a:close/>
                <a:moveTo>
                  <a:pt x="255377" y="404767"/>
                </a:moveTo>
                <a:lnTo>
                  <a:pt x="252519" y="406576"/>
                </a:lnTo>
                <a:lnTo>
                  <a:pt x="246995" y="410291"/>
                </a:lnTo>
                <a:cubicBezTo>
                  <a:pt x="199751" y="441628"/>
                  <a:pt x="120217" y="442581"/>
                  <a:pt x="55161" y="416864"/>
                </a:cubicBezTo>
                <a:lnTo>
                  <a:pt x="51351" y="415339"/>
                </a:lnTo>
                <a:lnTo>
                  <a:pt x="22490" y="476395"/>
                </a:lnTo>
                <a:lnTo>
                  <a:pt x="21633" y="478300"/>
                </a:lnTo>
                <a:cubicBezTo>
                  <a:pt x="19156" y="484872"/>
                  <a:pt x="19061" y="492111"/>
                  <a:pt x="21538" y="498778"/>
                </a:cubicBezTo>
                <a:cubicBezTo>
                  <a:pt x="22776" y="502017"/>
                  <a:pt x="25443" y="504303"/>
                  <a:pt x="28681" y="505065"/>
                </a:cubicBezTo>
                <a:lnTo>
                  <a:pt x="29920" y="505255"/>
                </a:lnTo>
                <a:lnTo>
                  <a:pt x="31063" y="505351"/>
                </a:lnTo>
                <a:lnTo>
                  <a:pt x="457306" y="505351"/>
                </a:lnTo>
                <a:lnTo>
                  <a:pt x="458450" y="505255"/>
                </a:lnTo>
                <a:cubicBezTo>
                  <a:pt x="462260" y="504875"/>
                  <a:pt x="465498" y="502303"/>
                  <a:pt x="466831" y="498683"/>
                </a:cubicBezTo>
                <a:cubicBezTo>
                  <a:pt x="469118" y="492778"/>
                  <a:pt x="469308" y="486205"/>
                  <a:pt x="467403" y="480205"/>
                </a:cubicBezTo>
                <a:lnTo>
                  <a:pt x="466736" y="478205"/>
                </a:lnTo>
                <a:lnTo>
                  <a:pt x="465879" y="476300"/>
                </a:lnTo>
                <a:lnTo>
                  <a:pt x="424255" y="388098"/>
                </a:lnTo>
                <a:cubicBezTo>
                  <a:pt x="366152" y="373810"/>
                  <a:pt x="296715" y="379335"/>
                  <a:pt x="255377" y="404767"/>
                </a:cubicBezTo>
                <a:close/>
                <a:moveTo>
                  <a:pt x="306240" y="257796"/>
                </a:moveTo>
                <a:cubicBezTo>
                  <a:pt x="287857" y="257796"/>
                  <a:pt x="272903" y="272750"/>
                  <a:pt x="272903" y="291134"/>
                </a:cubicBezTo>
                <a:cubicBezTo>
                  <a:pt x="272903" y="309517"/>
                  <a:pt x="287857" y="324471"/>
                  <a:pt x="306240" y="324471"/>
                </a:cubicBezTo>
                <a:cubicBezTo>
                  <a:pt x="324623" y="324471"/>
                  <a:pt x="339578" y="309517"/>
                  <a:pt x="339578" y="291134"/>
                </a:cubicBezTo>
                <a:cubicBezTo>
                  <a:pt x="339578" y="272750"/>
                  <a:pt x="324623" y="257796"/>
                  <a:pt x="306240" y="257796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331415" y="5124346"/>
            <a:ext cx="1872000" cy="396000"/>
          </a:xfrm>
          <a:prstGeom prst="roundRect">
            <a:avLst>
              <a:gd name="adj" fmla="val 20277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1" i="1" u="none" baseline="0">
                <a:solidFill>
                  <a:schemeClr val="lt1"/>
                </a:solidFill>
                <a:latin typeface="Agency FB"/>
                <a:ea typeface="Agency FB"/>
              </a:rPr>
              <a:t>03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134134" y="2081598"/>
            <a:ext cx="3324922" cy="13426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Synthetic Minority Over-sampling Technique (SMOTE) is utilized to balance the class distribution, enhancing model accuracy and robustness.</a:t>
            </a:r>
          </a:p>
          <a:p>
            <a:pPr marL="0" algn="ctr">
              <a:lnSpc>
                <a:spcPct val="150000"/>
              </a:lnSpc>
            </a:pPr>
            <a:endParaRPr lang="zh-CN" altLang="en-US" sz="14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24933" y="1828800"/>
            <a:ext cx="3325932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SMOTE Technique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5373602" y="3216102"/>
            <a:ext cx="3324922" cy="13426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SMOTE equalizes the dataset, generating 62 samples for both "bankruptcy" and "non-bankruptcy" classes, enabling fair model learning.</a:t>
            </a:r>
          </a:p>
          <a:p>
            <a:pPr marL="0" algn="ctr">
              <a:lnSpc>
                <a:spcPct val="150000"/>
              </a:lnSpc>
            </a:pPr>
            <a:endParaRPr lang="zh-CN" altLang="en-US" sz="14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364401" y="2514158"/>
            <a:ext cx="3325932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Resampling Outcomes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967020" y="2890965"/>
            <a:ext cx="3324922" cy="134267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It ensures the model does not get biased towards majority class (non-bankruptcy), improving its ability to identify bankruptcy cases.</a:t>
            </a:r>
          </a:p>
          <a:p>
            <a:pPr marL="0" algn="ctr">
              <a:lnSpc>
                <a:spcPct val="150000"/>
              </a:lnSpc>
            </a:pPr>
            <a:endParaRPr lang="zh-CN" altLang="en-US" sz="1400" b="0" i="0" u="none" baseline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57819" y="2189021"/>
            <a:ext cx="3325932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Importance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Addressing Class Imbalance</a:t>
            </a:r>
            <a:endParaRPr lang="en-US" sz="11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16511BA-14ED-FEE1-3E80-E3188BA7A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5" y="4600182"/>
            <a:ext cx="4779705" cy="22353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48845">
            <a:off x="4327607" y="3750101"/>
            <a:ext cx="6543790" cy="4847850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466577">
            <a:off x="-2287456" y="2303863"/>
            <a:ext cx="6613260" cy="5679276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2976637">
            <a:off x="9637184" y="2991625"/>
            <a:ext cx="5487919" cy="4058763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525986" y="-403121"/>
            <a:ext cx="5666014" cy="7725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49600" b="1" i="0" u="none" baseline="0">
                <a:solidFill>
                  <a:srgbClr val="584CE0"/>
                </a:solidFill>
                <a:latin typeface="Agency FB"/>
                <a:ea typeface="Agency FB"/>
              </a:rPr>
              <a:t>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75664" y="768123"/>
            <a:ext cx="5588000" cy="5321754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34006" y="2298793"/>
            <a:ext cx="4367487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Prioritizing class balancing is crucial, as adding new features might increase overfitting risk due to the relatively small dataset size.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8403" y="1899911"/>
            <a:ext cx="436748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Balancing Act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74745" y="920698"/>
            <a:ext cx="5092999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Feature Selection and Engineering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91557" y="4356721"/>
            <a:ext cx="4367488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dataset contains well-defined features closely linked to bankruptcy, reducing the need for extensive feature engineering.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1557" y="3918952"/>
            <a:ext cx="4367487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Existing Features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100" y="-685800"/>
            <a:ext cx="2777676" cy="2359701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0625691">
            <a:off x="5988426" y="712538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611921" y="3504001"/>
            <a:ext cx="3662880" cy="314557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Train-Test Split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1069560" y="2038039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cxnSp>
        <p:nvCxnSpPr>
          <p:cNvPr id="7" name="Connector 7"/>
          <p:cNvCxnSpPr/>
          <p:nvPr/>
        </p:nvCxnSpPr>
        <p:spPr>
          <a:xfrm>
            <a:off x="4934275" y="3125840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cxnSp>
        <p:nvCxnSpPr>
          <p:cNvPr id="8" name="Connector 8"/>
          <p:cNvCxnSpPr/>
          <p:nvPr/>
        </p:nvCxnSpPr>
        <p:spPr>
          <a:xfrm>
            <a:off x="8798991" y="2777488"/>
            <a:ext cx="0" cy="3672000"/>
          </a:xfrm>
          <a:prstGeom prst="line">
            <a:avLst/>
          </a:prstGeom>
          <a:ln w="19050" cap="flat" cmpd="sng">
            <a:gradFill>
              <a:gsLst>
                <a:gs pos="0">
                  <a:srgbClr val="E53238">
                    <a:lumMod val="40000"/>
                    <a:lumOff val="60000"/>
                  </a:srgbClr>
                </a:gs>
                <a:gs pos="90000">
                  <a:srgbClr val="E53238"/>
                </a:gs>
              </a:gsLst>
              <a:lin ang="5400000"/>
            </a:gradFill>
            <a:prstDash val="solid"/>
            <a:headEnd type="oval"/>
            <a:tailEnd type="oval"/>
          </a:ln>
        </p:spPr>
      </p:cxnSp>
      <p:sp>
        <p:nvSpPr>
          <p:cNvPr id="9" name="Freeform 9"/>
          <p:cNvSpPr/>
          <p:nvPr/>
        </p:nvSpPr>
        <p:spPr>
          <a:xfrm>
            <a:off x="0" y="5636525"/>
            <a:ext cx="12194073" cy="1221475"/>
          </a:xfrm>
          <a:custGeom>
            <a:avLst/>
            <a:gdLst/>
            <a:ahLst/>
            <a:cxnLst/>
            <a:rect l="l" t="t" r="r" b="b"/>
            <a:pathLst>
              <a:path w="12194073" h="1265012">
                <a:moveTo>
                  <a:pt x="12194074" y="203646"/>
                </a:moveTo>
                <a:lnTo>
                  <a:pt x="12194074" y="1265012"/>
                </a:lnTo>
                <a:lnTo>
                  <a:pt x="0" y="1265012"/>
                </a:lnTo>
                <a:lnTo>
                  <a:pt x="0" y="0"/>
                </a:lnTo>
                <a:cubicBezTo>
                  <a:pt x="1131321" y="72430"/>
                  <a:pt x="2438801" y="535030"/>
                  <a:pt x="3749625" y="535030"/>
                </a:cubicBezTo>
                <a:cubicBezTo>
                  <a:pt x="5434970" y="535030"/>
                  <a:pt x="7367767" y="6688"/>
                  <a:pt x="9053112" y="6688"/>
                </a:cubicBezTo>
                <a:cubicBezTo>
                  <a:pt x="10514413" y="6688"/>
                  <a:pt x="11561066" y="407961"/>
                  <a:pt x="12194074" y="203646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60000">
                <a:srgbClr val="E53238"/>
              </a:gs>
            </a:gsLst>
            <a:lin ang="18900000"/>
          </a:gradFill>
          <a:ln cap="rnd" cmpd="sng">
            <a:prstDash val="solid"/>
          </a:ln>
          <a:effectLst>
            <a:outerShdw blurRad="254000" dist="127000" dir="5400000" algn="ctr" rotWithShape="0">
              <a:schemeClr val="accent1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342900" indent="-34290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908988" y="3337800"/>
            <a:ext cx="1872000" cy="396000"/>
          </a:xfrm>
          <a:prstGeom prst="roundRect">
            <a:avLst>
              <a:gd name="adj" fmla="val 20277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1" i="1" u="none" baseline="0">
                <a:solidFill>
                  <a:schemeClr val="lt1"/>
                </a:solidFill>
                <a:latin typeface="Agency FB"/>
                <a:ea typeface="Agency FB"/>
              </a:rPr>
              <a:t>01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0400" y="1064449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86838" y="1273318"/>
            <a:ext cx="365444" cy="400583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525114" y="2160201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4736274" y="2404523"/>
            <a:ext cx="396000" cy="329676"/>
          </a:xfrm>
          <a:custGeom>
            <a:avLst/>
            <a:gdLst/>
            <a:ahLst/>
            <a:cxnLst/>
            <a:rect l="l" t="t" r="r" b="b"/>
            <a:pathLst>
              <a:path w="526297" h="438150">
                <a:moveTo>
                  <a:pt x="483573" y="133971"/>
                </a:moveTo>
                <a:cubicBezTo>
                  <a:pt x="507957" y="133971"/>
                  <a:pt x="527674" y="153688"/>
                  <a:pt x="527674" y="178072"/>
                </a:cubicBezTo>
                <a:cubicBezTo>
                  <a:pt x="527674" y="179215"/>
                  <a:pt x="527674" y="180358"/>
                  <a:pt x="527579" y="181501"/>
                </a:cubicBezTo>
                <a:lnTo>
                  <a:pt x="514244" y="355237"/>
                </a:lnTo>
                <a:cubicBezTo>
                  <a:pt x="513101" y="370096"/>
                  <a:pt x="500718" y="381621"/>
                  <a:pt x="485764" y="381621"/>
                </a:cubicBezTo>
                <a:lnTo>
                  <a:pt x="454998" y="381621"/>
                </a:lnTo>
                <a:lnTo>
                  <a:pt x="454998" y="438771"/>
                </a:lnTo>
                <a:lnTo>
                  <a:pt x="435948" y="438771"/>
                </a:lnTo>
                <a:lnTo>
                  <a:pt x="435948" y="381621"/>
                </a:lnTo>
                <a:lnTo>
                  <a:pt x="93048" y="381621"/>
                </a:lnTo>
                <a:lnTo>
                  <a:pt x="93048" y="438771"/>
                </a:lnTo>
                <a:lnTo>
                  <a:pt x="73998" y="438771"/>
                </a:lnTo>
                <a:lnTo>
                  <a:pt x="73998" y="381621"/>
                </a:lnTo>
                <a:lnTo>
                  <a:pt x="43328" y="381621"/>
                </a:lnTo>
                <a:cubicBezTo>
                  <a:pt x="28373" y="381621"/>
                  <a:pt x="15991" y="370096"/>
                  <a:pt x="14848" y="355237"/>
                </a:cubicBezTo>
                <a:lnTo>
                  <a:pt x="1513" y="181501"/>
                </a:lnTo>
                <a:cubicBezTo>
                  <a:pt x="-392" y="157212"/>
                  <a:pt x="17801" y="135971"/>
                  <a:pt x="42089" y="134162"/>
                </a:cubicBezTo>
                <a:cubicBezTo>
                  <a:pt x="43232" y="134066"/>
                  <a:pt x="44375" y="134066"/>
                  <a:pt x="45518" y="134066"/>
                </a:cubicBezTo>
                <a:cubicBezTo>
                  <a:pt x="73141" y="134066"/>
                  <a:pt x="96858" y="153688"/>
                  <a:pt x="101906" y="180834"/>
                </a:cubicBezTo>
                <a:lnTo>
                  <a:pt x="121623" y="286371"/>
                </a:lnTo>
                <a:lnTo>
                  <a:pt x="407373" y="286371"/>
                </a:lnTo>
                <a:lnTo>
                  <a:pt x="427185" y="180739"/>
                </a:lnTo>
                <a:cubicBezTo>
                  <a:pt x="432233" y="153592"/>
                  <a:pt x="455951" y="133971"/>
                  <a:pt x="483573" y="133971"/>
                </a:cubicBezTo>
                <a:close/>
                <a:moveTo>
                  <a:pt x="416898" y="621"/>
                </a:moveTo>
                <a:cubicBezTo>
                  <a:pt x="453760" y="621"/>
                  <a:pt x="483573" y="30434"/>
                  <a:pt x="483573" y="67296"/>
                </a:cubicBezTo>
                <a:lnTo>
                  <a:pt x="483573" y="115397"/>
                </a:lnTo>
                <a:cubicBezTo>
                  <a:pt x="481192" y="115112"/>
                  <a:pt x="478811" y="114921"/>
                  <a:pt x="476429" y="114921"/>
                </a:cubicBezTo>
                <a:cubicBezTo>
                  <a:pt x="445473" y="114921"/>
                  <a:pt x="418803" y="136448"/>
                  <a:pt x="412040" y="166451"/>
                </a:cubicBezTo>
                <a:lnTo>
                  <a:pt x="411564" y="168737"/>
                </a:lnTo>
                <a:lnTo>
                  <a:pt x="393086" y="267321"/>
                </a:lnTo>
                <a:lnTo>
                  <a:pt x="135911" y="267321"/>
                </a:lnTo>
                <a:lnTo>
                  <a:pt x="117432" y="168737"/>
                </a:lnTo>
                <a:cubicBezTo>
                  <a:pt x="111622" y="137495"/>
                  <a:pt x="84285" y="114921"/>
                  <a:pt x="52567" y="114921"/>
                </a:cubicBezTo>
                <a:lnTo>
                  <a:pt x="54948" y="67296"/>
                </a:lnTo>
                <a:cubicBezTo>
                  <a:pt x="54948" y="30434"/>
                  <a:pt x="84761" y="621"/>
                  <a:pt x="121623" y="621"/>
                </a:cubicBezTo>
                <a:lnTo>
                  <a:pt x="416898" y="621"/>
                </a:ln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756174" y="5592410"/>
            <a:ext cx="1872000" cy="396000"/>
          </a:xfrm>
          <a:prstGeom prst="roundRect">
            <a:avLst>
              <a:gd name="adj" fmla="val 20277"/>
            </a:avLst>
          </a:pr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0" i="0" u="none" baseline="0">
                <a:solidFill>
                  <a:schemeClr val="lt1"/>
                </a:solidFill>
                <a:latin typeface="Agency FB"/>
                <a:ea typeface="Agency FB"/>
              </a:rPr>
              <a:t>02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389831" y="1811849"/>
            <a:ext cx="818320" cy="818320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254000" algn="ctr" rotWithShape="0">
              <a:schemeClr val="accent1">
                <a:alpha val="20000"/>
              </a:scheme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>
              <a:lnSpc>
                <a:spcPct val="80000"/>
              </a:lnSpc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642296" y="2044724"/>
            <a:ext cx="327862" cy="352570"/>
          </a:xfrm>
          <a:custGeom>
            <a:avLst/>
            <a:gdLst/>
            <a:ahLst/>
            <a:cxnLst/>
            <a:rect l="l" t="t" r="r" b="b"/>
            <a:pathLst>
              <a:path w="487162" h="523875">
                <a:moveTo>
                  <a:pt x="8774" y="514114"/>
                </a:moveTo>
                <a:lnTo>
                  <a:pt x="8203" y="513447"/>
                </a:lnTo>
                <a:lnTo>
                  <a:pt x="8203" y="513447"/>
                </a:lnTo>
                <a:lnTo>
                  <a:pt x="7727" y="512780"/>
                </a:lnTo>
                <a:cubicBezTo>
                  <a:pt x="6964" y="511828"/>
                  <a:pt x="6393" y="510780"/>
                  <a:pt x="5726" y="509732"/>
                </a:cubicBezTo>
                <a:lnTo>
                  <a:pt x="5726" y="509732"/>
                </a:lnTo>
                <a:lnTo>
                  <a:pt x="5250" y="508970"/>
                </a:lnTo>
                <a:lnTo>
                  <a:pt x="4488" y="507446"/>
                </a:lnTo>
                <a:lnTo>
                  <a:pt x="3821" y="505827"/>
                </a:lnTo>
                <a:lnTo>
                  <a:pt x="3726" y="505637"/>
                </a:lnTo>
                <a:lnTo>
                  <a:pt x="3631" y="505351"/>
                </a:lnTo>
                <a:lnTo>
                  <a:pt x="3631" y="505160"/>
                </a:lnTo>
                <a:lnTo>
                  <a:pt x="2964" y="503160"/>
                </a:lnTo>
                <a:cubicBezTo>
                  <a:pt x="2869" y="502684"/>
                  <a:pt x="2678" y="502303"/>
                  <a:pt x="2583" y="501826"/>
                </a:cubicBezTo>
                <a:cubicBezTo>
                  <a:pt x="2393" y="501160"/>
                  <a:pt x="2202" y="500588"/>
                  <a:pt x="2107" y="499921"/>
                </a:cubicBezTo>
                <a:cubicBezTo>
                  <a:pt x="1726" y="498493"/>
                  <a:pt x="1535" y="497064"/>
                  <a:pt x="1250" y="495635"/>
                </a:cubicBezTo>
                <a:lnTo>
                  <a:pt x="964" y="493159"/>
                </a:lnTo>
                <a:cubicBezTo>
                  <a:pt x="773" y="490968"/>
                  <a:pt x="678" y="488777"/>
                  <a:pt x="773" y="486587"/>
                </a:cubicBezTo>
                <a:cubicBezTo>
                  <a:pt x="1059" y="480300"/>
                  <a:pt x="2583" y="474109"/>
                  <a:pt x="5345" y="468298"/>
                </a:cubicBezTo>
                <a:lnTo>
                  <a:pt x="154983" y="151592"/>
                </a:lnTo>
                <a:cubicBezTo>
                  <a:pt x="157364" y="146544"/>
                  <a:pt x="158603" y="140924"/>
                  <a:pt x="158603" y="135305"/>
                </a:cubicBezTo>
                <a:lnTo>
                  <a:pt x="158603" y="19671"/>
                </a:lnTo>
                <a:lnTo>
                  <a:pt x="120503" y="19671"/>
                </a:lnTo>
                <a:lnTo>
                  <a:pt x="120503" y="621"/>
                </a:lnTo>
                <a:lnTo>
                  <a:pt x="368153" y="621"/>
                </a:lnTo>
                <a:lnTo>
                  <a:pt x="368153" y="19671"/>
                </a:lnTo>
                <a:lnTo>
                  <a:pt x="330053" y="19671"/>
                </a:lnTo>
                <a:lnTo>
                  <a:pt x="330053" y="135305"/>
                </a:lnTo>
                <a:cubicBezTo>
                  <a:pt x="330053" y="140924"/>
                  <a:pt x="331291" y="146449"/>
                  <a:pt x="333672" y="151592"/>
                </a:cubicBezTo>
                <a:lnTo>
                  <a:pt x="483310" y="468298"/>
                </a:lnTo>
                <a:cubicBezTo>
                  <a:pt x="488834" y="480014"/>
                  <a:pt x="489406" y="493444"/>
                  <a:pt x="484834" y="505541"/>
                </a:cubicBezTo>
                <a:lnTo>
                  <a:pt x="484739" y="505732"/>
                </a:lnTo>
                <a:lnTo>
                  <a:pt x="484167" y="507160"/>
                </a:lnTo>
                <a:cubicBezTo>
                  <a:pt x="479690" y="517066"/>
                  <a:pt x="470165" y="523734"/>
                  <a:pt x="459307" y="524401"/>
                </a:cubicBezTo>
                <a:lnTo>
                  <a:pt x="457497" y="524496"/>
                </a:lnTo>
                <a:lnTo>
                  <a:pt x="31253" y="524496"/>
                </a:lnTo>
                <a:lnTo>
                  <a:pt x="29444" y="524401"/>
                </a:lnTo>
                <a:cubicBezTo>
                  <a:pt x="28586" y="524305"/>
                  <a:pt x="27824" y="524305"/>
                  <a:pt x="26967" y="524115"/>
                </a:cubicBezTo>
                <a:cubicBezTo>
                  <a:pt x="25634" y="523925"/>
                  <a:pt x="24395" y="523639"/>
                  <a:pt x="23157" y="523258"/>
                </a:cubicBezTo>
                <a:lnTo>
                  <a:pt x="23157" y="523258"/>
                </a:lnTo>
                <a:cubicBezTo>
                  <a:pt x="21252" y="522686"/>
                  <a:pt x="19347" y="521924"/>
                  <a:pt x="17633" y="520972"/>
                </a:cubicBezTo>
                <a:lnTo>
                  <a:pt x="16204" y="520210"/>
                </a:lnTo>
                <a:cubicBezTo>
                  <a:pt x="15918" y="520020"/>
                  <a:pt x="15632" y="519829"/>
                  <a:pt x="15251" y="519638"/>
                </a:cubicBezTo>
                <a:cubicBezTo>
                  <a:pt x="13442" y="518495"/>
                  <a:pt x="11727" y="517066"/>
                  <a:pt x="10298" y="515542"/>
                </a:cubicBezTo>
                <a:lnTo>
                  <a:pt x="8774" y="514114"/>
                </a:lnTo>
                <a:lnTo>
                  <a:pt x="8774" y="514114"/>
                </a:lnTo>
                <a:close/>
                <a:moveTo>
                  <a:pt x="255377" y="404767"/>
                </a:moveTo>
                <a:lnTo>
                  <a:pt x="252519" y="406576"/>
                </a:lnTo>
                <a:lnTo>
                  <a:pt x="246995" y="410291"/>
                </a:lnTo>
                <a:cubicBezTo>
                  <a:pt x="199751" y="441628"/>
                  <a:pt x="120217" y="442581"/>
                  <a:pt x="55161" y="416864"/>
                </a:cubicBezTo>
                <a:lnTo>
                  <a:pt x="51351" y="415339"/>
                </a:lnTo>
                <a:lnTo>
                  <a:pt x="22490" y="476395"/>
                </a:lnTo>
                <a:lnTo>
                  <a:pt x="21633" y="478300"/>
                </a:lnTo>
                <a:cubicBezTo>
                  <a:pt x="19156" y="484872"/>
                  <a:pt x="19061" y="492111"/>
                  <a:pt x="21538" y="498778"/>
                </a:cubicBezTo>
                <a:cubicBezTo>
                  <a:pt x="22776" y="502017"/>
                  <a:pt x="25443" y="504303"/>
                  <a:pt x="28681" y="505065"/>
                </a:cubicBezTo>
                <a:lnTo>
                  <a:pt x="29920" y="505255"/>
                </a:lnTo>
                <a:lnTo>
                  <a:pt x="31063" y="505351"/>
                </a:lnTo>
                <a:lnTo>
                  <a:pt x="457306" y="505351"/>
                </a:lnTo>
                <a:lnTo>
                  <a:pt x="458450" y="505255"/>
                </a:lnTo>
                <a:cubicBezTo>
                  <a:pt x="462260" y="504875"/>
                  <a:pt x="465498" y="502303"/>
                  <a:pt x="466831" y="498683"/>
                </a:cubicBezTo>
                <a:cubicBezTo>
                  <a:pt x="469118" y="492778"/>
                  <a:pt x="469308" y="486205"/>
                  <a:pt x="467403" y="480205"/>
                </a:cubicBezTo>
                <a:lnTo>
                  <a:pt x="466736" y="478205"/>
                </a:lnTo>
                <a:lnTo>
                  <a:pt x="465879" y="476300"/>
                </a:lnTo>
                <a:lnTo>
                  <a:pt x="424255" y="388098"/>
                </a:lnTo>
                <a:cubicBezTo>
                  <a:pt x="366152" y="373810"/>
                  <a:pt x="296715" y="379335"/>
                  <a:pt x="255377" y="404767"/>
                </a:cubicBezTo>
                <a:close/>
                <a:moveTo>
                  <a:pt x="306240" y="257796"/>
                </a:moveTo>
                <a:cubicBezTo>
                  <a:pt x="287857" y="257796"/>
                  <a:pt x="272903" y="272750"/>
                  <a:pt x="272903" y="291134"/>
                </a:cubicBezTo>
                <a:cubicBezTo>
                  <a:pt x="272903" y="309517"/>
                  <a:pt x="287857" y="324471"/>
                  <a:pt x="306240" y="324471"/>
                </a:cubicBezTo>
                <a:cubicBezTo>
                  <a:pt x="324623" y="324471"/>
                  <a:pt x="339578" y="309517"/>
                  <a:pt x="339578" y="291134"/>
                </a:cubicBezTo>
                <a:cubicBezTo>
                  <a:pt x="339578" y="272750"/>
                  <a:pt x="324623" y="257796"/>
                  <a:pt x="306240" y="257796"/>
                </a:cubicBezTo>
                <a:close/>
              </a:path>
            </a:pathLst>
          </a:custGeom>
          <a:gradFill>
            <a:gsLst>
              <a:gs pos="0">
                <a:srgbClr val="E53238">
                  <a:lumMod val="60000"/>
                  <a:lumOff val="40000"/>
                </a:srgbClr>
              </a:gs>
              <a:gs pos="90000">
                <a:srgbClr val="E53238"/>
              </a:gs>
            </a:gsLst>
            <a:lin ang="2700000"/>
          </a:gradFill>
        </p:spPr>
        <p:txBody>
          <a:bodyPr vert="horz" wrap="none" lIns="34290" tIns="17145" rIns="34290" bIns="17145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600896" y="5112574"/>
            <a:ext cx="1872000" cy="396000"/>
          </a:xfrm>
          <a:prstGeom prst="roundRect">
            <a:avLst>
              <a:gd name="adj" fmla="val 20277"/>
            </a:avLst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lnSpcReduction="10000"/>
          </a:bodyPr>
          <a:lstStyle/>
          <a:p>
            <a:pPr marL="0" algn="ctr"/>
            <a:r>
              <a:rPr lang="en-US" sz="1800" b="1" i="1" u="none" baseline="0">
                <a:solidFill>
                  <a:schemeClr val="lt1"/>
                </a:solidFill>
                <a:latin typeface="Agency FB"/>
                <a:ea typeface="Agency FB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1366" y="1445172"/>
            <a:ext cx="305390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Splitting the Data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88625" y="2090533"/>
            <a:ext cx="3067307" cy="1166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dataset is divided into training (80%) and test (20%) sets, ensuring unbiased model evaluation and generalization.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29720" y="2597500"/>
            <a:ext cx="305390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Stratified Sampling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196979" y="3181077"/>
            <a:ext cx="3067307" cy="1166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Stratified sampling preserves the original class distribution in both sets, maintaining data representativeness.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76706" y="1990788"/>
            <a:ext cx="3053903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Distribution Metrics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43965" y="2623792"/>
            <a:ext cx="3067307" cy="1166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stratified split ensures that the distribution of bankruptcy and non-bankruptcy cases is similar in both training and testing sets.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DC33E5C-4425-9CFF-7853-E62C665FA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4081"/>
            <a:ext cx="5229720" cy="30824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04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Model Development and Evaluation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05178">
            <a:off x="1026835" y="5008266"/>
            <a:ext cx="3662880" cy="314557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68000">
                <a:srgbClr val="EE37E9"/>
              </a:gs>
              <a:gs pos="92000">
                <a:srgbClr val="584CE0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7391156">
            <a:off x="-678293" y="-775201"/>
            <a:ext cx="6133934" cy="4640851"/>
          </a:xfrm>
          <a:custGeom>
            <a:avLst/>
            <a:gdLst/>
            <a:ahLst/>
            <a:cxnLst/>
            <a:rect l="l" t="t" r="r" b="b"/>
            <a:pathLst>
              <a:path w="5501899" h="4162662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309355" y="4380846"/>
                  <a:pt x="3556789" y="4069094"/>
                </a:cubicBezTo>
                <a:cubicBezTo>
                  <a:pt x="2804223" y="3757342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697939" y="461007"/>
            <a:ext cx="5388117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Model Selection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45964" y="2088257"/>
            <a:ext cx="3316486" cy="3316486"/>
          </a:xfrm>
          <a:prstGeom prst="ellipse">
            <a:avLst/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407914" y="2450207"/>
            <a:ext cx="2592586" cy="2592586"/>
          </a:xfrm>
          <a:prstGeom prst="ellipse">
            <a:avLst/>
          </a:prstGeom>
          <a:blipFill>
            <a:blip r:embed="rId2"/>
            <a:srcRect/>
            <a:tile tx="0" ty="0" sx="70000" sy="70000" algn="ctr"/>
          </a:blipFill>
          <a:ln cap="flat" cmpd="sng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646285" y="1985362"/>
            <a:ext cx="5035725" cy="102290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Several classification algorithms were tested, including Logistic Regression, Decision Tree, Random Forest, SVM, KNN, and Gaussian NB.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44755" y="1730451"/>
            <a:ext cx="5037255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Algorithm Choices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46285" y="3624577"/>
            <a:ext cx="5035725" cy="102290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Each model is trained on the balanced training dataset using appropriate preprocessing steps like scaling and label encoding.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44755" y="3326420"/>
            <a:ext cx="5037255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Model Training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46285" y="5305903"/>
            <a:ext cx="5035725" cy="1022909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This comprehensive approach ensures a thorough evaluation to select the best-performing model for bankruptcy prediction.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44755" y="5007746"/>
            <a:ext cx="5037255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Justification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97939" y="1475365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1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652384" y="3083719"/>
            <a:ext cx="824645" cy="84367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697939" y="4796103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AF80D1-5115-372C-BD5E-038058F74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5" y="3038453"/>
            <a:ext cx="5606680" cy="35612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099" y="192233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648845">
            <a:off x="2559540" y="4313298"/>
            <a:ext cx="3587509" cy="2657742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20625691">
            <a:off x="6233565" y="3530978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8611921" y="3504001"/>
            <a:ext cx="3662880" cy="314557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7953431" y="73041"/>
            <a:ext cx="3709163" cy="2743228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722187" y="2036769"/>
            <a:ext cx="3461958" cy="3069959"/>
          </a:xfrm>
          <a:custGeom>
            <a:avLst/>
            <a:gdLst/>
            <a:ahLst/>
            <a:cxnLst/>
            <a:rect l="l" t="t" r="r" b="b"/>
            <a:pathLst>
              <a:path w="1222" h="881">
                <a:moveTo>
                  <a:pt x="95" y="0"/>
                </a:moveTo>
                <a:cubicBezTo>
                  <a:pt x="43" y="0"/>
                  <a:pt x="0" y="42"/>
                  <a:pt x="0" y="96"/>
                </a:cubicBezTo>
                <a:cubicBezTo>
                  <a:pt x="0" y="785"/>
                  <a:pt x="0" y="785"/>
                  <a:pt x="0" y="785"/>
                </a:cubicBezTo>
                <a:cubicBezTo>
                  <a:pt x="0" y="839"/>
                  <a:pt x="43" y="881"/>
                  <a:pt x="95" y="881"/>
                </a:cubicBezTo>
                <a:cubicBezTo>
                  <a:pt x="98" y="881"/>
                  <a:pt x="101" y="881"/>
                  <a:pt x="104" y="881"/>
                </a:cubicBezTo>
                <a:cubicBezTo>
                  <a:pt x="1135" y="789"/>
                  <a:pt x="1135" y="789"/>
                  <a:pt x="1135" y="789"/>
                </a:cubicBezTo>
                <a:cubicBezTo>
                  <a:pt x="1184" y="785"/>
                  <a:pt x="1222" y="744"/>
                  <a:pt x="1222" y="694"/>
                </a:cubicBezTo>
                <a:cubicBezTo>
                  <a:pt x="1222" y="182"/>
                  <a:pt x="1222" y="182"/>
                  <a:pt x="1222" y="182"/>
                </a:cubicBezTo>
                <a:cubicBezTo>
                  <a:pt x="1222" y="132"/>
                  <a:pt x="1184" y="91"/>
                  <a:pt x="1134" y="87"/>
                </a:cubicBezTo>
                <a:cubicBezTo>
                  <a:pt x="103" y="0"/>
                  <a:pt x="103" y="0"/>
                  <a:pt x="103" y="0"/>
                </a:cubicBezTo>
                <a:cubicBezTo>
                  <a:pt x="101" y="0"/>
                  <a:pt x="98" y="0"/>
                  <a:pt x="95" y="0"/>
                </a:cubicBezTo>
              </a:path>
            </a:pathLst>
          </a:custGeom>
          <a:solidFill>
            <a:srgbClr val="F3F3F3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943946" y="2905044"/>
            <a:ext cx="2903610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chemeClr val="accent1"/>
                </a:solidFill>
                <a:latin typeface="微软雅黑"/>
                <a:ea typeface="微软雅黑"/>
              </a:rPr>
              <a:t>Key Metrics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1054398" y="2169306"/>
            <a:ext cx="606420" cy="499563"/>
          </a:xfrm>
          <a:custGeom>
            <a:avLst/>
            <a:gdLst/>
            <a:ahLst/>
            <a:cxnLst/>
            <a:rect l="l" t="t" r="r" b="b"/>
            <a:pathLst>
              <a:path w="514350" h="409575">
                <a:moveTo>
                  <a:pt x="486767" y="621"/>
                </a:moveTo>
                <a:cubicBezTo>
                  <a:pt x="502960" y="621"/>
                  <a:pt x="515342" y="13004"/>
                  <a:pt x="515342" y="29196"/>
                </a:cubicBezTo>
                <a:lnTo>
                  <a:pt x="515342" y="324471"/>
                </a:lnTo>
                <a:cubicBezTo>
                  <a:pt x="515342" y="340664"/>
                  <a:pt x="502960" y="353046"/>
                  <a:pt x="486767" y="353046"/>
                </a:cubicBezTo>
                <a:lnTo>
                  <a:pt x="192445" y="353046"/>
                </a:lnTo>
                <a:lnTo>
                  <a:pt x="115292" y="410196"/>
                </a:lnTo>
                <a:lnTo>
                  <a:pt x="115292" y="353046"/>
                </a:lnTo>
                <a:lnTo>
                  <a:pt x="29567" y="353046"/>
                </a:lnTo>
                <a:cubicBezTo>
                  <a:pt x="13374" y="353046"/>
                  <a:pt x="992" y="340664"/>
                  <a:pt x="992" y="324471"/>
                </a:cubicBezTo>
                <a:lnTo>
                  <a:pt x="992" y="29196"/>
                </a:lnTo>
                <a:cubicBezTo>
                  <a:pt x="992" y="13004"/>
                  <a:pt x="13374" y="621"/>
                  <a:pt x="29567" y="621"/>
                </a:cubicBezTo>
                <a:lnTo>
                  <a:pt x="486767" y="621"/>
                </a:lnTo>
                <a:close/>
                <a:moveTo>
                  <a:pt x="124817" y="143496"/>
                </a:moveTo>
                <a:cubicBezTo>
                  <a:pt x="106720" y="143496"/>
                  <a:pt x="91480" y="158736"/>
                  <a:pt x="91480" y="176834"/>
                </a:cubicBezTo>
                <a:cubicBezTo>
                  <a:pt x="91480" y="194931"/>
                  <a:pt x="106720" y="210171"/>
                  <a:pt x="124817" y="210171"/>
                </a:cubicBezTo>
                <a:cubicBezTo>
                  <a:pt x="142914" y="210171"/>
                  <a:pt x="158155" y="194931"/>
                  <a:pt x="158155" y="176834"/>
                </a:cubicBezTo>
                <a:cubicBezTo>
                  <a:pt x="158155" y="157784"/>
                  <a:pt x="142914" y="143496"/>
                  <a:pt x="124817" y="143496"/>
                </a:cubicBezTo>
                <a:close/>
                <a:moveTo>
                  <a:pt x="258167" y="143496"/>
                </a:moveTo>
                <a:cubicBezTo>
                  <a:pt x="240070" y="143496"/>
                  <a:pt x="224830" y="158736"/>
                  <a:pt x="224830" y="176834"/>
                </a:cubicBezTo>
                <a:cubicBezTo>
                  <a:pt x="224830" y="194931"/>
                  <a:pt x="240070" y="210171"/>
                  <a:pt x="258167" y="210171"/>
                </a:cubicBezTo>
                <a:cubicBezTo>
                  <a:pt x="276264" y="210171"/>
                  <a:pt x="291505" y="194931"/>
                  <a:pt x="291505" y="176834"/>
                </a:cubicBezTo>
                <a:cubicBezTo>
                  <a:pt x="291505" y="157784"/>
                  <a:pt x="276264" y="143496"/>
                  <a:pt x="258167" y="143496"/>
                </a:cubicBezTo>
                <a:close/>
                <a:moveTo>
                  <a:pt x="391517" y="143496"/>
                </a:moveTo>
                <a:cubicBezTo>
                  <a:pt x="373420" y="143496"/>
                  <a:pt x="358180" y="158736"/>
                  <a:pt x="358180" y="176834"/>
                </a:cubicBezTo>
                <a:cubicBezTo>
                  <a:pt x="358180" y="194931"/>
                  <a:pt x="373420" y="210171"/>
                  <a:pt x="391517" y="210171"/>
                </a:cubicBezTo>
                <a:cubicBezTo>
                  <a:pt x="409614" y="210171"/>
                  <a:pt x="424855" y="194931"/>
                  <a:pt x="424855" y="176834"/>
                </a:cubicBezTo>
                <a:cubicBezTo>
                  <a:pt x="424855" y="157784"/>
                  <a:pt x="409614" y="143496"/>
                  <a:pt x="391517" y="143496"/>
                </a:cubicBezTo>
                <a:close/>
              </a:path>
            </a:pathLst>
          </a:custGeom>
          <a:solidFill>
            <a:schemeClr val="accent1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 flipH="1">
            <a:off x="4422274" y="2342494"/>
            <a:ext cx="3461958" cy="3069959"/>
          </a:xfrm>
          <a:custGeom>
            <a:avLst/>
            <a:gdLst/>
            <a:ahLst/>
            <a:cxnLst/>
            <a:rect l="l" t="t" r="r" b="b"/>
            <a:pathLst>
              <a:path w="1222" h="881">
                <a:moveTo>
                  <a:pt x="95" y="0"/>
                </a:moveTo>
                <a:cubicBezTo>
                  <a:pt x="43" y="0"/>
                  <a:pt x="0" y="42"/>
                  <a:pt x="0" y="96"/>
                </a:cubicBezTo>
                <a:cubicBezTo>
                  <a:pt x="0" y="785"/>
                  <a:pt x="0" y="785"/>
                  <a:pt x="0" y="785"/>
                </a:cubicBezTo>
                <a:cubicBezTo>
                  <a:pt x="0" y="839"/>
                  <a:pt x="43" y="881"/>
                  <a:pt x="95" y="881"/>
                </a:cubicBezTo>
                <a:cubicBezTo>
                  <a:pt x="98" y="881"/>
                  <a:pt x="101" y="881"/>
                  <a:pt x="104" y="881"/>
                </a:cubicBezTo>
                <a:cubicBezTo>
                  <a:pt x="1135" y="789"/>
                  <a:pt x="1135" y="789"/>
                  <a:pt x="1135" y="789"/>
                </a:cubicBezTo>
                <a:cubicBezTo>
                  <a:pt x="1184" y="785"/>
                  <a:pt x="1222" y="744"/>
                  <a:pt x="1222" y="694"/>
                </a:cubicBezTo>
                <a:cubicBezTo>
                  <a:pt x="1222" y="182"/>
                  <a:pt x="1222" y="182"/>
                  <a:pt x="1222" y="182"/>
                </a:cubicBezTo>
                <a:cubicBezTo>
                  <a:pt x="1222" y="132"/>
                  <a:pt x="1184" y="91"/>
                  <a:pt x="1134" y="87"/>
                </a:cubicBezTo>
                <a:cubicBezTo>
                  <a:pt x="103" y="0"/>
                  <a:pt x="103" y="0"/>
                  <a:pt x="103" y="0"/>
                </a:cubicBezTo>
                <a:cubicBezTo>
                  <a:pt x="101" y="0"/>
                  <a:pt x="98" y="0"/>
                  <a:pt x="95" y="0"/>
                </a:cubicBezTo>
              </a:path>
            </a:pathLst>
          </a:custGeom>
          <a:solidFill>
            <a:srgbClr val="F3F3F3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636020" y="3053519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Classification Reports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7039093" y="2482696"/>
            <a:ext cx="534565" cy="606199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930" y="621"/>
                  <a:pt x="496420" y="111111"/>
                  <a:pt x="496420" y="248271"/>
                </a:cubicBezTo>
                <a:cubicBezTo>
                  <a:pt x="496420" y="358761"/>
                  <a:pt x="424030" y="452106"/>
                  <a:pt x="324017" y="484491"/>
                </a:cubicBezTo>
                <a:lnTo>
                  <a:pt x="346877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663" y="524496"/>
                </a:lnTo>
                <a:lnTo>
                  <a:pt x="173523" y="484491"/>
                </a:lnTo>
                <a:cubicBezTo>
                  <a:pt x="73510" y="453059"/>
                  <a:pt x="1120" y="358761"/>
                  <a:pt x="1120" y="248271"/>
                </a:cubicBezTo>
                <a:cubicBezTo>
                  <a:pt x="1120" y="111111"/>
                  <a:pt x="111610" y="621"/>
                  <a:pt x="248770" y="621"/>
                </a:cubicBezTo>
                <a:close/>
                <a:moveTo>
                  <a:pt x="192573" y="489254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967" y="489254"/>
                </a:lnTo>
                <a:cubicBezTo>
                  <a:pt x="286870" y="493064"/>
                  <a:pt x="267820" y="495921"/>
                  <a:pt x="248770" y="495921"/>
                </a:cubicBezTo>
                <a:cubicBezTo>
                  <a:pt x="229720" y="495921"/>
                  <a:pt x="210670" y="493064"/>
                  <a:pt x="192573" y="489254"/>
                </a:cubicBezTo>
                <a:close/>
                <a:moveTo>
                  <a:pt x="248770" y="143496"/>
                </a:moveTo>
                <a:cubicBezTo>
                  <a:pt x="190667" y="143496"/>
                  <a:pt x="143995" y="190169"/>
                  <a:pt x="143995" y="248271"/>
                </a:cubicBezTo>
                <a:cubicBezTo>
                  <a:pt x="143995" y="306374"/>
                  <a:pt x="190667" y="353046"/>
                  <a:pt x="248770" y="353046"/>
                </a:cubicBezTo>
                <a:cubicBezTo>
                  <a:pt x="306873" y="353046"/>
                  <a:pt x="353545" y="306374"/>
                  <a:pt x="353545" y="248271"/>
                </a:cubicBezTo>
                <a:cubicBezTo>
                  <a:pt x="353545" y="190169"/>
                  <a:pt x="306873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60213" y="114921"/>
                  <a:pt x="353545" y="121589"/>
                  <a:pt x="353545" y="129209"/>
                </a:cubicBezTo>
                <a:cubicBezTo>
                  <a:pt x="353545" y="136829"/>
                  <a:pt x="360213" y="143496"/>
                  <a:pt x="367833" y="143496"/>
                </a:cubicBezTo>
                <a:cubicBezTo>
                  <a:pt x="375452" y="143496"/>
                  <a:pt x="382120" y="136829"/>
                  <a:pt x="382120" y="129209"/>
                </a:cubicBezTo>
                <a:cubicBezTo>
                  <a:pt x="382120" y="121589"/>
                  <a:pt x="375452" y="114921"/>
                  <a:pt x="367833" y="114921"/>
                </a:cubicBezTo>
                <a:close/>
              </a:path>
            </a:pathLst>
          </a:custGeom>
          <a:solidFill>
            <a:srgbClr val="6C798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097978" y="2169306"/>
            <a:ext cx="3461958" cy="3069959"/>
          </a:xfrm>
          <a:custGeom>
            <a:avLst/>
            <a:gdLst/>
            <a:ahLst/>
            <a:cxnLst/>
            <a:rect l="l" t="t" r="r" b="b"/>
            <a:pathLst>
              <a:path w="1222" h="881">
                <a:moveTo>
                  <a:pt x="95" y="0"/>
                </a:moveTo>
                <a:cubicBezTo>
                  <a:pt x="43" y="0"/>
                  <a:pt x="0" y="42"/>
                  <a:pt x="0" y="96"/>
                </a:cubicBezTo>
                <a:cubicBezTo>
                  <a:pt x="0" y="785"/>
                  <a:pt x="0" y="785"/>
                  <a:pt x="0" y="785"/>
                </a:cubicBezTo>
                <a:cubicBezTo>
                  <a:pt x="0" y="839"/>
                  <a:pt x="43" y="881"/>
                  <a:pt x="95" y="881"/>
                </a:cubicBezTo>
                <a:cubicBezTo>
                  <a:pt x="98" y="881"/>
                  <a:pt x="101" y="881"/>
                  <a:pt x="104" y="881"/>
                </a:cubicBezTo>
                <a:cubicBezTo>
                  <a:pt x="1135" y="789"/>
                  <a:pt x="1135" y="789"/>
                  <a:pt x="1135" y="789"/>
                </a:cubicBezTo>
                <a:cubicBezTo>
                  <a:pt x="1184" y="785"/>
                  <a:pt x="1222" y="744"/>
                  <a:pt x="1222" y="694"/>
                </a:cubicBezTo>
                <a:cubicBezTo>
                  <a:pt x="1222" y="182"/>
                  <a:pt x="1222" y="182"/>
                  <a:pt x="1222" y="182"/>
                </a:cubicBezTo>
                <a:cubicBezTo>
                  <a:pt x="1222" y="132"/>
                  <a:pt x="1184" y="91"/>
                  <a:pt x="1134" y="87"/>
                </a:cubicBezTo>
                <a:cubicBezTo>
                  <a:pt x="103" y="0"/>
                  <a:pt x="103" y="0"/>
                  <a:pt x="103" y="0"/>
                </a:cubicBezTo>
                <a:cubicBezTo>
                  <a:pt x="101" y="0"/>
                  <a:pt x="98" y="0"/>
                  <a:pt x="95" y="0"/>
                </a:cubicBezTo>
              </a:path>
            </a:pathLst>
          </a:custGeom>
          <a:solidFill>
            <a:srgbClr val="F3F3F3"/>
          </a:solidFill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319706" y="3038130"/>
            <a:ext cx="2928348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Confusion Matrices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8491624" y="2348447"/>
            <a:ext cx="463225" cy="625354"/>
          </a:xfrm>
          <a:custGeom>
            <a:avLst/>
            <a:gdLst/>
            <a:ahLst/>
            <a:cxnLst/>
            <a:rect l="l" t="t" r="r" b="b"/>
            <a:pathLst>
              <a:path w="381000" h="514350">
                <a:moveTo>
                  <a:pt x="86973" y="38721"/>
                </a:moveTo>
                <a:lnTo>
                  <a:pt x="86973" y="57771"/>
                </a:lnTo>
                <a:cubicBezTo>
                  <a:pt x="86973" y="77774"/>
                  <a:pt x="103166" y="94919"/>
                  <a:pt x="123168" y="95871"/>
                </a:cubicBezTo>
                <a:lnTo>
                  <a:pt x="125073" y="95871"/>
                </a:lnTo>
                <a:lnTo>
                  <a:pt x="258423" y="95871"/>
                </a:lnTo>
                <a:cubicBezTo>
                  <a:pt x="278426" y="95871"/>
                  <a:pt x="295570" y="79679"/>
                  <a:pt x="296523" y="59676"/>
                </a:cubicBezTo>
                <a:lnTo>
                  <a:pt x="296523" y="57771"/>
                </a:lnTo>
                <a:lnTo>
                  <a:pt x="296523" y="38721"/>
                </a:lnTo>
                <a:lnTo>
                  <a:pt x="353673" y="38721"/>
                </a:lnTo>
                <a:cubicBezTo>
                  <a:pt x="369866" y="38721"/>
                  <a:pt x="382248" y="51104"/>
                  <a:pt x="382248" y="67296"/>
                </a:cubicBezTo>
                <a:lnTo>
                  <a:pt x="382248" y="486396"/>
                </a:lnTo>
                <a:cubicBezTo>
                  <a:pt x="382248" y="502589"/>
                  <a:pt x="369866" y="514971"/>
                  <a:pt x="353673" y="514971"/>
                </a:cubicBezTo>
                <a:lnTo>
                  <a:pt x="29823" y="514971"/>
                </a:lnTo>
                <a:cubicBezTo>
                  <a:pt x="13630" y="514971"/>
                  <a:pt x="1248" y="502589"/>
                  <a:pt x="1248" y="486396"/>
                </a:cubicBezTo>
                <a:lnTo>
                  <a:pt x="1248" y="67296"/>
                </a:lnTo>
                <a:cubicBezTo>
                  <a:pt x="1248" y="51104"/>
                  <a:pt x="13630" y="38721"/>
                  <a:pt x="29823" y="38721"/>
                </a:cubicBezTo>
                <a:lnTo>
                  <a:pt x="86973" y="38721"/>
                </a:lnTo>
                <a:close/>
                <a:moveTo>
                  <a:pt x="191748" y="333996"/>
                </a:moveTo>
                <a:lnTo>
                  <a:pt x="77448" y="333996"/>
                </a:lnTo>
                <a:lnTo>
                  <a:pt x="77448" y="353046"/>
                </a:lnTo>
                <a:lnTo>
                  <a:pt x="191748" y="353046"/>
                </a:lnTo>
                <a:lnTo>
                  <a:pt x="191748" y="333996"/>
                </a:lnTo>
                <a:close/>
                <a:moveTo>
                  <a:pt x="306048" y="257796"/>
                </a:moveTo>
                <a:lnTo>
                  <a:pt x="77448" y="257796"/>
                </a:lnTo>
                <a:lnTo>
                  <a:pt x="77448" y="276846"/>
                </a:lnTo>
                <a:lnTo>
                  <a:pt x="306048" y="276846"/>
                </a:lnTo>
                <a:lnTo>
                  <a:pt x="306048" y="257796"/>
                </a:lnTo>
                <a:close/>
                <a:moveTo>
                  <a:pt x="306048" y="181596"/>
                </a:moveTo>
                <a:lnTo>
                  <a:pt x="77448" y="181596"/>
                </a:lnTo>
                <a:lnTo>
                  <a:pt x="77448" y="200646"/>
                </a:lnTo>
                <a:lnTo>
                  <a:pt x="306048" y="200646"/>
                </a:lnTo>
                <a:lnTo>
                  <a:pt x="306048" y="181596"/>
                </a:lnTo>
                <a:close/>
                <a:moveTo>
                  <a:pt x="248898" y="621"/>
                </a:moveTo>
                <a:cubicBezTo>
                  <a:pt x="265091" y="621"/>
                  <a:pt x="277473" y="13004"/>
                  <a:pt x="277473" y="29196"/>
                </a:cubicBezTo>
                <a:lnTo>
                  <a:pt x="277473" y="48246"/>
                </a:lnTo>
                <a:cubicBezTo>
                  <a:pt x="277473" y="64439"/>
                  <a:pt x="265091" y="76821"/>
                  <a:pt x="248898" y="76821"/>
                </a:cubicBezTo>
                <a:lnTo>
                  <a:pt x="134598" y="76821"/>
                </a:lnTo>
                <a:cubicBezTo>
                  <a:pt x="118405" y="76821"/>
                  <a:pt x="106023" y="64439"/>
                  <a:pt x="106023" y="48246"/>
                </a:cubicBezTo>
                <a:lnTo>
                  <a:pt x="106023" y="29196"/>
                </a:lnTo>
                <a:cubicBezTo>
                  <a:pt x="106023" y="13004"/>
                  <a:pt x="118405" y="621"/>
                  <a:pt x="134598" y="621"/>
                </a:cubicBezTo>
                <a:lnTo>
                  <a:pt x="248898" y="621"/>
                </a:lnTo>
                <a:close/>
              </a:path>
            </a:pathLst>
          </a:custGeom>
          <a:solidFill>
            <a:srgbClr val="6C798A"/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Performance Metrics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60999" y="3359216"/>
            <a:ext cx="2903610" cy="144398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Evaluation metrics include precision, recall, F1-score, accuracy, AUC (Area Under the Curve), and confusion matrix.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03280" y="3532064"/>
            <a:ext cx="2903610" cy="1166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Detailed classification reports provide insights into model performance at each class level, aiding in evaluating model effectiveness.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344444" y="3540026"/>
            <a:ext cx="2903610" cy="116698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2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Confusion matrices visually represent prediction accuracy, highlighting true positives, true negatives, false positives, and false negatives.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3201" y="729582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0625691">
            <a:off x="8803094" y="584123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Best Models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>
            <a:off x="1002711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6" name="Connector 6"/>
          <p:cNvCxnSpPr/>
          <p:nvPr/>
        </p:nvCxnSpPr>
        <p:spPr>
          <a:xfrm>
            <a:off x="4808191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7" name="Connector 7"/>
          <p:cNvCxnSpPr/>
          <p:nvPr/>
        </p:nvCxnSpPr>
        <p:spPr>
          <a:xfrm>
            <a:off x="8613670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grpSp>
        <p:nvGrpSpPr>
          <p:cNvPr id="8" name="Group 8"/>
          <p:cNvGrpSpPr/>
          <p:nvPr/>
        </p:nvGrpSpPr>
        <p:grpSpPr>
          <a:xfrm>
            <a:off x="736481" y="2367585"/>
            <a:ext cx="3240000" cy="3918235"/>
            <a:chOff x="667941" y="1728113"/>
            <a:chExt cx="3240000" cy="3918235"/>
          </a:xfrm>
        </p:grpSpPr>
        <p:sp>
          <p:nvSpPr>
            <p:cNvPr id="9" name="Freeform 9"/>
            <p:cNvSpPr/>
            <p:nvPr/>
          </p:nvSpPr>
          <p:spPr>
            <a:xfrm>
              <a:off x="669108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67941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7941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01.</a:t>
              </a:r>
              <a:endParaRPr lang="en-US" sz="11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41961" y="2367585"/>
            <a:ext cx="3240000" cy="3918235"/>
            <a:chOff x="4473421" y="1728113"/>
            <a:chExt cx="3240000" cy="3918235"/>
          </a:xfrm>
        </p:grpSpPr>
        <p:sp>
          <p:nvSpPr>
            <p:cNvPr id="13" name="Freeform 13"/>
            <p:cNvSpPr/>
            <p:nvPr/>
          </p:nvSpPr>
          <p:spPr>
            <a:xfrm>
              <a:off x="4474588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4473421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3421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02.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347440" y="2367585"/>
            <a:ext cx="3240000" cy="3918235"/>
            <a:chOff x="8278900" y="1728113"/>
            <a:chExt cx="3240000" cy="3918235"/>
          </a:xfrm>
        </p:grpSpPr>
        <p:sp>
          <p:nvSpPr>
            <p:cNvPr id="17" name="Freeform 17"/>
            <p:cNvSpPr/>
            <p:nvPr/>
          </p:nvSpPr>
          <p:spPr>
            <a:xfrm>
              <a:off x="8280067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278900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38900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03.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4189" y="322122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Top Performers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1449" y="3743017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Logistic Regression, Decision Tree, Random Forest, SVM, KNN, and Gaussian NB achieved perfect scores, indicating strong predictive capabilities.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55203" y="322122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AUC Scores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722463" y="3743017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All selected models attained an AUC score of 1.0000, signifying exceptional ability to distinguish between bankruptcy and non-bankruptcy cases.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61860" y="322122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Model Selection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29120" y="3743017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Perfect scores on small test data can indicate overfitting; better if we try on larger data, then we can know how our model performs.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2920" y="-838200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0625691">
            <a:off x="9260293" y="-831626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98775" y="228600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Best Models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>
            <a:off x="1002711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6" name="Connector 6"/>
          <p:cNvCxnSpPr/>
          <p:nvPr/>
        </p:nvCxnSpPr>
        <p:spPr>
          <a:xfrm>
            <a:off x="4808191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cxnSp>
        <p:nvCxnSpPr>
          <p:cNvPr id="7" name="Connector 7"/>
          <p:cNvCxnSpPr/>
          <p:nvPr/>
        </p:nvCxnSpPr>
        <p:spPr>
          <a:xfrm>
            <a:off x="8613670" y="4305215"/>
            <a:ext cx="2700000" cy="0"/>
          </a:xfrm>
          <a:prstGeom prst="line">
            <a:avLst/>
          </a:prstGeom>
          <a:ln w="6350" cap="flat" cmpd="sng">
            <a:solidFill>
              <a:srgbClr val="FFFFFF">
                <a:lumMod val="85000"/>
              </a:srgbClr>
            </a:solidFill>
            <a:prstDash val="solid"/>
          </a:ln>
        </p:spPr>
      </p:cxnSp>
      <p:grpSp>
        <p:nvGrpSpPr>
          <p:cNvPr id="8" name="Group 8"/>
          <p:cNvGrpSpPr/>
          <p:nvPr/>
        </p:nvGrpSpPr>
        <p:grpSpPr>
          <a:xfrm>
            <a:off x="76200" y="799803"/>
            <a:ext cx="3240000" cy="3918235"/>
            <a:chOff x="667941" y="1728113"/>
            <a:chExt cx="3240000" cy="3918235"/>
          </a:xfrm>
        </p:grpSpPr>
        <p:sp>
          <p:nvSpPr>
            <p:cNvPr id="9" name="Freeform 9"/>
            <p:cNvSpPr/>
            <p:nvPr/>
          </p:nvSpPr>
          <p:spPr>
            <a:xfrm>
              <a:off x="669108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67941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7941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01.</a:t>
              </a:r>
              <a:endParaRPr lang="en-US" sz="110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37200" y="958565"/>
            <a:ext cx="3240000" cy="3918235"/>
            <a:chOff x="4473421" y="1728113"/>
            <a:chExt cx="3240000" cy="3918235"/>
          </a:xfrm>
        </p:grpSpPr>
        <p:sp>
          <p:nvSpPr>
            <p:cNvPr id="13" name="Freeform 13"/>
            <p:cNvSpPr/>
            <p:nvPr/>
          </p:nvSpPr>
          <p:spPr>
            <a:xfrm>
              <a:off x="4474588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4473421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3421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02.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804639" y="951836"/>
            <a:ext cx="3240000" cy="3918235"/>
            <a:chOff x="8278900" y="1728113"/>
            <a:chExt cx="3240000" cy="3918235"/>
          </a:xfrm>
        </p:grpSpPr>
        <p:sp>
          <p:nvSpPr>
            <p:cNvPr id="17" name="Freeform 17"/>
            <p:cNvSpPr/>
            <p:nvPr/>
          </p:nvSpPr>
          <p:spPr>
            <a:xfrm>
              <a:off x="8280067" y="1728113"/>
              <a:ext cx="2246086" cy="1008000"/>
            </a:xfrm>
            <a:custGeom>
              <a:avLst/>
              <a:gdLst/>
              <a:ahLst/>
              <a:cxnLst/>
              <a:rect l="l" t="t" r="r" b="b"/>
              <a:pathLst>
                <a:path w="1952625" h="876300">
                  <a:moveTo>
                    <a:pt x="1952625" y="595503"/>
                  </a:moveTo>
                  <a:lnTo>
                    <a:pt x="0" y="876300"/>
                  </a:lnTo>
                  <a:lnTo>
                    <a:pt x="0" y="160211"/>
                  </a:lnTo>
                  <a:cubicBezTo>
                    <a:pt x="0" y="71729"/>
                    <a:pt x="71729" y="0"/>
                    <a:pt x="160211" y="0"/>
                  </a:cubicBezTo>
                  <a:lnTo>
                    <a:pt x="1328357" y="0"/>
                  </a:lnTo>
                  <a:cubicBezTo>
                    <a:pt x="1377763" y="12"/>
                    <a:pt x="1424407" y="22823"/>
                    <a:pt x="1454753" y="61817"/>
                  </a:cubicBezTo>
                  <a:lnTo>
                    <a:pt x="1619250" y="285750"/>
                  </a:lnTo>
                  <a:cubicBezTo>
                    <a:pt x="1701165" y="391001"/>
                    <a:pt x="1781175" y="561975"/>
                    <a:pt x="1952625" y="595503"/>
                  </a:cubicBezTo>
                  <a:close/>
                </a:path>
              </a:pathLst>
            </a:custGeom>
            <a:gradFill>
              <a:gsLst>
                <a:gs pos="0">
                  <a:srgbClr val="E53238">
                    <a:lumMod val="60000"/>
                    <a:lumOff val="40000"/>
                  </a:srgbClr>
                </a:gs>
                <a:gs pos="60000">
                  <a:srgbClr val="E53238"/>
                </a:gs>
              </a:gsLst>
              <a:lin ang="5400000"/>
            </a:gradFill>
            <a:ln cap="rnd" cmpd="sng">
              <a:prstDash val="solid"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278900" y="2406348"/>
              <a:ext cx="3240000" cy="3240000"/>
            </a:xfrm>
            <a:prstGeom prst="roundRect">
              <a:avLst>
                <a:gd name="adj" fmla="val 6740"/>
              </a:avLst>
            </a:prstGeom>
            <a:solidFill>
              <a:srgbClr val="FFFFFF"/>
            </a:solidFill>
            <a:ln cap="flat" cmpd="sng">
              <a:prstDash val="solid"/>
            </a:ln>
            <a:effectLst>
              <a:outerShdw blurRad="317500" dist="127000" dir="5400000" algn="ctr" rotWithShape="0">
                <a:schemeClr val="accent1">
                  <a:alpha val="20000"/>
                </a:scheme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38900" y="1917117"/>
              <a:ext cx="864000" cy="36000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 fontScale="92500" lnSpcReduction="20000"/>
            </a:bodyPr>
            <a:lstStyle/>
            <a:p>
              <a:pPr marL="0" algn="l">
                <a:defRPr/>
              </a:pPr>
              <a:r>
                <a:rPr lang="en-US" sz="2220" b="0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03.</a:t>
              </a:r>
              <a:endParaRPr lang="en-US" sz="11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73908" y="1653443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Top Performers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41168" y="2175235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Logistic Regression, Decision Tree, Random Forest, SVM, KNN, and Gaussian NB achieved perfect scores, indicating strong predictive capabilities.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50442" y="181220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altLang="zh-CN" sz="1600" b="1" i="0" u="none" baseline="0" dirty="0">
                <a:solidFill>
                  <a:srgbClr val="778495"/>
                </a:solidFill>
                <a:latin typeface="微软雅黑"/>
                <a:ea typeface="微软雅黑"/>
              </a:rPr>
              <a:t>Cross Validation</a:t>
            </a:r>
            <a:r>
              <a:rPr lang="en-US" altLang="zh-CN" sz="1600" b="1" i="0" u="none" dirty="0">
                <a:solidFill>
                  <a:srgbClr val="778495"/>
                </a:solidFill>
                <a:latin typeface="微软雅黑"/>
                <a:ea typeface="微软雅黑"/>
              </a:rPr>
              <a:t> Score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5017702" y="2154567"/>
            <a:ext cx="2903610" cy="1993238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All selected models attained an </a:t>
            </a:r>
            <a:r>
              <a:rPr lang="en-US" altLang="zh-CN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Cross validation score </a:t>
            </a:r>
            <a:r>
              <a:rPr lang="zh-CN" altLang="en-US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of </a:t>
            </a:r>
            <a:r>
              <a:rPr lang="en-US" altLang="zh-CN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above 0.95</a:t>
            </a:r>
            <a:r>
              <a:rPr lang="zh-CN" altLang="en-US" sz="1400" b="0" i="0" u="none" baseline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, signifying exceptional ability to distinguish between bankruptcy and non-bankruptcy cases.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019059" y="1805476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Model Selection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86319" y="2327268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Perfect scores on small test data can indicate overfitting; better if we try on larger data, then we can know how our model performs.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CA18E2C-59C1-640B-ED8E-A27FFDAE4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11" y="4219895"/>
            <a:ext cx="6305812" cy="25434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57854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2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05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Logistic Regression Analysis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311779" y="-2007445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" name="TextBox 2"/>
          <p:cNvSpPr txBox="1"/>
          <p:nvPr/>
        </p:nvSpPr>
        <p:spPr>
          <a:xfrm>
            <a:off x="1074040" y="389747"/>
            <a:ext cx="7993759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Why We Choose Logistic Regression</a:t>
            </a:r>
            <a:endParaRPr lang="en-US" sz="1100" dirty="0"/>
          </a:p>
        </p:txBody>
      </p:sp>
      <p:sp>
        <p:nvSpPr>
          <p:cNvPr id="4" name="Freeform 4"/>
          <p:cNvSpPr/>
          <p:nvPr/>
        </p:nvSpPr>
        <p:spPr>
          <a:xfrm rot="648845">
            <a:off x="6492119" y="5637329"/>
            <a:ext cx="3587509" cy="2657742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20625691">
            <a:off x="6815341" y="2579748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987847" y="3100310"/>
            <a:ext cx="3662880" cy="314557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8987847" y="-12590"/>
            <a:ext cx="3709163" cy="2743228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650830" y="1233722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Perfect for Binary Classification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658205" y="1656338"/>
            <a:ext cx="4883162" cy="102374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Logistic Regression is designed for Yes/No, 0/1, Good/Bad type predictions. Bankruptcy prediction is also binary — so it fits naturally.</a:t>
            </a:r>
            <a:endParaRPr lang="zh-CN" altLang="en-US" sz="1400" b="0" i="0" u="none" baseline="0" dirty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50829" y="3072282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Interpretable and Easy to Explain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658204" y="3494898"/>
            <a:ext cx="4883162" cy="102374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It tells how each feature affects the probability of an outcome. Stakeholders understand it easily: simple coefficients, odds, and probabilities.</a:t>
            </a:r>
            <a:endParaRPr lang="zh-CN" altLang="en-US" sz="1400" b="0" i="0" u="none" baseline="0" dirty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50829" y="4952973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Performs Well with Linearly Separable Data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658204" y="5375589"/>
            <a:ext cx="4875788" cy="102374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Works very well when classes can be separated by a linear boundary. Often provides solid performance with minimal tuning.</a:t>
            </a:r>
            <a:endParaRPr lang="zh-CN" altLang="en-US" sz="1400" b="0" i="0" u="none" baseline="0" dirty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04240" y="1179728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 dirty="0">
                <a:solidFill>
                  <a:srgbClr val="FFFFFF"/>
                </a:solidFill>
                <a:latin typeface="Agency FB"/>
                <a:ea typeface="Agency FB"/>
              </a:rPr>
              <a:t>1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58686" y="2767538"/>
            <a:ext cx="824645" cy="84367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04241" y="4603488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3</a:t>
            </a:r>
          </a:p>
        </p:txBody>
      </p:sp>
      <p:sp>
        <p:nvSpPr>
          <p:cNvPr id="23" name="AutoShape 14">
            <a:extLst>
              <a:ext uri="{FF2B5EF4-FFF2-40B4-BE49-F238E27FC236}">
                <a16:creationId xmlns:a16="http://schemas.microsoft.com/office/drawing/2014/main" id="{5B91618E-A54C-73A7-BDDC-5F608B0FBE80}"/>
              </a:ext>
            </a:extLst>
          </p:cNvPr>
          <p:cNvSpPr/>
          <p:nvPr/>
        </p:nvSpPr>
        <p:spPr>
          <a:xfrm>
            <a:off x="6719155" y="1143000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dirty="0">
                <a:solidFill>
                  <a:srgbClr val="FFFFFF"/>
                </a:solidFill>
                <a:latin typeface="Agency FB"/>
                <a:ea typeface="Agency FB"/>
              </a:rPr>
              <a:t>4</a:t>
            </a:r>
            <a:endParaRPr lang="en-US" sz="2000" b="1" i="0" u="none" baseline="0" dirty="0">
              <a:solidFill>
                <a:srgbClr val="FFFFFF"/>
              </a:solidFill>
              <a:latin typeface="Agency FB"/>
              <a:ea typeface="Agency FB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E222C922-689A-D61F-62EE-30612E85858F}"/>
              </a:ext>
            </a:extLst>
          </p:cNvPr>
          <p:cNvSpPr txBox="1"/>
          <p:nvPr/>
        </p:nvSpPr>
        <p:spPr>
          <a:xfrm>
            <a:off x="7576743" y="1231649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Fast and Efficient</a:t>
            </a:r>
            <a:endParaRPr lang="en-US" sz="1100" dirty="0"/>
          </a:p>
        </p:txBody>
      </p:sp>
      <p:sp>
        <p:nvSpPr>
          <p:cNvPr id="25" name="AutoShape 9">
            <a:extLst>
              <a:ext uri="{FF2B5EF4-FFF2-40B4-BE49-F238E27FC236}">
                <a16:creationId xmlns:a16="http://schemas.microsoft.com/office/drawing/2014/main" id="{E4FB33BE-FC65-9507-4DD6-ADCF2B73AEA1}"/>
              </a:ext>
            </a:extLst>
          </p:cNvPr>
          <p:cNvSpPr/>
          <p:nvPr/>
        </p:nvSpPr>
        <p:spPr>
          <a:xfrm>
            <a:off x="7584118" y="1654265"/>
            <a:ext cx="4883162" cy="70057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Very quick to train even on large datasets. Good baseline model before trying complex algorithms.</a:t>
            </a:r>
            <a:endParaRPr lang="zh-CN" altLang="en-US" sz="1400" b="0" i="0" u="none" baseline="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A297837-B648-6358-678A-D95DD2C84CBA}"/>
              </a:ext>
            </a:extLst>
          </p:cNvPr>
          <p:cNvSpPr txBox="1"/>
          <p:nvPr/>
        </p:nvSpPr>
        <p:spPr>
          <a:xfrm>
            <a:off x="7758663" y="3049442"/>
            <a:ext cx="4502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Handles Probability Output</a:t>
            </a:r>
            <a:endParaRPr lang="en-US" sz="1100" dirty="0"/>
          </a:p>
        </p:txBody>
      </p:sp>
      <p:sp>
        <p:nvSpPr>
          <p:cNvPr id="27" name="AutoShape 11">
            <a:extLst>
              <a:ext uri="{FF2B5EF4-FFF2-40B4-BE49-F238E27FC236}">
                <a16:creationId xmlns:a16="http://schemas.microsoft.com/office/drawing/2014/main" id="{26D833AD-C39E-18A3-A60C-998678EE014E}"/>
              </a:ext>
            </a:extLst>
          </p:cNvPr>
          <p:cNvSpPr/>
          <p:nvPr/>
        </p:nvSpPr>
        <p:spPr>
          <a:xfrm>
            <a:off x="7766038" y="3472058"/>
            <a:ext cx="4502162" cy="1023742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</a:rPr>
              <a:t>It tells how each feature affects the probability of an outcome. Stakeholders understand it easily: simple coefficients, odds, and probabilities.</a:t>
            </a:r>
            <a:endParaRPr lang="zh-CN" altLang="en-US" sz="1400" b="0" i="0" u="none" baseline="0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735D5471-2910-A514-EF15-681505790015}"/>
              </a:ext>
            </a:extLst>
          </p:cNvPr>
          <p:cNvSpPr/>
          <p:nvPr/>
        </p:nvSpPr>
        <p:spPr>
          <a:xfrm>
            <a:off x="6766521" y="2744698"/>
            <a:ext cx="760304" cy="84367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dirty="0">
                <a:solidFill>
                  <a:srgbClr val="FFFFFF"/>
                </a:solidFill>
                <a:latin typeface="Agency FB"/>
                <a:ea typeface="Agency FB"/>
              </a:rPr>
              <a:t>5</a:t>
            </a:r>
            <a:endParaRPr lang="en-US" sz="2000" b="1" i="0" u="none" baseline="0" dirty="0">
              <a:solidFill>
                <a:srgbClr val="FFFFFF"/>
              </a:solidFill>
              <a:latin typeface="Agency FB"/>
              <a:ea typeface="Agency FB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4F61184-7D8D-17AC-4CF7-CE95D6460C57}"/>
              </a:ext>
            </a:extLst>
          </p:cNvPr>
          <p:cNvSpPr txBox="1"/>
          <p:nvPr/>
        </p:nvSpPr>
        <p:spPr>
          <a:xfrm>
            <a:off x="7728388" y="4800600"/>
            <a:ext cx="4463612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Less Prone to Overfitting (with Regularization)</a:t>
            </a:r>
            <a:endParaRPr lang="en-US" sz="1100" dirty="0"/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39BC9ADF-A5C2-CA71-A5A2-9122F3832C33}"/>
              </a:ext>
            </a:extLst>
          </p:cNvPr>
          <p:cNvSpPr/>
          <p:nvPr/>
        </p:nvSpPr>
        <p:spPr>
          <a:xfrm>
            <a:off x="7731698" y="5404063"/>
            <a:ext cx="4463612" cy="70057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L1/L2 regularization helps prevent overfitting. More stable and reliable as a first-choice model.</a:t>
            </a:r>
            <a:endParaRPr lang="zh-CN" altLang="en-US" sz="1400" b="0" i="0" u="none" baseline="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FBDF1D1F-10AA-AAA9-56CA-8B0AE85A5037}"/>
              </a:ext>
            </a:extLst>
          </p:cNvPr>
          <p:cNvSpPr/>
          <p:nvPr/>
        </p:nvSpPr>
        <p:spPr>
          <a:xfrm>
            <a:off x="6781800" y="4572000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600"/>
                            </p:stCondLst>
                            <p:childTnLst>
                              <p:par>
                                <p:cTn id="3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6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600"/>
                            </p:stCondLst>
                            <p:childTnLst>
                              <p:par>
                                <p:cTn id="42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3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8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800"/>
                            </p:stCondLst>
                            <p:childTnLst>
                              <p:par>
                                <p:cTn id="57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5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1300"/>
                            </p:stCondLst>
                            <p:childTnLst>
                              <p:par>
                                <p:cTn id="6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18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1800"/>
                            </p:stCondLst>
                            <p:childTnLst>
                              <p:par>
                                <p:cTn id="7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7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2800"/>
                            </p:stCondLst>
                            <p:childTnLst>
                              <p:par>
                                <p:cTn id="76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8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800"/>
                            </p:stCondLst>
                            <p:childTnLst>
                              <p:par>
                                <p:cTn id="86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8900"/>
                            </p:stCondLst>
                            <p:childTnLst>
                              <p:par>
                                <p:cTn id="9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4" grpId="0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4041" y="389747"/>
            <a:ext cx="51214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Feature Importance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6311779" y="-2007445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 rot="648845">
            <a:off x="6492119" y="5637329"/>
            <a:ext cx="3587509" cy="2657742"/>
          </a:xfrm>
          <a:custGeom>
            <a:avLst/>
            <a:gdLst/>
            <a:ahLst/>
            <a:cxnLst/>
            <a:rect l="l" t="t" r="r" b="b"/>
            <a:pathLst>
              <a:path w="5105488" h="3782309">
                <a:moveTo>
                  <a:pt x="1722207" y="21520"/>
                </a:moveTo>
                <a:cubicBezTo>
                  <a:pt x="2573107" y="168840"/>
                  <a:pt x="5102947" y="1393120"/>
                  <a:pt x="5105487" y="2017960"/>
                </a:cubicBezTo>
                <a:cubicBezTo>
                  <a:pt x="5108027" y="2642800"/>
                  <a:pt x="2588347" y="3917880"/>
                  <a:pt x="1737447" y="3770560"/>
                </a:cubicBezTo>
                <a:cubicBezTo>
                  <a:pt x="886547" y="3623240"/>
                  <a:pt x="10247" y="1758880"/>
                  <a:pt x="87" y="1134040"/>
                </a:cubicBezTo>
                <a:cubicBezTo>
                  <a:pt x="-10073" y="509200"/>
                  <a:pt x="871307" y="-125800"/>
                  <a:pt x="1722207" y="21520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20625691">
            <a:off x="6815341" y="2579748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987847" y="3100310"/>
            <a:ext cx="3662880" cy="314557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8987847" y="-12590"/>
            <a:ext cx="3709163" cy="2743228"/>
          </a:xfrm>
          <a:custGeom>
            <a:avLst/>
            <a:gdLst/>
            <a:ahLst/>
            <a:cxnLst/>
            <a:rect l="l" t="t" r="r" b="b"/>
            <a:pathLst>
              <a:path w="5501899" h="4069103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123209" y="4066554"/>
                  <a:pt x="3556789" y="4069094"/>
                </a:cubicBezTo>
                <a:cubicBezTo>
                  <a:pt x="2990369" y="4071634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650830" y="1233722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Rationale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8205" y="1656338"/>
            <a:ext cx="4883162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This analysis helps understand key drivers contributing to the prediction of bankruptcy, driving better decision-making.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0829" y="3072282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Coefficient Analysis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658204" y="3494898"/>
            <a:ext cx="4883162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importance of each feature is determined based on the coefficients from the logistic regression model.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0829" y="4952973"/>
            <a:ext cx="488316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Key Influencers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8204" y="5375589"/>
            <a:ext cx="4875788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Competitiveness, financial flexibility, and credibility are identified as the most influential factors in predicting bankruptcy risk.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04240" y="1179728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1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58686" y="2767538"/>
            <a:ext cx="824645" cy="84367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2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04241" y="4603488"/>
            <a:ext cx="824645" cy="843674"/>
          </a:xfrm>
          <a:prstGeom prst="triangle">
            <a:avLst/>
          </a:prstGeom>
          <a:solidFill>
            <a:srgbClr val="FFFFFF">
              <a:lumMod val="85000"/>
            </a:srgbClr>
          </a:solidFill>
          <a:ln w="76200" cap="flat" cmpd="sng">
            <a:solidFill>
              <a:srgbClr val="FFFFFF"/>
            </a:solidFill>
            <a:prstDash val="solid"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marL="0" algn="ctr"/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3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BFB779-16F6-1279-495C-F369FEE0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650" y="560217"/>
            <a:ext cx="5157409" cy="34663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134630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9095" y="1051658"/>
            <a:ext cx="13049246" cy="4703254"/>
            <a:chOff x="2205586" y="1273538"/>
            <a:chExt cx="16374166" cy="5901636"/>
          </a:xfrm>
          <a:solidFill>
            <a:srgbClr val="FFFFFF">
              <a:lumMod val="95000"/>
            </a:srgbClr>
          </a:solidFill>
        </p:grpSpPr>
        <p:sp>
          <p:nvSpPr>
            <p:cNvPr id="3" name="Freeform 3"/>
            <p:cNvSpPr/>
            <p:nvPr/>
          </p:nvSpPr>
          <p:spPr>
            <a:xfrm>
              <a:off x="10939120" y="1273538"/>
              <a:ext cx="3084528" cy="2648902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2205586" y="1975904"/>
              <a:ext cx="3114830" cy="2303670"/>
            </a:xfrm>
            <a:custGeom>
              <a:avLst/>
              <a:gdLst/>
              <a:ahLst/>
              <a:cxnLst/>
              <a:rect l="l" t="t" r="r" b="b"/>
              <a:pathLst>
                <a:path w="5501899" h="4069103">
                  <a:moveTo>
                    <a:pt x="203989" y="2575574"/>
                  </a:moveTo>
                  <a:cubicBezTo>
                    <a:pt x="485929" y="2286014"/>
                    <a:pt x="1349529" y="2151394"/>
                    <a:pt x="1910869" y="1722134"/>
                  </a:cubicBezTo>
                  <a:cubicBezTo>
                    <a:pt x="2472209" y="1292874"/>
                    <a:pt x="3008149" y="-5066"/>
                    <a:pt x="3572029" y="14"/>
                  </a:cubicBezTo>
                  <a:cubicBezTo>
                    <a:pt x="4135909" y="5094"/>
                    <a:pt x="5009669" y="1176034"/>
                    <a:pt x="5294149" y="1752614"/>
                  </a:cubicBezTo>
                  <a:cubicBezTo>
                    <a:pt x="5578629" y="2329194"/>
                    <a:pt x="5568469" y="3073414"/>
                    <a:pt x="5278909" y="3459494"/>
                  </a:cubicBezTo>
                  <a:cubicBezTo>
                    <a:pt x="4989349" y="3845574"/>
                    <a:pt x="4123209" y="4066554"/>
                    <a:pt x="3556789" y="4069094"/>
                  </a:cubicBezTo>
                  <a:cubicBezTo>
                    <a:pt x="2990369" y="4071634"/>
                    <a:pt x="2436649" y="3576334"/>
                    <a:pt x="1880389" y="3474734"/>
                  </a:cubicBezTo>
                  <a:cubicBezTo>
                    <a:pt x="1324129" y="3373134"/>
                    <a:pt x="501169" y="3606814"/>
                    <a:pt x="219229" y="3459494"/>
                  </a:cubicBezTo>
                  <a:cubicBezTo>
                    <a:pt x="-62711" y="3312174"/>
                    <a:pt x="-77951" y="2865134"/>
                    <a:pt x="203989" y="2575574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4814109" y="4528435"/>
              <a:ext cx="3540088" cy="2646739"/>
            </a:xfrm>
            <a:custGeom>
              <a:avLst/>
              <a:gdLst/>
              <a:ahLst/>
              <a:cxnLst/>
              <a:rect l="l" t="t" r="r" b="b"/>
              <a:pathLst>
                <a:path w="8535771" h="6381750">
                  <a:moveTo>
                    <a:pt x="1715869" y="1181100"/>
                  </a:moveTo>
                  <a:cubicBezTo>
                    <a:pt x="1153894" y="1463675"/>
                    <a:pt x="-252631" y="2886075"/>
                    <a:pt x="39469" y="3752850"/>
                  </a:cubicBezTo>
                  <a:cubicBezTo>
                    <a:pt x="331569" y="4619625"/>
                    <a:pt x="2617569" y="6381750"/>
                    <a:pt x="3468469" y="6381750"/>
                  </a:cubicBezTo>
                  <a:cubicBezTo>
                    <a:pt x="4319369" y="6381750"/>
                    <a:pt x="4300319" y="4473575"/>
                    <a:pt x="5144869" y="3752850"/>
                  </a:cubicBezTo>
                  <a:cubicBezTo>
                    <a:pt x="5989419" y="3032125"/>
                    <a:pt x="8532594" y="2682875"/>
                    <a:pt x="8535769" y="2057400"/>
                  </a:cubicBezTo>
                  <a:cubicBezTo>
                    <a:pt x="8538944" y="1431925"/>
                    <a:pt x="6017994" y="0"/>
                    <a:pt x="5163919" y="0"/>
                  </a:cubicBezTo>
                  <a:cubicBezTo>
                    <a:pt x="4309844" y="0"/>
                    <a:pt x="3979644" y="1860550"/>
                    <a:pt x="3411319" y="2057400"/>
                  </a:cubicBezTo>
                  <a:cubicBezTo>
                    <a:pt x="2842994" y="2254250"/>
                    <a:pt x="2277844" y="898525"/>
                    <a:pt x="1715869" y="1181100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 rot="17586099">
              <a:off x="15488470" y="3667405"/>
              <a:ext cx="3056930" cy="3125635"/>
            </a:xfrm>
            <a:custGeom>
              <a:avLst/>
              <a:gdLst/>
              <a:ahLst/>
              <a:cxnLst/>
              <a:rect l="l" t="t" r="r" b="b"/>
              <a:pathLst>
                <a:path w="5114329" h="5229277">
                  <a:moveTo>
                    <a:pt x="3418879" y="5229277"/>
                  </a:moveTo>
                  <a:cubicBezTo>
                    <a:pt x="2850554" y="5229277"/>
                    <a:pt x="326429" y="4787952"/>
                    <a:pt x="47029" y="4352977"/>
                  </a:cubicBezTo>
                  <a:cubicBezTo>
                    <a:pt x="-232371" y="3918002"/>
                    <a:pt x="1745654" y="3194102"/>
                    <a:pt x="1742479" y="2619427"/>
                  </a:cubicBezTo>
                  <a:cubicBezTo>
                    <a:pt x="1739304" y="2044752"/>
                    <a:pt x="-257771" y="1330377"/>
                    <a:pt x="27979" y="904927"/>
                  </a:cubicBezTo>
                  <a:cubicBezTo>
                    <a:pt x="313729" y="479477"/>
                    <a:pt x="2609254" y="-219023"/>
                    <a:pt x="3456979" y="66727"/>
                  </a:cubicBezTo>
                  <a:cubicBezTo>
                    <a:pt x="4304704" y="352477"/>
                    <a:pt x="5114329" y="1905052"/>
                    <a:pt x="5114329" y="2619427"/>
                  </a:cubicBezTo>
                  <a:cubicBezTo>
                    <a:pt x="5114329" y="3333802"/>
                    <a:pt x="3736379" y="3921177"/>
                    <a:pt x="3456979" y="4352977"/>
                  </a:cubicBezTo>
                  <a:cubicBezTo>
                    <a:pt x="3177579" y="4784777"/>
                    <a:pt x="3987204" y="5229277"/>
                    <a:pt x="3418879" y="5229277"/>
                  </a:cubicBezTo>
                  <a:close/>
                </a:path>
              </a:pathLst>
            </a:custGeom>
            <a:grpFill/>
            <a:ln cap="flat" cmpd="sng">
              <a:prstDash val="solid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178982" y="1501213"/>
            <a:ext cx="3064936" cy="4760691"/>
          </a:xfrm>
          <a:prstGeom prst="rect">
            <a:avLst/>
          </a:pr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63532" y="1501213"/>
            <a:ext cx="3064936" cy="4760691"/>
          </a:xfrm>
          <a:prstGeom prst="rect">
            <a:avLst/>
          </a:pr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948082" y="1501213"/>
            <a:ext cx="3064936" cy="4760691"/>
          </a:xfrm>
          <a:prstGeom prst="rect">
            <a:avLst/>
          </a:pr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81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974974" y="466883"/>
            <a:ext cx="62420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Cross-Validation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2370745" y="1633066"/>
            <a:ext cx="681410" cy="691248"/>
          </a:xfrm>
          <a:custGeom>
            <a:avLst/>
            <a:gdLst/>
            <a:ahLst/>
            <a:cxnLst/>
            <a:rect l="l" t="t" r="r" b="b"/>
            <a:pathLst>
              <a:path w="500" h="508">
                <a:moveTo>
                  <a:pt x="375" y="188"/>
                </a:moveTo>
                <a:cubicBezTo>
                  <a:pt x="375" y="84"/>
                  <a:pt x="291" y="0"/>
                  <a:pt x="188" y="0"/>
                </a:cubicBezTo>
                <a:cubicBezTo>
                  <a:pt x="84" y="0"/>
                  <a:pt x="0" y="84"/>
                  <a:pt x="0" y="188"/>
                </a:cubicBezTo>
                <a:cubicBezTo>
                  <a:pt x="0" y="291"/>
                  <a:pt x="84" y="375"/>
                  <a:pt x="188" y="375"/>
                </a:cubicBezTo>
                <a:cubicBezTo>
                  <a:pt x="291" y="375"/>
                  <a:pt x="375" y="291"/>
                  <a:pt x="375" y="188"/>
                </a:cubicBezTo>
                <a:close/>
                <a:moveTo>
                  <a:pt x="188" y="328"/>
                </a:moveTo>
                <a:cubicBezTo>
                  <a:pt x="110" y="328"/>
                  <a:pt x="47" y="265"/>
                  <a:pt x="47" y="188"/>
                </a:cubicBezTo>
                <a:cubicBezTo>
                  <a:pt x="47" y="110"/>
                  <a:pt x="110" y="47"/>
                  <a:pt x="188" y="47"/>
                </a:cubicBezTo>
                <a:cubicBezTo>
                  <a:pt x="265" y="47"/>
                  <a:pt x="328" y="110"/>
                  <a:pt x="328" y="188"/>
                </a:cubicBezTo>
                <a:cubicBezTo>
                  <a:pt x="328" y="265"/>
                  <a:pt x="265" y="328"/>
                  <a:pt x="188" y="328"/>
                </a:cubicBezTo>
                <a:close/>
                <a:moveTo>
                  <a:pt x="500" y="466"/>
                </a:moveTo>
                <a:lnTo>
                  <a:pt x="458" y="508"/>
                </a:lnTo>
                <a:lnTo>
                  <a:pt x="314" y="364"/>
                </a:lnTo>
                <a:lnTo>
                  <a:pt x="356" y="322"/>
                </a:lnTo>
                <a:lnTo>
                  <a:pt x="500" y="466"/>
                </a:ln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5750375" y="1719844"/>
            <a:ext cx="691248" cy="517692"/>
          </a:xfrm>
          <a:custGeom>
            <a:avLst/>
            <a:gdLst/>
            <a:ahLst/>
            <a:cxnLst/>
            <a:rect l="l" t="t" r="r" b="b"/>
            <a:pathLst>
              <a:path w="607639" h="455076">
                <a:moveTo>
                  <a:pt x="227854" y="404591"/>
                </a:moveTo>
                <a:lnTo>
                  <a:pt x="227854" y="429834"/>
                </a:lnTo>
                <a:lnTo>
                  <a:pt x="379786" y="429834"/>
                </a:lnTo>
                <a:lnTo>
                  <a:pt x="379786" y="404591"/>
                </a:lnTo>
                <a:close/>
                <a:moveTo>
                  <a:pt x="303680" y="353928"/>
                </a:moveTo>
                <a:lnTo>
                  <a:pt x="303775" y="353928"/>
                </a:lnTo>
                <a:lnTo>
                  <a:pt x="303888" y="353928"/>
                </a:lnTo>
                <a:lnTo>
                  <a:pt x="312716" y="357595"/>
                </a:lnTo>
                <a:cubicBezTo>
                  <a:pt x="315001" y="359887"/>
                  <a:pt x="316415" y="363054"/>
                  <a:pt x="316415" y="366552"/>
                </a:cubicBezTo>
                <a:cubicBezTo>
                  <a:pt x="316415" y="373548"/>
                  <a:pt x="310760" y="379219"/>
                  <a:pt x="303784" y="379219"/>
                </a:cubicBezTo>
                <a:cubicBezTo>
                  <a:pt x="296808" y="379219"/>
                  <a:pt x="291153" y="373548"/>
                  <a:pt x="291153" y="366552"/>
                </a:cubicBezTo>
                <a:cubicBezTo>
                  <a:pt x="291153" y="363054"/>
                  <a:pt x="292567" y="359887"/>
                  <a:pt x="294853" y="357595"/>
                </a:cubicBezTo>
                <a:close/>
                <a:moveTo>
                  <a:pt x="303784" y="353885"/>
                </a:moveTo>
                <a:lnTo>
                  <a:pt x="303680" y="353928"/>
                </a:lnTo>
                <a:lnTo>
                  <a:pt x="25367" y="353928"/>
                </a:lnTo>
                <a:lnTo>
                  <a:pt x="25367" y="379260"/>
                </a:lnTo>
                <a:lnTo>
                  <a:pt x="303775" y="379260"/>
                </a:lnTo>
                <a:lnTo>
                  <a:pt x="582272" y="379260"/>
                </a:lnTo>
                <a:lnTo>
                  <a:pt x="582272" y="353928"/>
                </a:lnTo>
                <a:lnTo>
                  <a:pt x="303888" y="353928"/>
                </a:lnTo>
                <a:close/>
                <a:moveTo>
                  <a:pt x="25367" y="25331"/>
                </a:moveTo>
                <a:lnTo>
                  <a:pt x="25367" y="328686"/>
                </a:lnTo>
                <a:lnTo>
                  <a:pt x="582272" y="328686"/>
                </a:lnTo>
                <a:lnTo>
                  <a:pt x="582272" y="25331"/>
                </a:lnTo>
                <a:close/>
                <a:moveTo>
                  <a:pt x="25367" y="0"/>
                </a:moveTo>
                <a:lnTo>
                  <a:pt x="582272" y="0"/>
                </a:lnTo>
                <a:cubicBezTo>
                  <a:pt x="596246" y="0"/>
                  <a:pt x="607639" y="11377"/>
                  <a:pt x="607639" y="25331"/>
                </a:cubicBezTo>
                <a:lnTo>
                  <a:pt x="607639" y="379260"/>
                </a:lnTo>
                <a:cubicBezTo>
                  <a:pt x="607639" y="393214"/>
                  <a:pt x="596246" y="404591"/>
                  <a:pt x="582272" y="404591"/>
                </a:cubicBezTo>
                <a:lnTo>
                  <a:pt x="405063" y="404591"/>
                </a:lnTo>
                <a:lnTo>
                  <a:pt x="405063" y="429834"/>
                </a:lnTo>
                <a:lnTo>
                  <a:pt x="455707" y="429834"/>
                </a:lnTo>
                <a:cubicBezTo>
                  <a:pt x="462738" y="429834"/>
                  <a:pt x="468346" y="435522"/>
                  <a:pt x="468346" y="442455"/>
                </a:cubicBezTo>
                <a:cubicBezTo>
                  <a:pt x="468346" y="449477"/>
                  <a:pt x="462738" y="455076"/>
                  <a:pt x="455707" y="455076"/>
                </a:cubicBezTo>
                <a:lnTo>
                  <a:pt x="151932" y="455076"/>
                </a:lnTo>
                <a:cubicBezTo>
                  <a:pt x="144901" y="455076"/>
                  <a:pt x="139293" y="449477"/>
                  <a:pt x="139293" y="442455"/>
                </a:cubicBezTo>
                <a:cubicBezTo>
                  <a:pt x="139293" y="435433"/>
                  <a:pt x="144901" y="429834"/>
                  <a:pt x="151932" y="429834"/>
                </a:cubicBezTo>
                <a:lnTo>
                  <a:pt x="202487" y="429834"/>
                </a:lnTo>
                <a:lnTo>
                  <a:pt x="202487" y="404591"/>
                </a:lnTo>
                <a:lnTo>
                  <a:pt x="25367" y="404591"/>
                </a:lnTo>
                <a:cubicBezTo>
                  <a:pt x="11304" y="404591"/>
                  <a:pt x="0" y="393214"/>
                  <a:pt x="0" y="379260"/>
                </a:cubicBezTo>
                <a:lnTo>
                  <a:pt x="0" y="25331"/>
                </a:lnTo>
                <a:cubicBezTo>
                  <a:pt x="0" y="11377"/>
                  <a:pt x="11304" y="0"/>
                  <a:pt x="25367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9125006" y="1633589"/>
            <a:ext cx="691248" cy="690201"/>
          </a:xfrm>
          <a:custGeom>
            <a:avLst/>
            <a:gdLst/>
            <a:ahLst/>
            <a:cxnLst/>
            <a:rect l="l" t="t" r="r" b="b"/>
            <a:pathLst>
              <a:path w="575551" h="574680">
                <a:moveTo>
                  <a:pt x="288111" y="195956"/>
                </a:moveTo>
                <a:cubicBezTo>
                  <a:pt x="275198" y="195956"/>
                  <a:pt x="262286" y="199179"/>
                  <a:pt x="250987" y="204012"/>
                </a:cubicBezTo>
                <a:cubicBezTo>
                  <a:pt x="204987" y="224958"/>
                  <a:pt x="184004" y="278933"/>
                  <a:pt x="204180" y="324853"/>
                </a:cubicBezTo>
                <a:cubicBezTo>
                  <a:pt x="218706" y="357882"/>
                  <a:pt x="251794" y="378828"/>
                  <a:pt x="288111" y="378828"/>
                </a:cubicBezTo>
                <a:cubicBezTo>
                  <a:pt x="301023" y="378828"/>
                  <a:pt x="313128" y="376411"/>
                  <a:pt x="325234" y="370772"/>
                </a:cubicBezTo>
                <a:cubicBezTo>
                  <a:pt x="371234" y="350632"/>
                  <a:pt x="392217" y="296657"/>
                  <a:pt x="371234" y="250737"/>
                </a:cubicBezTo>
                <a:cubicBezTo>
                  <a:pt x="356708" y="217708"/>
                  <a:pt x="323620" y="195956"/>
                  <a:pt x="288111" y="195956"/>
                </a:cubicBezTo>
                <a:close/>
                <a:moveTo>
                  <a:pt x="288111" y="163732"/>
                </a:moveTo>
                <a:cubicBezTo>
                  <a:pt x="336532" y="163732"/>
                  <a:pt x="380919" y="192734"/>
                  <a:pt x="401094" y="237042"/>
                </a:cubicBezTo>
                <a:cubicBezTo>
                  <a:pt x="428533" y="299879"/>
                  <a:pt x="400287" y="372383"/>
                  <a:pt x="338146" y="400579"/>
                </a:cubicBezTo>
                <a:cubicBezTo>
                  <a:pt x="322006" y="407830"/>
                  <a:pt x="305058" y="411052"/>
                  <a:pt x="288111" y="411052"/>
                </a:cubicBezTo>
                <a:cubicBezTo>
                  <a:pt x="238882" y="411052"/>
                  <a:pt x="194496" y="382050"/>
                  <a:pt x="175127" y="337742"/>
                </a:cubicBezTo>
                <a:cubicBezTo>
                  <a:pt x="146881" y="275711"/>
                  <a:pt x="175127" y="202401"/>
                  <a:pt x="237268" y="175011"/>
                </a:cubicBezTo>
                <a:cubicBezTo>
                  <a:pt x="253408" y="167760"/>
                  <a:pt x="270356" y="163732"/>
                  <a:pt x="288111" y="163732"/>
                </a:cubicBezTo>
                <a:close/>
                <a:moveTo>
                  <a:pt x="307478" y="33198"/>
                </a:moveTo>
                <a:cubicBezTo>
                  <a:pt x="292145" y="31587"/>
                  <a:pt x="276006" y="32392"/>
                  <a:pt x="260674" y="34004"/>
                </a:cubicBezTo>
                <a:cubicBezTo>
                  <a:pt x="260674" y="44479"/>
                  <a:pt x="259060" y="54954"/>
                  <a:pt x="255025" y="64624"/>
                </a:cubicBezTo>
                <a:cubicBezTo>
                  <a:pt x="242921" y="96049"/>
                  <a:pt x="212256" y="116999"/>
                  <a:pt x="179171" y="116999"/>
                </a:cubicBezTo>
                <a:cubicBezTo>
                  <a:pt x="168680" y="116999"/>
                  <a:pt x="158997" y="115387"/>
                  <a:pt x="150120" y="111359"/>
                </a:cubicBezTo>
                <a:cubicBezTo>
                  <a:pt x="139629" y="107330"/>
                  <a:pt x="129946" y="101689"/>
                  <a:pt x="121876" y="93631"/>
                </a:cubicBezTo>
                <a:cubicBezTo>
                  <a:pt x="109772" y="103301"/>
                  <a:pt x="99281" y="114582"/>
                  <a:pt x="88791" y="127474"/>
                </a:cubicBezTo>
                <a:cubicBezTo>
                  <a:pt x="96860" y="134726"/>
                  <a:pt x="103316" y="143590"/>
                  <a:pt x="107351" y="153259"/>
                </a:cubicBezTo>
                <a:cubicBezTo>
                  <a:pt x="116228" y="172598"/>
                  <a:pt x="117034" y="195160"/>
                  <a:pt x="108965" y="215304"/>
                </a:cubicBezTo>
                <a:cubicBezTo>
                  <a:pt x="100895" y="235448"/>
                  <a:pt x="86370" y="251564"/>
                  <a:pt x="66196" y="260427"/>
                </a:cubicBezTo>
                <a:cubicBezTo>
                  <a:pt x="55705" y="265262"/>
                  <a:pt x="44408" y="267679"/>
                  <a:pt x="33110" y="267679"/>
                </a:cubicBezTo>
                <a:cubicBezTo>
                  <a:pt x="31496" y="282989"/>
                  <a:pt x="32303" y="299105"/>
                  <a:pt x="33917" y="314414"/>
                </a:cubicBezTo>
                <a:cubicBezTo>
                  <a:pt x="44408" y="313609"/>
                  <a:pt x="55705" y="316026"/>
                  <a:pt x="65389" y="320055"/>
                </a:cubicBezTo>
                <a:cubicBezTo>
                  <a:pt x="85563" y="327307"/>
                  <a:pt x="101702" y="342617"/>
                  <a:pt x="110579" y="362761"/>
                </a:cubicBezTo>
                <a:cubicBezTo>
                  <a:pt x="119455" y="382100"/>
                  <a:pt x="120262" y="404661"/>
                  <a:pt x="112193" y="424806"/>
                </a:cubicBezTo>
                <a:cubicBezTo>
                  <a:pt x="108158" y="435281"/>
                  <a:pt x="101702" y="444950"/>
                  <a:pt x="93633" y="453008"/>
                </a:cubicBezTo>
                <a:cubicBezTo>
                  <a:pt x="104123" y="465095"/>
                  <a:pt x="115421" y="476375"/>
                  <a:pt x="127525" y="486045"/>
                </a:cubicBezTo>
                <a:cubicBezTo>
                  <a:pt x="134788" y="477987"/>
                  <a:pt x="143664" y="471541"/>
                  <a:pt x="154155" y="467512"/>
                </a:cubicBezTo>
                <a:cubicBezTo>
                  <a:pt x="164645" y="462677"/>
                  <a:pt x="175943" y="460260"/>
                  <a:pt x="187240" y="460260"/>
                </a:cubicBezTo>
                <a:cubicBezTo>
                  <a:pt x="219519" y="460260"/>
                  <a:pt x="248569" y="478793"/>
                  <a:pt x="261481" y="508606"/>
                </a:cubicBezTo>
                <a:cubicBezTo>
                  <a:pt x="266323" y="519082"/>
                  <a:pt x="268743" y="530362"/>
                  <a:pt x="268743" y="541643"/>
                </a:cubicBezTo>
                <a:cubicBezTo>
                  <a:pt x="284076" y="543255"/>
                  <a:pt x="300215" y="543255"/>
                  <a:pt x="315547" y="541643"/>
                </a:cubicBezTo>
                <a:cubicBezTo>
                  <a:pt x="315547" y="530362"/>
                  <a:pt x="317161" y="519082"/>
                  <a:pt x="321196" y="508606"/>
                </a:cubicBezTo>
                <a:cubicBezTo>
                  <a:pt x="333300" y="477987"/>
                  <a:pt x="363965" y="457037"/>
                  <a:pt x="397050" y="457037"/>
                </a:cubicBezTo>
                <a:cubicBezTo>
                  <a:pt x="406734" y="457037"/>
                  <a:pt x="417224" y="458648"/>
                  <a:pt x="426101" y="461871"/>
                </a:cubicBezTo>
                <a:cubicBezTo>
                  <a:pt x="437399" y="466706"/>
                  <a:pt x="446275" y="472347"/>
                  <a:pt x="454345" y="481210"/>
                </a:cubicBezTo>
                <a:cubicBezTo>
                  <a:pt x="466449" y="470735"/>
                  <a:pt x="477747" y="459454"/>
                  <a:pt x="487430" y="446562"/>
                </a:cubicBezTo>
                <a:cubicBezTo>
                  <a:pt x="479361" y="439310"/>
                  <a:pt x="472905" y="430446"/>
                  <a:pt x="468870" y="420777"/>
                </a:cubicBezTo>
                <a:cubicBezTo>
                  <a:pt x="450310" y="379682"/>
                  <a:pt x="468870" y="331336"/>
                  <a:pt x="510025" y="313609"/>
                </a:cubicBezTo>
                <a:cubicBezTo>
                  <a:pt x="520516" y="308774"/>
                  <a:pt x="531006" y="306357"/>
                  <a:pt x="543111" y="306357"/>
                </a:cubicBezTo>
                <a:cubicBezTo>
                  <a:pt x="543918" y="290241"/>
                  <a:pt x="543918" y="274931"/>
                  <a:pt x="541497" y="258816"/>
                </a:cubicBezTo>
                <a:cubicBezTo>
                  <a:pt x="531006" y="259622"/>
                  <a:pt x="520516" y="258010"/>
                  <a:pt x="510832" y="253981"/>
                </a:cubicBezTo>
                <a:cubicBezTo>
                  <a:pt x="468870" y="237866"/>
                  <a:pt x="447889" y="190325"/>
                  <a:pt x="464028" y="149230"/>
                </a:cubicBezTo>
                <a:cubicBezTo>
                  <a:pt x="468063" y="138755"/>
                  <a:pt x="473712" y="129086"/>
                  <a:pt x="481781" y="121028"/>
                </a:cubicBezTo>
                <a:cubicBezTo>
                  <a:pt x="471291" y="108941"/>
                  <a:pt x="459993" y="98466"/>
                  <a:pt x="447889" y="88797"/>
                </a:cubicBezTo>
                <a:cubicBezTo>
                  <a:pt x="440626" y="96049"/>
                  <a:pt x="431750" y="102495"/>
                  <a:pt x="422066" y="106524"/>
                </a:cubicBezTo>
                <a:cubicBezTo>
                  <a:pt x="411576" y="111359"/>
                  <a:pt x="400278" y="113776"/>
                  <a:pt x="388981" y="113776"/>
                </a:cubicBezTo>
                <a:cubicBezTo>
                  <a:pt x="356702" y="113776"/>
                  <a:pt x="327652" y="94437"/>
                  <a:pt x="314740" y="65429"/>
                </a:cubicBezTo>
                <a:cubicBezTo>
                  <a:pt x="309898" y="54954"/>
                  <a:pt x="307478" y="44479"/>
                  <a:pt x="307478" y="33198"/>
                </a:cubicBezTo>
                <a:close/>
                <a:moveTo>
                  <a:pt x="327652" y="2579"/>
                </a:moveTo>
                <a:cubicBezTo>
                  <a:pt x="331686" y="3385"/>
                  <a:pt x="335721" y="5802"/>
                  <a:pt x="338142" y="9831"/>
                </a:cubicBezTo>
                <a:cubicBezTo>
                  <a:pt x="340563" y="13054"/>
                  <a:pt x="341370" y="17889"/>
                  <a:pt x="340563" y="21917"/>
                </a:cubicBezTo>
                <a:cubicBezTo>
                  <a:pt x="338949" y="32392"/>
                  <a:pt x="339756" y="42868"/>
                  <a:pt x="343791" y="52537"/>
                </a:cubicBezTo>
                <a:cubicBezTo>
                  <a:pt x="351861" y="70264"/>
                  <a:pt x="369614" y="81545"/>
                  <a:pt x="388981" y="81545"/>
                </a:cubicBezTo>
                <a:cubicBezTo>
                  <a:pt x="395436" y="81545"/>
                  <a:pt x="402699" y="79933"/>
                  <a:pt x="409155" y="76710"/>
                </a:cubicBezTo>
                <a:cubicBezTo>
                  <a:pt x="418031" y="72681"/>
                  <a:pt x="425294" y="66235"/>
                  <a:pt x="430943" y="57372"/>
                </a:cubicBezTo>
                <a:cubicBezTo>
                  <a:pt x="433364" y="54148"/>
                  <a:pt x="437399" y="50925"/>
                  <a:pt x="441433" y="50120"/>
                </a:cubicBezTo>
                <a:cubicBezTo>
                  <a:pt x="445468" y="49314"/>
                  <a:pt x="450310" y="50120"/>
                  <a:pt x="454345" y="52537"/>
                </a:cubicBezTo>
                <a:cubicBezTo>
                  <a:pt x="477747" y="69458"/>
                  <a:pt x="499535" y="90408"/>
                  <a:pt x="517288" y="113776"/>
                </a:cubicBezTo>
                <a:cubicBezTo>
                  <a:pt x="519709" y="116999"/>
                  <a:pt x="520516" y="121834"/>
                  <a:pt x="519709" y="125863"/>
                </a:cubicBezTo>
                <a:cubicBezTo>
                  <a:pt x="519709" y="130697"/>
                  <a:pt x="516481" y="134726"/>
                  <a:pt x="513253" y="137143"/>
                </a:cubicBezTo>
                <a:cubicBezTo>
                  <a:pt x="504376" y="142784"/>
                  <a:pt x="497114" y="150842"/>
                  <a:pt x="493886" y="160511"/>
                </a:cubicBezTo>
                <a:cubicBezTo>
                  <a:pt x="484202" y="185490"/>
                  <a:pt x="497114" y="214498"/>
                  <a:pt x="522130" y="224167"/>
                </a:cubicBezTo>
                <a:cubicBezTo>
                  <a:pt x="531813" y="227391"/>
                  <a:pt x="541497" y="228196"/>
                  <a:pt x="551987" y="225779"/>
                </a:cubicBezTo>
                <a:cubicBezTo>
                  <a:pt x="556022" y="224167"/>
                  <a:pt x="560864" y="224973"/>
                  <a:pt x="564092" y="227391"/>
                </a:cubicBezTo>
                <a:cubicBezTo>
                  <a:pt x="568126" y="229808"/>
                  <a:pt x="570547" y="233837"/>
                  <a:pt x="571354" y="238671"/>
                </a:cubicBezTo>
                <a:cubicBezTo>
                  <a:pt x="576196" y="267679"/>
                  <a:pt x="577003" y="296687"/>
                  <a:pt x="572968" y="326501"/>
                </a:cubicBezTo>
                <a:cubicBezTo>
                  <a:pt x="572161" y="330530"/>
                  <a:pt x="569740" y="334559"/>
                  <a:pt x="566513" y="336976"/>
                </a:cubicBezTo>
                <a:cubicBezTo>
                  <a:pt x="562478" y="339393"/>
                  <a:pt x="558443" y="341005"/>
                  <a:pt x="553601" y="339393"/>
                </a:cubicBezTo>
                <a:cubicBezTo>
                  <a:pt x="543111" y="337782"/>
                  <a:pt x="532620" y="338588"/>
                  <a:pt x="522937" y="342617"/>
                </a:cubicBezTo>
                <a:cubicBezTo>
                  <a:pt x="498728" y="353897"/>
                  <a:pt x="487430" y="382905"/>
                  <a:pt x="497921" y="407884"/>
                </a:cubicBezTo>
                <a:cubicBezTo>
                  <a:pt x="501956" y="416748"/>
                  <a:pt x="509218" y="424806"/>
                  <a:pt x="518095" y="429640"/>
                </a:cubicBezTo>
                <a:cubicBezTo>
                  <a:pt x="522130" y="432058"/>
                  <a:pt x="524550" y="436087"/>
                  <a:pt x="526164" y="440116"/>
                </a:cubicBezTo>
                <a:cubicBezTo>
                  <a:pt x="526971" y="444950"/>
                  <a:pt x="526164" y="448979"/>
                  <a:pt x="522937" y="453008"/>
                </a:cubicBezTo>
                <a:cubicBezTo>
                  <a:pt x="505990" y="477181"/>
                  <a:pt x="485816" y="498937"/>
                  <a:pt x="461607" y="516664"/>
                </a:cubicBezTo>
                <a:cubicBezTo>
                  <a:pt x="458380" y="519082"/>
                  <a:pt x="453538" y="520693"/>
                  <a:pt x="449503" y="519082"/>
                </a:cubicBezTo>
                <a:cubicBezTo>
                  <a:pt x="444661" y="518276"/>
                  <a:pt x="440626" y="515858"/>
                  <a:pt x="438205" y="511830"/>
                </a:cubicBezTo>
                <a:cubicBezTo>
                  <a:pt x="432557" y="502966"/>
                  <a:pt x="424487" y="495714"/>
                  <a:pt x="414804" y="492491"/>
                </a:cubicBezTo>
                <a:cubicBezTo>
                  <a:pt x="409155" y="490074"/>
                  <a:pt x="403506" y="489268"/>
                  <a:pt x="397050" y="489268"/>
                </a:cubicBezTo>
                <a:cubicBezTo>
                  <a:pt x="376876" y="489268"/>
                  <a:pt x="358316" y="501355"/>
                  <a:pt x="351054" y="520693"/>
                </a:cubicBezTo>
                <a:cubicBezTo>
                  <a:pt x="347826" y="530362"/>
                  <a:pt x="347019" y="540838"/>
                  <a:pt x="349440" y="550507"/>
                </a:cubicBezTo>
                <a:cubicBezTo>
                  <a:pt x="351054" y="555342"/>
                  <a:pt x="350247" y="559370"/>
                  <a:pt x="347826" y="563399"/>
                </a:cubicBezTo>
                <a:cubicBezTo>
                  <a:pt x="345405" y="567428"/>
                  <a:pt x="341370" y="569845"/>
                  <a:pt x="336528" y="570651"/>
                </a:cubicBezTo>
                <a:cubicBezTo>
                  <a:pt x="321196" y="573874"/>
                  <a:pt x="304250" y="574680"/>
                  <a:pt x="288110" y="574680"/>
                </a:cubicBezTo>
                <a:cubicBezTo>
                  <a:pt x="275199" y="574680"/>
                  <a:pt x="261481" y="573874"/>
                  <a:pt x="248569" y="572263"/>
                </a:cubicBezTo>
                <a:cubicBezTo>
                  <a:pt x="243728" y="571457"/>
                  <a:pt x="239693" y="569040"/>
                  <a:pt x="237272" y="565011"/>
                </a:cubicBezTo>
                <a:cubicBezTo>
                  <a:pt x="234851" y="561788"/>
                  <a:pt x="234044" y="556953"/>
                  <a:pt x="234851" y="552924"/>
                </a:cubicBezTo>
                <a:cubicBezTo>
                  <a:pt x="237272" y="542449"/>
                  <a:pt x="236465" y="531168"/>
                  <a:pt x="232430" y="521499"/>
                </a:cubicBezTo>
                <a:cubicBezTo>
                  <a:pt x="224360" y="503772"/>
                  <a:pt x="206607" y="492491"/>
                  <a:pt x="187240" y="492491"/>
                </a:cubicBezTo>
                <a:cubicBezTo>
                  <a:pt x="179978" y="492491"/>
                  <a:pt x="173522" y="494103"/>
                  <a:pt x="167066" y="496520"/>
                </a:cubicBezTo>
                <a:cubicBezTo>
                  <a:pt x="157383" y="500549"/>
                  <a:pt x="150120" y="507801"/>
                  <a:pt x="144471" y="516664"/>
                </a:cubicBezTo>
                <a:cubicBezTo>
                  <a:pt x="142050" y="520693"/>
                  <a:pt x="138822" y="523916"/>
                  <a:pt x="133981" y="524722"/>
                </a:cubicBezTo>
                <a:cubicBezTo>
                  <a:pt x="129946" y="525528"/>
                  <a:pt x="125104" y="524722"/>
                  <a:pt x="121069" y="522305"/>
                </a:cubicBezTo>
                <a:cubicBezTo>
                  <a:pt x="96860" y="504578"/>
                  <a:pt x="75879" y="484433"/>
                  <a:pt x="58126" y="460260"/>
                </a:cubicBezTo>
                <a:cubicBezTo>
                  <a:pt x="54898" y="457037"/>
                  <a:pt x="54091" y="452202"/>
                  <a:pt x="54898" y="448173"/>
                </a:cubicBezTo>
                <a:cubicBezTo>
                  <a:pt x="55705" y="443339"/>
                  <a:pt x="58126" y="439310"/>
                  <a:pt x="62161" y="436892"/>
                </a:cubicBezTo>
                <a:cubicBezTo>
                  <a:pt x="71845" y="431252"/>
                  <a:pt x="78300" y="423194"/>
                  <a:pt x="82335" y="413525"/>
                </a:cubicBezTo>
                <a:cubicBezTo>
                  <a:pt x="87177" y="400632"/>
                  <a:pt x="86370" y="387740"/>
                  <a:pt x="81528" y="375653"/>
                </a:cubicBezTo>
                <a:cubicBezTo>
                  <a:pt x="75879" y="363567"/>
                  <a:pt x="66196" y="354703"/>
                  <a:pt x="54091" y="349869"/>
                </a:cubicBezTo>
                <a:cubicBezTo>
                  <a:pt x="44408" y="345840"/>
                  <a:pt x="33917" y="345840"/>
                  <a:pt x="24234" y="348257"/>
                </a:cubicBezTo>
                <a:cubicBezTo>
                  <a:pt x="19392" y="349063"/>
                  <a:pt x="15357" y="349063"/>
                  <a:pt x="11322" y="346645"/>
                </a:cubicBezTo>
                <a:cubicBezTo>
                  <a:pt x="7288" y="343422"/>
                  <a:pt x="4867" y="340199"/>
                  <a:pt x="4060" y="335365"/>
                </a:cubicBezTo>
                <a:cubicBezTo>
                  <a:pt x="-782" y="306357"/>
                  <a:pt x="-1589" y="276543"/>
                  <a:pt x="3253" y="247535"/>
                </a:cubicBezTo>
                <a:cubicBezTo>
                  <a:pt x="3253" y="242700"/>
                  <a:pt x="5674" y="238671"/>
                  <a:pt x="9708" y="236254"/>
                </a:cubicBezTo>
                <a:cubicBezTo>
                  <a:pt x="13743" y="233837"/>
                  <a:pt x="17778" y="233031"/>
                  <a:pt x="22620" y="233837"/>
                </a:cubicBezTo>
                <a:cubicBezTo>
                  <a:pt x="33110" y="236254"/>
                  <a:pt x="43601" y="235448"/>
                  <a:pt x="53284" y="230614"/>
                </a:cubicBezTo>
                <a:cubicBezTo>
                  <a:pt x="65389" y="225779"/>
                  <a:pt x="74265" y="216110"/>
                  <a:pt x="79107" y="204023"/>
                </a:cubicBezTo>
                <a:cubicBezTo>
                  <a:pt x="83949" y="191131"/>
                  <a:pt x="83142" y="178238"/>
                  <a:pt x="78300" y="166152"/>
                </a:cubicBezTo>
                <a:cubicBezTo>
                  <a:pt x="73459" y="157288"/>
                  <a:pt x="67003" y="149230"/>
                  <a:pt x="58126" y="144395"/>
                </a:cubicBezTo>
                <a:cubicBezTo>
                  <a:pt x="54091" y="141978"/>
                  <a:pt x="51671" y="137949"/>
                  <a:pt x="50864" y="133920"/>
                </a:cubicBezTo>
                <a:cubicBezTo>
                  <a:pt x="50057" y="129086"/>
                  <a:pt x="50864" y="124251"/>
                  <a:pt x="53284" y="121028"/>
                </a:cubicBezTo>
                <a:cubicBezTo>
                  <a:pt x="70231" y="96855"/>
                  <a:pt x="91212" y="75904"/>
                  <a:pt x="114614" y="58177"/>
                </a:cubicBezTo>
                <a:cubicBezTo>
                  <a:pt x="118648" y="55760"/>
                  <a:pt x="122683" y="54148"/>
                  <a:pt x="127525" y="54954"/>
                </a:cubicBezTo>
                <a:cubicBezTo>
                  <a:pt x="131560" y="55760"/>
                  <a:pt x="135595" y="58177"/>
                  <a:pt x="138015" y="62206"/>
                </a:cubicBezTo>
                <a:cubicBezTo>
                  <a:pt x="143664" y="71070"/>
                  <a:pt x="151734" y="77516"/>
                  <a:pt x="161417" y="81545"/>
                </a:cubicBezTo>
                <a:cubicBezTo>
                  <a:pt x="167066" y="83962"/>
                  <a:pt x="172715" y="84768"/>
                  <a:pt x="179171" y="84768"/>
                </a:cubicBezTo>
                <a:cubicBezTo>
                  <a:pt x="199345" y="84768"/>
                  <a:pt x="217905" y="71876"/>
                  <a:pt x="225167" y="53343"/>
                </a:cubicBezTo>
                <a:cubicBezTo>
                  <a:pt x="228395" y="43673"/>
                  <a:pt x="229202" y="34004"/>
                  <a:pt x="226781" y="24335"/>
                </a:cubicBezTo>
                <a:cubicBezTo>
                  <a:pt x="225974" y="19500"/>
                  <a:pt x="226781" y="14665"/>
                  <a:pt x="229202" y="11442"/>
                </a:cubicBezTo>
                <a:cubicBezTo>
                  <a:pt x="231623" y="7413"/>
                  <a:pt x="235658" y="4996"/>
                  <a:pt x="239693" y="4190"/>
                </a:cubicBezTo>
                <a:cubicBezTo>
                  <a:pt x="268743" y="-644"/>
                  <a:pt x="297794" y="-1450"/>
                  <a:pt x="327652" y="2579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958342" y="5774016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958342" y="5717961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324246" y="5774016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5324246" y="5717961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10786" y="5774016"/>
            <a:ext cx="1553895" cy="32400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cap="flat" cmpd="sng">
            <a:prstDash val="solid"/>
          </a:ln>
        </p:spPr>
        <p:txBody>
          <a:bodyPr vert="horz" lIns="91440" tIns="45720" rIns="91440" bIns="4572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710786" y="5717961"/>
            <a:ext cx="1561206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000" b="0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Agency FB"/>
                <a:ea typeface="Agency FB"/>
              </a:rPr>
              <a:t>PART 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74855" y="2945569"/>
            <a:ext cx="2752566" cy="1346074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Cross-validation is applied to ensure the robustness and reliability of the logistic regression model, guarding against overfitting.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34367" y="2483285"/>
            <a:ext cx="30285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Validation Process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701530" y="2945569"/>
            <a:ext cx="2752566" cy="153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Mean cross-validation accuracy scores range from 97% to 99%, affirming the model's accuracy and stability across varying data subsets.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61042" y="2483285"/>
            <a:ext cx="30285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Performance Metrics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05647" y="2945569"/>
            <a:ext cx="2752566" cy="117729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lumMod val="95000"/>
                  </a:srgbClr>
                </a:solidFill>
                <a:latin typeface="微软雅黑"/>
                <a:ea typeface="微软雅黑"/>
              </a:rPr>
              <a:t>Validating model consistency helps stakeholders have a higher degree of assurance in its predictive capabilities.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65159" y="2483285"/>
            <a:ext cx="302850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Implications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 dirty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05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14465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altLang="zh-CN" sz="44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Model</a:t>
            </a:r>
          </a:p>
          <a:p>
            <a:pPr marL="0" algn="ctr">
              <a:defRPr/>
            </a:pPr>
            <a:r>
              <a:rPr lang="en-US" sz="44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Deployment</a:t>
            </a:r>
            <a:endParaRPr lang="en-US" sz="1100" dirty="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64199" y="738415"/>
            <a:ext cx="8017018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Deployment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8512" y="1818667"/>
            <a:ext cx="4503189" cy="2904239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40072" y="2050058"/>
            <a:ext cx="723750" cy="723748"/>
          </a:xfrm>
          <a:prstGeom prst="roundRect">
            <a:avLst/>
          </a:pr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958355" y="2225536"/>
            <a:ext cx="3243866" cy="2316403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Deploy the bankruptcy prediction model as an interactive web app. Allow users to input financial indicators and receive real-time predictions. Provide a simple, accessible interface for non-technical stakeholders.</a:t>
            </a:r>
            <a:endParaRPr lang="zh-CN" altLang="en-US" sz="1400" b="0" i="0" u="none" baseline="0" dirty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60173" y="1896337"/>
            <a:ext cx="325116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Deployment Objective</a:t>
            </a:r>
            <a:endParaRPr lang="en-US" sz="1100" dirty="0"/>
          </a:p>
        </p:txBody>
      </p:sp>
      <p:sp>
        <p:nvSpPr>
          <p:cNvPr id="9" name="Freeform 9"/>
          <p:cNvSpPr/>
          <p:nvPr/>
        </p:nvSpPr>
        <p:spPr>
          <a:xfrm>
            <a:off x="1384310" y="2210947"/>
            <a:ext cx="435274" cy="401970"/>
          </a:xfrm>
          <a:custGeom>
            <a:avLst/>
            <a:gdLst/>
            <a:ahLst/>
            <a:cxnLst/>
            <a:rect l="l" t="t" r="r" b="b"/>
            <a:pathLst>
              <a:path w="608697" h="562124">
                <a:moveTo>
                  <a:pt x="186302" y="63862"/>
                </a:moveTo>
                <a:cubicBezTo>
                  <a:pt x="196225" y="63862"/>
                  <a:pt x="204357" y="71907"/>
                  <a:pt x="204357" y="81889"/>
                </a:cubicBezTo>
                <a:cubicBezTo>
                  <a:pt x="204357" y="91871"/>
                  <a:pt x="196300" y="99991"/>
                  <a:pt x="186302" y="99991"/>
                </a:cubicBezTo>
                <a:cubicBezTo>
                  <a:pt x="137808" y="99991"/>
                  <a:pt x="99759" y="137907"/>
                  <a:pt x="99759" y="186326"/>
                </a:cubicBezTo>
                <a:cubicBezTo>
                  <a:pt x="99759" y="196308"/>
                  <a:pt x="91702" y="204428"/>
                  <a:pt x="81705" y="204428"/>
                </a:cubicBezTo>
                <a:cubicBezTo>
                  <a:pt x="71708" y="204428"/>
                  <a:pt x="63650" y="196308"/>
                  <a:pt x="63650" y="186326"/>
                </a:cubicBezTo>
                <a:cubicBezTo>
                  <a:pt x="63650" y="117645"/>
                  <a:pt x="117516" y="63862"/>
                  <a:pt x="186302" y="63862"/>
                </a:cubicBezTo>
                <a:close/>
                <a:moveTo>
                  <a:pt x="175448" y="36129"/>
                </a:moveTo>
                <a:cubicBezTo>
                  <a:pt x="97347" y="36129"/>
                  <a:pt x="36179" y="97213"/>
                  <a:pt x="36179" y="175282"/>
                </a:cubicBezTo>
                <a:cubicBezTo>
                  <a:pt x="36179" y="273687"/>
                  <a:pt x="122933" y="355182"/>
                  <a:pt x="276226" y="490611"/>
                </a:cubicBezTo>
                <a:cubicBezTo>
                  <a:pt x="276450" y="490834"/>
                  <a:pt x="276748" y="491132"/>
                  <a:pt x="276972" y="491356"/>
                </a:cubicBezTo>
                <a:lnTo>
                  <a:pt x="304349" y="518546"/>
                </a:lnTo>
                <a:lnTo>
                  <a:pt x="331725" y="491356"/>
                </a:lnTo>
                <a:cubicBezTo>
                  <a:pt x="331949" y="491132"/>
                  <a:pt x="332247" y="490834"/>
                  <a:pt x="332471" y="490611"/>
                </a:cubicBezTo>
                <a:cubicBezTo>
                  <a:pt x="485764" y="355182"/>
                  <a:pt x="572518" y="273762"/>
                  <a:pt x="572518" y="175282"/>
                </a:cubicBezTo>
                <a:cubicBezTo>
                  <a:pt x="572518" y="97213"/>
                  <a:pt x="511350" y="36129"/>
                  <a:pt x="433249" y="36129"/>
                </a:cubicBezTo>
                <a:cubicBezTo>
                  <a:pt x="390282" y="36129"/>
                  <a:pt x="346196" y="56689"/>
                  <a:pt x="318149" y="89764"/>
                </a:cubicBezTo>
                <a:cubicBezTo>
                  <a:pt x="314717" y="93861"/>
                  <a:pt x="309645" y="96170"/>
                  <a:pt x="304349" y="96170"/>
                </a:cubicBezTo>
                <a:cubicBezTo>
                  <a:pt x="299052" y="96170"/>
                  <a:pt x="293980" y="93861"/>
                  <a:pt x="290548" y="89764"/>
                </a:cubicBezTo>
                <a:cubicBezTo>
                  <a:pt x="262501" y="56689"/>
                  <a:pt x="218415" y="36129"/>
                  <a:pt x="175448" y="36129"/>
                </a:cubicBezTo>
                <a:close/>
                <a:moveTo>
                  <a:pt x="175448" y="0"/>
                </a:moveTo>
                <a:cubicBezTo>
                  <a:pt x="222891" y="0"/>
                  <a:pt x="269736" y="19145"/>
                  <a:pt x="304349" y="51847"/>
                </a:cubicBezTo>
                <a:cubicBezTo>
                  <a:pt x="338961" y="19145"/>
                  <a:pt x="385807" y="0"/>
                  <a:pt x="433249" y="0"/>
                </a:cubicBezTo>
                <a:cubicBezTo>
                  <a:pt x="531640" y="0"/>
                  <a:pt x="608697" y="77026"/>
                  <a:pt x="608697" y="175282"/>
                </a:cubicBezTo>
                <a:cubicBezTo>
                  <a:pt x="608697" y="230258"/>
                  <a:pt x="586020" y="283446"/>
                  <a:pt x="537309" y="342593"/>
                </a:cubicBezTo>
                <a:cubicBezTo>
                  <a:pt x="494865" y="394291"/>
                  <a:pt x="435711" y="447628"/>
                  <a:pt x="356864" y="517354"/>
                </a:cubicBezTo>
                <a:lnTo>
                  <a:pt x="317104" y="556835"/>
                </a:lnTo>
                <a:cubicBezTo>
                  <a:pt x="313598" y="560336"/>
                  <a:pt x="308973" y="562124"/>
                  <a:pt x="304349" y="562124"/>
                </a:cubicBezTo>
                <a:cubicBezTo>
                  <a:pt x="299724" y="562124"/>
                  <a:pt x="295099" y="560336"/>
                  <a:pt x="291593" y="556835"/>
                </a:cubicBezTo>
                <a:lnTo>
                  <a:pt x="251834" y="517354"/>
                </a:lnTo>
                <a:cubicBezTo>
                  <a:pt x="172986" y="447628"/>
                  <a:pt x="113832" y="394291"/>
                  <a:pt x="71388" y="342593"/>
                </a:cubicBezTo>
                <a:cubicBezTo>
                  <a:pt x="22677" y="283446"/>
                  <a:pt x="0" y="230258"/>
                  <a:pt x="0" y="175282"/>
                </a:cubicBezTo>
                <a:cubicBezTo>
                  <a:pt x="0" y="77026"/>
                  <a:pt x="77057" y="0"/>
                  <a:pt x="175448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523109" y="2498849"/>
            <a:ext cx="4503189" cy="4206751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 cap="flat" cmpd="sng">
            <a:prstDash val="solid"/>
          </a:ln>
          <a:effectLst>
            <a:outerShdw blurRad="736600" sx="102000" sy="102000" algn="ctr" rotWithShape="0">
              <a:srgbClr val="000000">
                <a:alpha val="22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784669" y="2862871"/>
            <a:ext cx="723750" cy="723748"/>
          </a:xfrm>
          <a:prstGeom prst="roundRect">
            <a:avLst/>
          </a:pr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487997" y="3096535"/>
            <a:ext cx="3243866" cy="3609065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Pre-trained model loaded using </a:t>
            </a:r>
            <a:r>
              <a:rPr lang="en-IN" altLang="zh-CN" sz="1400" dirty="0" err="1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joblib</a:t>
            </a: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Dataset loaded to prefill inputs with realistic values.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User inputs collected through interactive number fields.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Prediction includes: Class label (Bankrupt / Non-Bankrupt) Probability score (0–100%)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zh-CN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PDF report generated for download.</a:t>
            </a:r>
            <a:endParaRPr lang="zh-CN" altLang="en-US" sz="1400" b="0" i="0" u="none" baseline="0" dirty="0">
              <a:solidFill>
                <a:srgbClr val="000000">
                  <a:lumMod val="50000"/>
                  <a:lumOff val="50000"/>
                </a:srgbClr>
              </a:solidFill>
              <a:latin typeface="微软雅黑"/>
              <a:ea typeface="微软雅黑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508419" y="2636093"/>
            <a:ext cx="335751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IN" altLang="zh-CN" sz="1600" b="1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Deployment Workflow</a:t>
            </a:r>
            <a:endParaRPr lang="en-US" sz="1100" dirty="0"/>
          </a:p>
        </p:txBody>
      </p:sp>
      <p:sp>
        <p:nvSpPr>
          <p:cNvPr id="14" name="Freeform 14"/>
          <p:cNvSpPr/>
          <p:nvPr/>
        </p:nvSpPr>
        <p:spPr>
          <a:xfrm>
            <a:off x="6928906" y="2974647"/>
            <a:ext cx="435274" cy="422170"/>
          </a:xfrm>
          <a:custGeom>
            <a:avLst/>
            <a:gdLst/>
            <a:ahLst/>
            <a:cxnLst/>
            <a:rect l="l" t="t" r="r" b="b"/>
            <a:pathLst>
              <a:path w="578738" h="561315">
                <a:moveTo>
                  <a:pt x="35700" y="243554"/>
                </a:moveTo>
                <a:cubicBezTo>
                  <a:pt x="34181" y="243554"/>
                  <a:pt x="30383" y="248104"/>
                  <a:pt x="30383" y="254930"/>
                </a:cubicBezTo>
                <a:lnTo>
                  <a:pt x="30383" y="519604"/>
                </a:lnTo>
                <a:cubicBezTo>
                  <a:pt x="30383" y="526430"/>
                  <a:pt x="34181" y="530980"/>
                  <a:pt x="35700" y="530980"/>
                </a:cubicBezTo>
                <a:lnTo>
                  <a:pt x="132926" y="530980"/>
                </a:lnTo>
                <a:cubicBezTo>
                  <a:pt x="134445" y="530980"/>
                  <a:pt x="138243" y="526430"/>
                  <a:pt x="138243" y="519604"/>
                </a:cubicBezTo>
                <a:lnTo>
                  <a:pt x="138243" y="254930"/>
                </a:lnTo>
                <a:cubicBezTo>
                  <a:pt x="138243" y="248104"/>
                  <a:pt x="134445" y="243554"/>
                  <a:pt x="132926" y="243554"/>
                </a:cubicBezTo>
                <a:close/>
                <a:moveTo>
                  <a:pt x="35700" y="213219"/>
                </a:moveTo>
                <a:lnTo>
                  <a:pt x="132926" y="213219"/>
                </a:lnTo>
                <a:cubicBezTo>
                  <a:pt x="152675" y="213219"/>
                  <a:pt x="168626" y="231420"/>
                  <a:pt x="168626" y="254930"/>
                </a:cubicBezTo>
                <a:lnTo>
                  <a:pt x="168626" y="519604"/>
                </a:lnTo>
                <a:cubicBezTo>
                  <a:pt x="168626" y="542356"/>
                  <a:pt x="152675" y="561315"/>
                  <a:pt x="132926" y="561315"/>
                </a:cubicBezTo>
                <a:lnTo>
                  <a:pt x="35700" y="561315"/>
                </a:lnTo>
                <a:cubicBezTo>
                  <a:pt x="15951" y="561315"/>
                  <a:pt x="0" y="542356"/>
                  <a:pt x="0" y="519604"/>
                </a:cubicBezTo>
                <a:lnTo>
                  <a:pt x="0" y="254930"/>
                </a:lnTo>
                <a:cubicBezTo>
                  <a:pt x="0" y="231420"/>
                  <a:pt x="15951" y="213219"/>
                  <a:pt x="35700" y="213219"/>
                </a:cubicBezTo>
                <a:close/>
                <a:moveTo>
                  <a:pt x="321281" y="30341"/>
                </a:moveTo>
                <a:cubicBezTo>
                  <a:pt x="307611" y="30341"/>
                  <a:pt x="296219" y="41719"/>
                  <a:pt x="296219" y="55373"/>
                </a:cubicBezTo>
                <a:cubicBezTo>
                  <a:pt x="296219" y="56890"/>
                  <a:pt x="296979" y="59166"/>
                  <a:pt x="296979" y="60683"/>
                </a:cubicBezTo>
                <a:cubicBezTo>
                  <a:pt x="297738" y="62200"/>
                  <a:pt x="297738" y="64475"/>
                  <a:pt x="296979" y="65992"/>
                </a:cubicBezTo>
                <a:cubicBezTo>
                  <a:pt x="306852" y="119090"/>
                  <a:pt x="287106" y="174463"/>
                  <a:pt x="268119" y="212389"/>
                </a:cubicBezTo>
                <a:cubicBezTo>
                  <a:pt x="266600" y="215424"/>
                  <a:pt x="265081" y="218458"/>
                  <a:pt x="263563" y="221492"/>
                </a:cubicBezTo>
                <a:cubicBezTo>
                  <a:pt x="263563" y="221492"/>
                  <a:pt x="262803" y="222250"/>
                  <a:pt x="262044" y="223009"/>
                </a:cubicBezTo>
                <a:cubicBezTo>
                  <a:pt x="255209" y="232870"/>
                  <a:pt x="244576" y="238938"/>
                  <a:pt x="232425" y="240455"/>
                </a:cubicBezTo>
                <a:cubicBezTo>
                  <a:pt x="231665" y="240455"/>
                  <a:pt x="230906" y="240455"/>
                  <a:pt x="230146" y="240455"/>
                </a:cubicBezTo>
                <a:lnTo>
                  <a:pt x="225590" y="240455"/>
                </a:lnTo>
                <a:cubicBezTo>
                  <a:pt x="225590" y="241214"/>
                  <a:pt x="224830" y="241214"/>
                  <a:pt x="224071" y="241214"/>
                </a:cubicBezTo>
                <a:cubicBezTo>
                  <a:pt x="217236" y="241214"/>
                  <a:pt x="211919" y="246524"/>
                  <a:pt x="211919" y="253350"/>
                </a:cubicBezTo>
                <a:lnTo>
                  <a:pt x="211919" y="518079"/>
                </a:lnTo>
                <a:cubicBezTo>
                  <a:pt x="211919" y="524905"/>
                  <a:pt x="217995" y="530974"/>
                  <a:pt x="224830" y="530974"/>
                </a:cubicBezTo>
                <a:lnTo>
                  <a:pt x="521019" y="530974"/>
                </a:lnTo>
                <a:cubicBezTo>
                  <a:pt x="521779" y="530974"/>
                  <a:pt x="521779" y="530215"/>
                  <a:pt x="522538" y="530215"/>
                </a:cubicBezTo>
                <a:cubicBezTo>
                  <a:pt x="536208" y="530215"/>
                  <a:pt x="546081" y="518837"/>
                  <a:pt x="546081" y="505942"/>
                </a:cubicBezTo>
                <a:cubicBezTo>
                  <a:pt x="546081" y="493047"/>
                  <a:pt x="536208" y="481669"/>
                  <a:pt x="522538" y="480910"/>
                </a:cubicBezTo>
                <a:cubicBezTo>
                  <a:pt x="514943" y="480910"/>
                  <a:pt x="508108" y="474084"/>
                  <a:pt x="508108" y="465740"/>
                </a:cubicBezTo>
                <a:cubicBezTo>
                  <a:pt x="508108" y="457396"/>
                  <a:pt x="514943" y="450569"/>
                  <a:pt x="523298" y="450569"/>
                </a:cubicBezTo>
                <a:cubicBezTo>
                  <a:pt x="536968" y="450569"/>
                  <a:pt x="548360" y="439191"/>
                  <a:pt x="548360" y="425537"/>
                </a:cubicBezTo>
                <a:cubicBezTo>
                  <a:pt x="548360" y="411884"/>
                  <a:pt x="536968" y="401264"/>
                  <a:pt x="523298" y="401264"/>
                </a:cubicBezTo>
                <a:cubicBezTo>
                  <a:pt x="514943" y="401264"/>
                  <a:pt x="508108" y="394438"/>
                  <a:pt x="508108" y="386094"/>
                </a:cubicBezTo>
                <a:cubicBezTo>
                  <a:pt x="508108" y="377750"/>
                  <a:pt x="514943" y="370923"/>
                  <a:pt x="523298" y="370923"/>
                </a:cubicBezTo>
                <a:cubicBezTo>
                  <a:pt x="536968" y="370923"/>
                  <a:pt x="548360" y="359545"/>
                  <a:pt x="548360" y="345891"/>
                </a:cubicBezTo>
                <a:cubicBezTo>
                  <a:pt x="548360" y="332238"/>
                  <a:pt x="536968" y="320860"/>
                  <a:pt x="523298" y="320860"/>
                </a:cubicBezTo>
                <a:cubicBezTo>
                  <a:pt x="514943" y="320860"/>
                  <a:pt x="508108" y="314033"/>
                  <a:pt x="508108" y="305689"/>
                </a:cubicBezTo>
                <a:cubicBezTo>
                  <a:pt x="508108" y="297345"/>
                  <a:pt x="514943" y="290518"/>
                  <a:pt x="523298" y="290518"/>
                </a:cubicBezTo>
                <a:cubicBezTo>
                  <a:pt x="536968" y="290518"/>
                  <a:pt x="548360" y="279140"/>
                  <a:pt x="548360" y="265487"/>
                </a:cubicBezTo>
                <a:cubicBezTo>
                  <a:pt x="548360" y="251833"/>
                  <a:pt x="536968" y="240455"/>
                  <a:pt x="523298" y="240455"/>
                </a:cubicBezTo>
                <a:lnTo>
                  <a:pt x="373684" y="240455"/>
                </a:lnTo>
                <a:cubicBezTo>
                  <a:pt x="369127" y="240455"/>
                  <a:pt x="363811" y="238180"/>
                  <a:pt x="361533" y="234387"/>
                </a:cubicBezTo>
                <a:cubicBezTo>
                  <a:pt x="358495" y="229836"/>
                  <a:pt x="357735" y="224526"/>
                  <a:pt x="360014" y="219975"/>
                </a:cubicBezTo>
                <a:cubicBezTo>
                  <a:pt x="401784" y="120607"/>
                  <a:pt x="349381" y="50822"/>
                  <a:pt x="343306" y="42478"/>
                </a:cubicBezTo>
                <a:cubicBezTo>
                  <a:pt x="342546" y="42478"/>
                  <a:pt x="341787" y="41719"/>
                  <a:pt x="341787" y="40961"/>
                </a:cubicBezTo>
                <a:cubicBezTo>
                  <a:pt x="336471" y="34134"/>
                  <a:pt x="329635" y="30341"/>
                  <a:pt x="321281" y="30341"/>
                </a:cubicBezTo>
                <a:close/>
                <a:moveTo>
                  <a:pt x="321281" y="0"/>
                </a:moveTo>
                <a:cubicBezTo>
                  <a:pt x="338749" y="0"/>
                  <a:pt x="354698" y="8344"/>
                  <a:pt x="365330" y="21997"/>
                </a:cubicBezTo>
                <a:cubicBezTo>
                  <a:pt x="368368" y="25032"/>
                  <a:pt x="431403" y="99368"/>
                  <a:pt x="395708" y="210114"/>
                </a:cubicBezTo>
                <a:lnTo>
                  <a:pt x="523298" y="210114"/>
                </a:lnTo>
                <a:cubicBezTo>
                  <a:pt x="538487" y="210114"/>
                  <a:pt x="552157" y="216182"/>
                  <a:pt x="562789" y="226802"/>
                </a:cubicBezTo>
                <a:cubicBezTo>
                  <a:pt x="572662" y="237421"/>
                  <a:pt x="578738" y="251075"/>
                  <a:pt x="578738" y="265487"/>
                </a:cubicBezTo>
                <a:cubicBezTo>
                  <a:pt x="578738" y="281416"/>
                  <a:pt x="571903" y="295828"/>
                  <a:pt x="561270" y="305689"/>
                </a:cubicBezTo>
                <a:cubicBezTo>
                  <a:pt x="571903" y="315550"/>
                  <a:pt x="578738" y="329962"/>
                  <a:pt x="578738" y="345891"/>
                </a:cubicBezTo>
                <a:cubicBezTo>
                  <a:pt x="578738" y="361821"/>
                  <a:pt x="571903" y="375474"/>
                  <a:pt x="561270" y="386094"/>
                </a:cubicBezTo>
                <a:cubicBezTo>
                  <a:pt x="571903" y="395955"/>
                  <a:pt x="578738" y="410367"/>
                  <a:pt x="578738" y="425537"/>
                </a:cubicBezTo>
                <a:cubicBezTo>
                  <a:pt x="578738" y="442225"/>
                  <a:pt x="571903" y="456637"/>
                  <a:pt x="560511" y="466498"/>
                </a:cubicBezTo>
                <a:cubicBezTo>
                  <a:pt x="570384" y="477118"/>
                  <a:pt x="576460" y="490771"/>
                  <a:pt x="576460" y="505942"/>
                </a:cubicBezTo>
                <a:cubicBezTo>
                  <a:pt x="576460" y="534008"/>
                  <a:pt x="555195" y="557522"/>
                  <a:pt x="527095" y="560556"/>
                </a:cubicBezTo>
                <a:cubicBezTo>
                  <a:pt x="525576" y="560556"/>
                  <a:pt x="524816" y="561315"/>
                  <a:pt x="523298" y="561315"/>
                </a:cubicBezTo>
                <a:lnTo>
                  <a:pt x="224830" y="561315"/>
                </a:lnTo>
                <a:cubicBezTo>
                  <a:pt x="201287" y="561315"/>
                  <a:pt x="181541" y="541593"/>
                  <a:pt x="181541" y="518079"/>
                </a:cubicBezTo>
                <a:lnTo>
                  <a:pt x="181541" y="253350"/>
                </a:lnTo>
                <a:cubicBezTo>
                  <a:pt x="181541" y="230594"/>
                  <a:pt x="199768" y="211631"/>
                  <a:pt x="222552" y="210872"/>
                </a:cubicBezTo>
                <a:cubicBezTo>
                  <a:pt x="223311" y="210872"/>
                  <a:pt x="224071" y="210114"/>
                  <a:pt x="224830" y="210114"/>
                </a:cubicBezTo>
                <a:lnTo>
                  <a:pt x="229387" y="210114"/>
                </a:lnTo>
                <a:cubicBezTo>
                  <a:pt x="232425" y="210114"/>
                  <a:pt x="235463" y="208597"/>
                  <a:pt x="237741" y="205563"/>
                </a:cubicBezTo>
                <a:cubicBezTo>
                  <a:pt x="238500" y="203287"/>
                  <a:pt x="240019" y="201011"/>
                  <a:pt x="240779" y="198736"/>
                </a:cubicBezTo>
                <a:cubicBezTo>
                  <a:pt x="255209" y="170670"/>
                  <a:pt x="277233" y="115297"/>
                  <a:pt x="266600" y="66751"/>
                </a:cubicBezTo>
                <a:cubicBezTo>
                  <a:pt x="265841" y="65234"/>
                  <a:pt x="265841" y="62958"/>
                  <a:pt x="266600" y="60683"/>
                </a:cubicBezTo>
                <a:cubicBezTo>
                  <a:pt x="265841" y="59166"/>
                  <a:pt x="265841" y="56890"/>
                  <a:pt x="265841" y="55373"/>
                </a:cubicBezTo>
                <a:cubicBezTo>
                  <a:pt x="265841" y="25032"/>
                  <a:pt x="290903" y="0"/>
                  <a:pt x="321281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</p:spTree>
    <p:extLst>
      <p:ext uri="{BB962C8B-B14F-4D97-AF65-F5344CB8AC3E}">
        <p14:creationId xmlns:p14="http://schemas.microsoft.com/office/powerpoint/2010/main" val="40561408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05178">
            <a:off x="9837001" y="4676491"/>
            <a:ext cx="2285529" cy="195595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68000">
                <a:srgbClr val="EE37E9"/>
              </a:gs>
              <a:gs pos="92000">
                <a:srgbClr val="584CE0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7391156">
            <a:off x="-199973" y="379989"/>
            <a:ext cx="2685140" cy="2020998"/>
          </a:xfrm>
          <a:custGeom>
            <a:avLst/>
            <a:gdLst/>
            <a:ahLst/>
            <a:cxnLst/>
            <a:rect l="l" t="t" r="r" b="b"/>
            <a:pathLst>
              <a:path w="5501899" h="4162662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309355" y="4380846"/>
                  <a:pt x="3556789" y="4069094"/>
                </a:cubicBezTo>
                <a:cubicBezTo>
                  <a:pt x="2804223" y="3757342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altLang="zh-CN" sz="32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Output - Home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AB1EDE-451B-B622-420E-2357B4D7D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53" y="1239896"/>
            <a:ext cx="11189694" cy="52433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407391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05178">
            <a:off x="10309738" y="4647144"/>
            <a:ext cx="2285529" cy="195595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68000">
                <a:srgbClr val="EE37E9"/>
              </a:gs>
              <a:gs pos="92000">
                <a:srgbClr val="584CE0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7391156">
            <a:off x="-199973" y="1117353"/>
            <a:ext cx="2685140" cy="2020998"/>
          </a:xfrm>
          <a:custGeom>
            <a:avLst/>
            <a:gdLst/>
            <a:ahLst/>
            <a:cxnLst/>
            <a:rect l="l" t="t" r="r" b="b"/>
            <a:pathLst>
              <a:path w="5501899" h="4162662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309355" y="4380846"/>
                  <a:pt x="3556789" y="4069094"/>
                </a:cubicBezTo>
                <a:cubicBezTo>
                  <a:pt x="2804223" y="3757342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-1371600" y="228600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altLang="zh-CN" sz="3200" b="1" i="0" u="none" baseline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Output - Predict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13837-5733-3BFC-AB80-2E6AB0D55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877" y="33196"/>
            <a:ext cx="6958523" cy="6695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913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38352" y="735955"/>
            <a:ext cx="8115298" cy="37702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23900" b="1" i="0" u="none" baseline="0">
                <a:solidFill>
                  <a:srgbClr val="FFFFFF">
                    <a:lumMod val="95000"/>
                  </a:srgbClr>
                </a:solidFill>
                <a:latin typeface="+mn-ea"/>
                <a:ea typeface="+mn-ea"/>
              </a:rPr>
              <a:t>06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614547" y="4385306"/>
            <a:ext cx="6769100" cy="7694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44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Conclusion and Recommendations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3044657" y="991564"/>
            <a:ext cx="1484640" cy="1728796"/>
            <a:chOff x="3044657" y="991564"/>
            <a:chExt cx="1484640" cy="1728796"/>
          </a:xfrm>
        </p:grpSpPr>
        <p:sp>
          <p:nvSpPr>
            <p:cNvPr id="5" name="Freeform 5"/>
            <p:cNvSpPr/>
            <p:nvPr/>
          </p:nvSpPr>
          <p:spPr>
            <a:xfrm rot="3595803">
              <a:off x="2922579" y="1113642"/>
              <a:ext cx="1728796" cy="1484640"/>
            </a:xfrm>
            <a:custGeom>
              <a:avLst/>
              <a:gdLst/>
              <a:ahLst/>
              <a:cxnLst/>
              <a:rect l="l" t="t" r="r" b="b"/>
              <a:pathLst>
                <a:path w="5141928" h="4415739">
                  <a:moveTo>
                    <a:pt x="1743408" y="1737379"/>
                  </a:moveTo>
                  <a:cubicBezTo>
                    <a:pt x="2307288" y="1153179"/>
                    <a:pt x="2853388" y="5099"/>
                    <a:pt x="3419808" y="19"/>
                  </a:cubicBezTo>
                  <a:cubicBezTo>
                    <a:pt x="3986228" y="-5061"/>
                    <a:pt x="5141928" y="982999"/>
                    <a:pt x="5141928" y="1706899"/>
                  </a:cubicBezTo>
                  <a:cubicBezTo>
                    <a:pt x="5141928" y="2430799"/>
                    <a:pt x="4270708" y="4043699"/>
                    <a:pt x="3419808" y="4343419"/>
                  </a:cubicBezTo>
                  <a:cubicBezTo>
                    <a:pt x="2568908" y="4643139"/>
                    <a:pt x="318468" y="3942099"/>
                    <a:pt x="36528" y="3505219"/>
                  </a:cubicBezTo>
                  <a:cubicBezTo>
                    <a:pt x="-245412" y="3068339"/>
                    <a:pt x="1179528" y="2321579"/>
                    <a:pt x="1743408" y="1737379"/>
                  </a:cubicBezTo>
                  <a:close/>
                </a:path>
              </a:pathLst>
            </a:custGeom>
            <a:gradFill>
              <a:gsLst>
                <a:gs pos="0">
                  <a:srgbClr val="FF9409"/>
                </a:gs>
                <a:gs pos="38000">
                  <a:srgbClr val="FE934B"/>
                </a:gs>
                <a:gs pos="71000">
                  <a:srgbClr val="F3C053"/>
                </a:gs>
              </a:gsLst>
              <a:lin ang="8100000"/>
            </a:gradFill>
            <a:ln cap="flat" cmpd="sng">
              <a:prstDash val="solid"/>
            </a:ln>
            <a:effectLst>
              <a:outerShdw blurRad="647700" sx="102000" sy="102000" algn="ctr" rotWithShape="0">
                <a:srgbClr val="000000">
                  <a:alpha val="18000"/>
                </a:srgbClr>
              </a:outerShdw>
            </a:effectLst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52917" y="1745605"/>
              <a:ext cx="1150808" cy="58477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ctr">
                <a:defRPr/>
              </a:pPr>
              <a:r>
                <a:rPr lang="en-US" sz="3200" b="1" i="0" u="none" baseline="0">
                  <a:solidFill>
                    <a:srgbClr val="FFFFFF"/>
                  </a:solidFill>
                  <a:latin typeface="Agency FB"/>
                  <a:ea typeface="Agency FB"/>
                </a:rPr>
                <a:t>PART</a:t>
              </a:r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8993530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305178">
            <a:off x="9837001" y="4676491"/>
            <a:ext cx="2285529" cy="1955955"/>
          </a:xfrm>
          <a:custGeom>
            <a:avLst/>
            <a:gdLst/>
            <a:ahLst/>
            <a:cxnLst/>
            <a:rect l="l" t="t" r="r" b="b"/>
            <a:pathLst>
              <a:path w="5141928" h="4415739">
                <a:moveTo>
                  <a:pt x="1743408" y="1737379"/>
                </a:moveTo>
                <a:cubicBezTo>
                  <a:pt x="2307288" y="1153179"/>
                  <a:pt x="2853388" y="5099"/>
                  <a:pt x="3419808" y="19"/>
                </a:cubicBezTo>
                <a:cubicBezTo>
                  <a:pt x="3986228" y="-5061"/>
                  <a:pt x="5141928" y="982999"/>
                  <a:pt x="5141928" y="1706899"/>
                </a:cubicBezTo>
                <a:cubicBezTo>
                  <a:pt x="5141928" y="2430799"/>
                  <a:pt x="4270708" y="4043699"/>
                  <a:pt x="3419808" y="4343419"/>
                </a:cubicBezTo>
                <a:cubicBezTo>
                  <a:pt x="2568908" y="4643139"/>
                  <a:pt x="318468" y="3942099"/>
                  <a:pt x="36528" y="3505219"/>
                </a:cubicBezTo>
                <a:cubicBezTo>
                  <a:pt x="-245412" y="3068339"/>
                  <a:pt x="1179528" y="2321579"/>
                  <a:pt x="1743408" y="1737379"/>
                </a:cubicBezTo>
                <a:close/>
              </a:path>
            </a:pathLst>
          </a:custGeom>
          <a:gradFill>
            <a:gsLst>
              <a:gs pos="22000">
                <a:srgbClr val="F3C053"/>
              </a:gs>
              <a:gs pos="68000">
                <a:srgbClr val="EE37E9"/>
              </a:gs>
              <a:gs pos="92000">
                <a:srgbClr val="584CE0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17391156">
            <a:off x="-199973" y="379989"/>
            <a:ext cx="2685140" cy="2020998"/>
          </a:xfrm>
          <a:custGeom>
            <a:avLst/>
            <a:gdLst/>
            <a:ahLst/>
            <a:cxnLst/>
            <a:rect l="l" t="t" r="r" b="b"/>
            <a:pathLst>
              <a:path w="5501899" h="4162662">
                <a:moveTo>
                  <a:pt x="203989" y="2575574"/>
                </a:moveTo>
                <a:cubicBezTo>
                  <a:pt x="485929" y="2286014"/>
                  <a:pt x="1349529" y="2151394"/>
                  <a:pt x="1910869" y="1722134"/>
                </a:cubicBezTo>
                <a:cubicBezTo>
                  <a:pt x="2472209" y="1292874"/>
                  <a:pt x="3008149" y="-5066"/>
                  <a:pt x="3572029" y="14"/>
                </a:cubicBezTo>
                <a:cubicBezTo>
                  <a:pt x="4135909" y="5094"/>
                  <a:pt x="5009669" y="1176034"/>
                  <a:pt x="5294149" y="1752614"/>
                </a:cubicBezTo>
                <a:cubicBezTo>
                  <a:pt x="5578629" y="2329194"/>
                  <a:pt x="5568469" y="3073414"/>
                  <a:pt x="5278909" y="3459494"/>
                </a:cubicBezTo>
                <a:cubicBezTo>
                  <a:pt x="4989349" y="3845574"/>
                  <a:pt x="4309355" y="4380846"/>
                  <a:pt x="3556789" y="4069094"/>
                </a:cubicBezTo>
                <a:cubicBezTo>
                  <a:pt x="2804223" y="3757342"/>
                  <a:pt x="2436649" y="3576334"/>
                  <a:pt x="1880389" y="3474734"/>
                </a:cubicBezTo>
                <a:cubicBezTo>
                  <a:pt x="1324129" y="3373134"/>
                  <a:pt x="501169" y="3606814"/>
                  <a:pt x="219229" y="3459494"/>
                </a:cubicBezTo>
                <a:cubicBezTo>
                  <a:pt x="-62711" y="3312174"/>
                  <a:pt x="-77951" y="2865134"/>
                  <a:pt x="203989" y="2575574"/>
                </a:cubicBezTo>
                <a:close/>
              </a:path>
            </a:pathLst>
          </a:custGeom>
          <a:gradFill>
            <a:gsLst>
              <a:gs pos="0">
                <a:srgbClr val="EE37E9"/>
              </a:gs>
              <a:gs pos="71000">
                <a:srgbClr val="BB43FD"/>
              </a:gs>
            </a:gsLst>
            <a:lin ang="189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Summary of Findings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253747" y="1400860"/>
            <a:ext cx="2982351" cy="3983255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396108" y="1511486"/>
            <a:ext cx="697627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1"/>
                </a:solidFill>
                <a:latin typeface="Agency FB"/>
                <a:ea typeface="Agency FB"/>
              </a:rPr>
              <a:t>01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4575285" y="1400860"/>
            <a:ext cx="2982351" cy="3983255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717647" y="1511485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2"/>
                </a:solidFill>
                <a:latin typeface="Agency FB"/>
                <a:ea typeface="Agency FB"/>
              </a:rPr>
              <a:t>02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7896824" y="1398627"/>
            <a:ext cx="2982351" cy="3983255"/>
          </a:xfrm>
          <a:custGeom>
            <a:avLst/>
            <a:gdLst/>
            <a:ahLst/>
            <a:cxnLst/>
            <a:rect l="l" t="t" r="r" b="b"/>
            <a:pathLst>
              <a:path w="2982351" h="3938954">
                <a:moveTo>
                  <a:pt x="0" y="0"/>
                </a:moveTo>
                <a:lnTo>
                  <a:pt x="2982351" y="0"/>
                </a:lnTo>
                <a:lnTo>
                  <a:pt x="2982351" y="511466"/>
                </a:lnTo>
                <a:lnTo>
                  <a:pt x="2704514" y="672611"/>
                </a:lnTo>
                <a:lnTo>
                  <a:pt x="2982351" y="833757"/>
                </a:lnTo>
                <a:lnTo>
                  <a:pt x="2982351" y="3938954"/>
                </a:lnTo>
                <a:lnTo>
                  <a:pt x="0" y="3938954"/>
                </a:lnTo>
                <a:lnTo>
                  <a:pt x="0" y="833757"/>
                </a:lnTo>
                <a:lnTo>
                  <a:pt x="277837" y="672611"/>
                </a:lnTo>
                <a:lnTo>
                  <a:pt x="0" y="511466"/>
                </a:lnTo>
                <a:close/>
              </a:path>
            </a:pathLst>
          </a:custGeom>
          <a:noFill/>
          <a:ln w="25400" cap="flat" cmpd="sng">
            <a:solidFill>
              <a:schemeClr val="accent3"/>
            </a:solidFill>
            <a:prstDash val="solid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9039184" y="1511484"/>
            <a:ext cx="697628" cy="646331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pPr marL="0" algn="ctr">
              <a:defRPr/>
            </a:pPr>
            <a:r>
              <a:rPr lang="en-US" sz="3600" b="1" i="0" u="none" baseline="0">
                <a:solidFill>
                  <a:schemeClr val="accent3"/>
                </a:solidFill>
                <a:latin typeface="Agency FB"/>
                <a:ea typeface="Agency FB"/>
              </a:rPr>
              <a:t>03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310340" y="228957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Key Outcomes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277600" y="2805186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 project successfully developed predictive models capable of accurately distinguishing between companies at risk of bankruptcy and those that are not.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1570" y="2289575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Model Performance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18830" y="2805186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Logistic Regression was identified as a top-performing model, notable for its interpretability and effectiveness in feature importance analysis.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53418" y="2306993"/>
            <a:ext cx="2890921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778495"/>
                </a:solidFill>
                <a:latin typeface="微软雅黑"/>
                <a:ea typeface="微软雅黑"/>
              </a:rPr>
              <a:t>Business Impact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20678" y="2822604"/>
            <a:ext cx="2903610" cy="166924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These models will provide actionable outputs (saved models, feature importance) for business decision-making, model fine-tuning, and future data collection.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5495" y="240548"/>
            <a:ext cx="3706545" cy="3863490"/>
          </a:xfrm>
          <a:custGeom>
            <a:avLst/>
            <a:gdLst/>
            <a:ahLst/>
            <a:cxnLst/>
            <a:rect l="l" t="t" r="r" b="b"/>
            <a:pathLst>
              <a:path w="3616003" h="3769115">
                <a:moveTo>
                  <a:pt x="217446" y="1996443"/>
                </a:moveTo>
                <a:cubicBezTo>
                  <a:pt x="491766" y="1516383"/>
                  <a:pt x="1281706" y="2543"/>
                  <a:pt x="1848126" y="3"/>
                </a:cubicBezTo>
                <a:cubicBezTo>
                  <a:pt x="2414546" y="-2537"/>
                  <a:pt x="3608346" y="1356363"/>
                  <a:pt x="3615966" y="1981203"/>
                </a:cubicBezTo>
                <a:cubicBezTo>
                  <a:pt x="3623586" y="2606043"/>
                  <a:pt x="2462806" y="3599183"/>
                  <a:pt x="1893846" y="3749043"/>
                </a:cubicBezTo>
                <a:cubicBezTo>
                  <a:pt x="1324886" y="3898903"/>
                  <a:pt x="486686" y="3169923"/>
                  <a:pt x="202206" y="2880363"/>
                </a:cubicBezTo>
                <a:cubicBezTo>
                  <a:pt x="-82274" y="2590803"/>
                  <a:pt x="-56874" y="2476503"/>
                  <a:pt x="217446" y="1996443"/>
                </a:cubicBezTo>
                <a:close/>
              </a:path>
            </a:pathLst>
          </a:custGeom>
          <a:gradFill>
            <a:gsLst>
              <a:gs pos="0">
                <a:srgbClr val="FF9409"/>
              </a:gs>
              <a:gs pos="38000">
                <a:srgbClr val="FE934B"/>
              </a:gs>
              <a:gs pos="71000">
                <a:srgbClr val="F3C053"/>
              </a:gs>
            </a:gsLst>
            <a:lin ang="162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 rot="20625691">
            <a:off x="8896294" y="-21248"/>
            <a:ext cx="3114933" cy="2403889"/>
          </a:xfrm>
          <a:custGeom>
            <a:avLst/>
            <a:gdLst/>
            <a:ahLst/>
            <a:cxnLst/>
            <a:rect l="l" t="t" r="r" b="b"/>
            <a:pathLst>
              <a:path w="3352800" h="1767848">
                <a:moveTo>
                  <a:pt x="0" y="899160"/>
                </a:moveTo>
                <a:cubicBezTo>
                  <a:pt x="0" y="604520"/>
                  <a:pt x="1117600" y="0"/>
                  <a:pt x="1676400" y="0"/>
                </a:cubicBezTo>
                <a:cubicBezTo>
                  <a:pt x="2235200" y="0"/>
                  <a:pt x="3352800" y="604520"/>
                  <a:pt x="3352800" y="899160"/>
                </a:cubicBezTo>
                <a:cubicBezTo>
                  <a:pt x="3352800" y="1193800"/>
                  <a:pt x="2230120" y="1765300"/>
                  <a:pt x="1676400" y="1767840"/>
                </a:cubicBezTo>
                <a:cubicBezTo>
                  <a:pt x="1122680" y="1770380"/>
                  <a:pt x="0" y="1193800"/>
                  <a:pt x="0" y="899160"/>
                </a:cubicBezTo>
                <a:close/>
              </a:path>
            </a:pathLst>
          </a:custGeom>
          <a:gradFill>
            <a:gsLst>
              <a:gs pos="0">
                <a:srgbClr val="584CE0"/>
              </a:gs>
              <a:gs pos="100000">
                <a:srgbClr val="EE37E9"/>
              </a:gs>
            </a:gsLst>
            <a:lin ang="108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674628" y="4748981"/>
            <a:ext cx="4795861" cy="1769076"/>
          </a:xfrm>
          <a:prstGeom prst="round2DiagRect">
            <a:avLst>
              <a:gd name="adj1" fmla="val 43600"/>
              <a:gd name="adj2" fmla="val 0"/>
            </a:avLst>
          </a:prstGeom>
          <a:solidFill>
            <a:srgbClr val="000000">
              <a:alpha val="20000"/>
              <a:lumMod val="25000"/>
              <a:lumOff val="7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404626" y="5123018"/>
            <a:ext cx="540000" cy="540000"/>
          </a:xfrm>
          <a:prstGeom prst="roundRect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1">
            <a:off x="721512" y="3182579"/>
            <a:ext cx="4795861" cy="1769076"/>
          </a:xfrm>
          <a:prstGeom prst="round2DiagRect">
            <a:avLst>
              <a:gd name="adj1" fmla="val 43600"/>
              <a:gd name="adj2" fmla="val 0"/>
            </a:avLst>
          </a:prstGeom>
          <a:solidFill>
            <a:srgbClr val="000000">
              <a:alpha val="20000"/>
              <a:lumMod val="25000"/>
              <a:lumOff val="7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TextBox 7"/>
          <p:cNvSpPr txBox="1"/>
          <p:nvPr/>
        </p:nvSpPr>
        <p:spPr>
          <a:xfrm flipH="1">
            <a:off x="5247376" y="3556616"/>
            <a:ext cx="540000" cy="540000"/>
          </a:xfrm>
          <a:prstGeom prst="roundRect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02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flipH="1">
            <a:off x="6096000" y="3448050"/>
            <a:ext cx="0" cy="136578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oval"/>
          </a:ln>
        </p:spPr>
      </p:cxnSp>
      <p:sp>
        <p:nvSpPr>
          <p:cNvPr id="9" name="AutoShape 9"/>
          <p:cNvSpPr/>
          <p:nvPr/>
        </p:nvSpPr>
        <p:spPr>
          <a:xfrm>
            <a:off x="6674628" y="1474143"/>
            <a:ext cx="4795861" cy="1769076"/>
          </a:xfrm>
          <a:prstGeom prst="round2DiagRect">
            <a:avLst>
              <a:gd name="adj1" fmla="val 43600"/>
              <a:gd name="adj2" fmla="val 0"/>
            </a:avLst>
          </a:prstGeom>
          <a:solidFill>
            <a:srgbClr val="000000">
              <a:alpha val="20000"/>
              <a:lumMod val="25000"/>
              <a:lumOff val="75000"/>
            </a:srgbClr>
          </a:solidFill>
          <a:ln cap="flat">
            <a:prstDash val="solid"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404626" y="1848180"/>
            <a:ext cx="540000" cy="540000"/>
          </a:xfrm>
          <a:prstGeom prst="roundRect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ctr">
              <a:defRPr/>
            </a:pPr>
            <a:r>
              <a:rPr lang="en-US" sz="2000" b="1" i="0" u="none" baseline="0">
                <a:solidFill>
                  <a:srgbClr val="FFFFFF"/>
                </a:solidFill>
                <a:latin typeface="Agency FB"/>
                <a:ea typeface="Agency FB"/>
              </a:rPr>
              <a:t>01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>
            <a:off x="6096000" y="1616911"/>
            <a:ext cx="0" cy="1812089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oval"/>
          </a:ln>
        </p:spPr>
      </p:cxnSp>
      <p:sp>
        <p:nvSpPr>
          <p:cNvPr id="12" name="TextBox 12"/>
          <p:cNvSpPr txBox="1"/>
          <p:nvPr/>
        </p:nvSpPr>
        <p:spPr>
          <a:xfrm>
            <a:off x="855407" y="3935854"/>
            <a:ext cx="4239410" cy="11676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en-US" sz="1200" b="0" i="0" u="none" baseline="0">
                <a:solidFill>
                  <a:srgbClr val="F0F0F0">
                    <a:lumMod val="50000"/>
                  </a:srgbClr>
                </a:solidFill>
                <a:latin typeface="微软雅黑"/>
                <a:ea typeface="微软雅黑"/>
              </a:rPr>
              <a:t>Implement ongoing monitoring of the models to ensure sustained accuracy and relevance, adjusting as new data and economic conditions evolve.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5406" y="3538457"/>
            <a:ext cx="4239411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r"/>
            <a:r>
              <a:rPr lang="en-US" sz="1600" b="1" i="0" u="none" spc="300" baseline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Model Monitoring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97184" y="2358114"/>
            <a:ext cx="4239410" cy="11676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200" b="0" i="0" u="none" baseline="0">
                <a:solidFill>
                  <a:srgbClr val="F0F0F0">
                    <a:lumMod val="50000"/>
                  </a:srgbClr>
                </a:solidFill>
                <a:latin typeface="微软雅黑"/>
                <a:ea typeface="微软雅黑"/>
              </a:rPr>
              <a:t>Expand the dataset with more features to enhance model performance and generalizability. These could include macroeconomic indicators, industry-specific metrics, and qualitative assessments.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97183" y="1909099"/>
            <a:ext cx="4239411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en-US" sz="1600" b="1" i="0" u="none" spc="300" baseline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Expand the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14629" y="5601529"/>
            <a:ext cx="4239410" cy="11676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50000"/>
              </a:lnSpc>
              <a:defRPr/>
            </a:pPr>
            <a:r>
              <a:rPr lang="en-US" sz="1200" b="0" i="0" u="none" baseline="0">
                <a:solidFill>
                  <a:srgbClr val="F0F0F0">
                    <a:lumMod val="50000"/>
                  </a:srgbClr>
                </a:solidFill>
                <a:latin typeface="微软雅黑"/>
                <a:ea typeface="微软雅黑"/>
              </a:rPr>
              <a:t>Consider ensemble methods for increased prediction accuracy. These techniques combine multiple models to reduce bias and variance, potentially improving overall performance.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14628" y="5152514"/>
            <a:ext cx="4239411" cy="338554"/>
          </a:xfrm>
          <a:prstGeom prst="rect">
            <a:avLst/>
          </a:prstGeom>
          <a:noFill/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r>
              <a:rPr lang="en-US" sz="1600" b="1" i="0" u="none" spc="300" baseline="0">
                <a:solidFill>
                  <a:srgbClr val="000000">
                    <a:lumMod val="75000"/>
                    <a:lumOff val="25000"/>
                  </a:srgbClr>
                </a:solidFill>
                <a:latin typeface="微软雅黑"/>
                <a:ea typeface="微软雅黑"/>
              </a:rPr>
              <a:t>Apply Ensemble Methods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98775" y="437195"/>
            <a:ext cx="6394450" cy="584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zh-CN" altLang="en-US" sz="3200" b="1" i="0" u="none" baseline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Recommendations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>
            <a:off x="6096000" y="4748981"/>
            <a:ext cx="1811" cy="2109019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oval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41392" y="1887353"/>
            <a:ext cx="5936382" cy="363176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defRPr/>
            </a:pPr>
            <a:r>
              <a:rPr lang="en-US" sz="115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THANK</a:t>
            </a:r>
            <a:endParaRPr lang="en-US" sz="1100"/>
          </a:p>
          <a:p>
            <a:pPr marL="0" algn="ctr"/>
            <a:r>
              <a:rPr lang="en-US" sz="11500" b="0" i="0" u="none" baseline="0">
                <a:solidFill>
                  <a:srgbClr val="000000"/>
                </a:solidFill>
                <a:latin typeface="微软雅黑"/>
                <a:ea typeface="微软雅黑"/>
              </a:rPr>
              <a:t>YOU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1923" y="6714170"/>
            <a:ext cx="540060" cy="11843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200000"/>
              </a:lnSpc>
              <a:defRPr/>
            </a:pPr>
            <a:r>
              <a:rPr lang="en-US" sz="100" b="0" i="0" u="none" baseline="0">
                <a:solidFill>
                  <a:srgbClr val="778495">
                    <a:lumMod val="20000"/>
                    <a:lumOff val="80000"/>
                  </a:srgbClr>
                </a:solidFill>
                <a:latin typeface="微软雅黑"/>
                <a:ea typeface="微软雅黑"/>
              </a:rPr>
              <a:t>PPT</a:t>
            </a:r>
            <a:r>
              <a:rPr lang="zh-CN" altLang="en-US" sz="100" b="0" i="0" u="none" baseline="0">
                <a:solidFill>
                  <a:srgbClr val="778495">
                    <a:lumMod val="20000"/>
                    <a:lumOff val="80000"/>
                  </a:srgbClr>
                </a:solidFill>
                <a:latin typeface="微软雅黑"/>
                <a:ea typeface="微软雅黑"/>
              </a:rPr>
              <a:t>Template</a:t>
            </a:r>
            <a:r>
              <a:rPr lang="en-US" sz="100" b="0" i="0" u="none" baseline="0">
                <a:solidFill>
                  <a:srgbClr val="778495">
                    <a:lumMod val="20000"/>
                    <a:lumOff val="80000"/>
                  </a:srgbClr>
                </a:solidFill>
                <a:latin typeface="微软雅黑"/>
                <a:ea typeface="微软雅黑"/>
              </a:rPr>
              <a:t>http://www.1ppt.com/moban/</a:t>
            </a:r>
            <a:r>
              <a:rPr lang="zh-CN" altLang="en-US" sz="100" b="0" i="0" u="none" baseline="0">
                <a:solidFill>
                  <a:srgbClr val="778495">
                    <a:lumMod val="20000"/>
                    <a:lumOff val="80000"/>
                  </a:srgbClr>
                </a:solidFill>
                <a:latin typeface="微软雅黑"/>
                <a:ea typeface="微软雅黑"/>
              </a:rPr>
              <a:t> 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-2519615" y="-2868274"/>
            <a:ext cx="10092543" cy="7545664"/>
          </a:xfrm>
          <a:custGeom>
            <a:avLst/>
            <a:gdLst/>
            <a:ahLst/>
            <a:cxnLst/>
            <a:rect l="l" t="t" r="r" b="b"/>
            <a:pathLst>
              <a:path w="8535771" h="6381750">
                <a:moveTo>
                  <a:pt x="1715869" y="1181100"/>
                </a:moveTo>
                <a:cubicBezTo>
                  <a:pt x="1153894" y="1463675"/>
                  <a:pt x="-252631" y="2886075"/>
                  <a:pt x="39469" y="3752850"/>
                </a:cubicBezTo>
                <a:cubicBezTo>
                  <a:pt x="331569" y="4619625"/>
                  <a:pt x="2617569" y="6381750"/>
                  <a:pt x="3468469" y="6381750"/>
                </a:cubicBezTo>
                <a:cubicBezTo>
                  <a:pt x="4319369" y="6381750"/>
                  <a:pt x="4300319" y="4473575"/>
                  <a:pt x="5144869" y="3752850"/>
                </a:cubicBezTo>
                <a:cubicBezTo>
                  <a:pt x="5989419" y="3032125"/>
                  <a:pt x="8532594" y="2682875"/>
                  <a:pt x="8535769" y="2057400"/>
                </a:cubicBezTo>
                <a:cubicBezTo>
                  <a:pt x="8538944" y="1431925"/>
                  <a:pt x="6017994" y="0"/>
                  <a:pt x="5163919" y="0"/>
                </a:cubicBezTo>
                <a:cubicBezTo>
                  <a:pt x="4309844" y="0"/>
                  <a:pt x="3979644" y="1860550"/>
                  <a:pt x="3411319" y="2057400"/>
                </a:cubicBezTo>
                <a:cubicBezTo>
                  <a:pt x="2842994" y="2254250"/>
                  <a:pt x="2277844" y="898525"/>
                  <a:pt x="1715869" y="1181100"/>
                </a:cubicBezTo>
                <a:close/>
              </a:path>
            </a:pathLst>
          </a:custGeom>
          <a:gradFill>
            <a:gsLst>
              <a:gs pos="18000">
                <a:srgbClr val="584CE0"/>
              </a:gs>
              <a:gs pos="56000">
                <a:srgbClr val="BB43FD"/>
              </a:gs>
              <a:gs pos="100000">
                <a:srgbClr val="EE37E9"/>
              </a:gs>
            </a:gsLst>
            <a:lin ang="135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 rot="3118315">
            <a:off x="7562974" y="1218868"/>
            <a:ext cx="5393358" cy="10578750"/>
          </a:xfrm>
          <a:custGeom>
            <a:avLst/>
            <a:gdLst/>
            <a:ahLst/>
            <a:cxnLst/>
            <a:rect l="l" t="t" r="r" b="b"/>
            <a:pathLst>
              <a:path w="5114329" h="5229277">
                <a:moveTo>
                  <a:pt x="3418879" y="5229277"/>
                </a:moveTo>
                <a:cubicBezTo>
                  <a:pt x="2850554" y="5229277"/>
                  <a:pt x="326429" y="4787952"/>
                  <a:pt x="47029" y="4352977"/>
                </a:cubicBezTo>
                <a:cubicBezTo>
                  <a:pt x="-232371" y="3918002"/>
                  <a:pt x="1745654" y="3194102"/>
                  <a:pt x="1742479" y="2619427"/>
                </a:cubicBezTo>
                <a:cubicBezTo>
                  <a:pt x="1739304" y="2044752"/>
                  <a:pt x="-257771" y="1330377"/>
                  <a:pt x="27979" y="904927"/>
                </a:cubicBezTo>
                <a:cubicBezTo>
                  <a:pt x="313729" y="479477"/>
                  <a:pt x="2609254" y="-219023"/>
                  <a:pt x="3456979" y="66727"/>
                </a:cubicBezTo>
                <a:cubicBezTo>
                  <a:pt x="4304704" y="352477"/>
                  <a:pt x="5114329" y="1905052"/>
                  <a:pt x="5114329" y="2619427"/>
                </a:cubicBezTo>
                <a:cubicBezTo>
                  <a:pt x="5114329" y="3333802"/>
                  <a:pt x="3736379" y="3921177"/>
                  <a:pt x="3456979" y="4352977"/>
                </a:cubicBezTo>
                <a:cubicBezTo>
                  <a:pt x="3177579" y="4784777"/>
                  <a:pt x="3987204" y="5229277"/>
                  <a:pt x="3418879" y="5229277"/>
                </a:cubicBezTo>
                <a:close/>
              </a:path>
            </a:pathLst>
          </a:custGeom>
          <a:gradFill>
            <a:gsLst>
              <a:gs pos="13000">
                <a:srgbClr val="F3C053"/>
              </a:gs>
              <a:gs pos="88000">
                <a:srgbClr val="EE37E9"/>
              </a:gs>
            </a:gsLst>
            <a:lin ang="2700000"/>
          </a:gradFill>
          <a:ln cap="flat" cmpd="sng">
            <a:prstDash val="solid"/>
          </a:ln>
          <a:effectLst>
            <a:outerShdw blurRad="647700" sx="102000" sy="102000" algn="ctr" rotWithShape="0">
              <a:srgbClr val="000000">
                <a:alpha val="18000"/>
              </a:srgbClr>
            </a:outerShdw>
          </a:effectLst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E53238"/>
      </a:accent1>
      <a:accent2>
        <a:srgbClr val="0064D2"/>
      </a:accent2>
      <a:accent3>
        <a:srgbClr val="E53238"/>
      </a:accent3>
      <a:accent4>
        <a:srgbClr val="0064D2"/>
      </a:accent4>
      <a:accent5>
        <a:srgbClr val="E53238"/>
      </a:accent5>
      <a:accent6>
        <a:srgbClr val="0064D2"/>
      </a:accent6>
      <a:hlink>
        <a:srgbClr val="E53238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等线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6697</Words>
  <Application>Microsoft Office PowerPoint</Application>
  <PresentationFormat>Widescreen</PresentationFormat>
  <Paragraphs>227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Microsoft YaHei</vt:lpstr>
      <vt:lpstr>Microsoft YaHei</vt:lpstr>
      <vt:lpstr>Agency FB</vt:lpstr>
      <vt:lpstr>Arial</vt:lpstr>
      <vt:lpstr>Calibri</vt:lpstr>
      <vt:lpstr>Office Theme</vt:lpstr>
      <vt:lpstr>自定义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Varun Gowda</cp:lastModifiedBy>
  <cp:revision>33</cp:revision>
  <dcterms:created xsi:type="dcterms:W3CDTF">2025-11-13T06:28:54Z</dcterms:created>
  <dcterms:modified xsi:type="dcterms:W3CDTF">2025-11-13T09:59:03Z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{"ContentPropagator":"文多多","Label":"1","ReservedCode1":"1763015334097","ProduceID":"wenduoduo-pptx-1763015334097","ReservedCode2":"1763015334097","PropagateID":"wenduoduo-pptx1763015334097","ContentProducer":"文多多"}</vt:lpwstr>
  </property>
</Properties>
</file>